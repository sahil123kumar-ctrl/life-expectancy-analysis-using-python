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1" r:id="rId23"/>
    <p:sldId id="280" r:id="rId24"/>
    <p:sldId id="282" r:id="rId25"/>
    <p:sldId id="283" r:id="rId26"/>
    <p:sldId id="285" r:id="rId27"/>
    <p:sldId id="284" r:id="rId28"/>
    <p:sldId id="286" r:id="rId29"/>
    <p:sldId id="287" r:id="rId30"/>
    <p:sldId id="288" r:id="rId31"/>
    <p:sldId id="290" r:id="rId32"/>
    <p:sldId id="289" r:id="rId33"/>
    <p:sldId id="291" r:id="rId34"/>
    <p:sldId id="292" r:id="rId35"/>
    <p:sldId id="293" r:id="rId36"/>
    <p:sldId id="294" r:id="rId37"/>
    <p:sldId id="296" r:id="rId38"/>
    <p:sldId id="295" r:id="rId39"/>
    <p:sldId id="297" r:id="rId40"/>
    <p:sldId id="298" r:id="rId41"/>
    <p:sldId id="299" r:id="rId42"/>
    <p:sldId id="301" r:id="rId43"/>
    <p:sldId id="302" r:id="rId44"/>
    <p:sldId id="303" r:id="rId45"/>
    <p:sldId id="304" r:id="rId46"/>
    <p:sldId id="305" r:id="rId47"/>
    <p:sldId id="306" r:id="rId48"/>
    <p:sldId id="307" r:id="rId49"/>
    <p:sldId id="308"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FF99FF"/>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ECFE32-82C1-48FF-9DB8-9C81D5470ECA}"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1541196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ECFE32-82C1-48FF-9DB8-9C81D5470ECA}"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3299356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ECFE32-82C1-48FF-9DB8-9C81D5470ECA}"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2935459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ECFE32-82C1-48FF-9DB8-9C81D5470ECA}"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170286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ECFE32-82C1-48FF-9DB8-9C81D5470ECA}" type="datetimeFigureOut">
              <a:rPr lang="en-IN" smtClean="0"/>
              <a:t>02-11-2025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2833869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ECFE32-82C1-48FF-9DB8-9C81D5470ECA}" type="datetimeFigureOut">
              <a:rPr lang="en-IN" smtClean="0"/>
              <a:t>02-11-2025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3905529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ECFE32-82C1-48FF-9DB8-9C81D5470ECA}" type="datetimeFigureOut">
              <a:rPr lang="en-IN" smtClean="0"/>
              <a:t>02-11-2025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2756699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ECFE32-82C1-48FF-9DB8-9C81D5470ECA}"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1882412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ECFE32-82C1-48FF-9DB8-9C81D5470ECA}"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2198742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ECFE32-82C1-48FF-9DB8-9C81D5470ECA}"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2110074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ECFE32-82C1-48FF-9DB8-9C81D5470ECA}"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698E60-9FCA-430D-AAA6-181864665A56}" type="slidenum">
              <a:rPr lang="en-IN" smtClean="0"/>
              <a:t>‹#›</a:t>
            </a:fld>
            <a:endParaRPr lang="en-IN"/>
          </a:p>
        </p:txBody>
      </p:sp>
    </p:spTree>
    <p:extLst>
      <p:ext uri="{BB962C8B-B14F-4D97-AF65-F5344CB8AC3E}">
        <p14:creationId xmlns:p14="http://schemas.microsoft.com/office/powerpoint/2010/main" val="371509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ECFE32-82C1-48FF-9DB8-9C81D5470ECA}" type="datetimeFigureOut">
              <a:rPr lang="en-IN" smtClean="0"/>
              <a:t>02-11-2025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698E60-9FCA-430D-AAA6-181864665A56}" type="slidenum">
              <a:rPr lang="en-IN" smtClean="0"/>
              <a:t>‹#›</a:t>
            </a:fld>
            <a:endParaRPr lang="en-IN"/>
          </a:p>
        </p:txBody>
      </p:sp>
    </p:spTree>
    <p:extLst>
      <p:ext uri="{BB962C8B-B14F-4D97-AF65-F5344CB8AC3E}">
        <p14:creationId xmlns:p14="http://schemas.microsoft.com/office/powerpoint/2010/main" val="1602772680"/>
      </p:ext>
    </p:extLst>
  </p:cSld>
  <p:clrMap bg1="dk1" tx1="lt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EEEBC-B845-28B8-CC6B-E4053093DBD3}"/>
              </a:ext>
            </a:extLst>
          </p:cNvPr>
          <p:cNvSpPr>
            <a:spLocks noGrp="1"/>
          </p:cNvSpPr>
          <p:nvPr>
            <p:ph type="ctrTitle"/>
          </p:nvPr>
        </p:nvSpPr>
        <p:spPr>
          <a:xfrm>
            <a:off x="805543" y="511629"/>
            <a:ext cx="10580914" cy="2601686"/>
          </a:xfrm>
        </p:spPr>
        <p:txBody>
          <a:bodyPr>
            <a:noAutofit/>
          </a:bodyPr>
          <a:lstStyle/>
          <a:p>
            <a:r>
              <a:rPr lang="en-US" sz="6600" b="1" dirty="0">
                <a:solidFill>
                  <a:srgbClr val="FF0000"/>
                </a:solidFill>
                <a:latin typeface="Comic Sans MS" panose="030F0702030302020204" pitchFamily="66" charset="0"/>
              </a:rPr>
              <a:t>Life Expectancy Analysis </a:t>
            </a:r>
            <a:br>
              <a:rPr lang="en-US" sz="6600" b="1" dirty="0">
                <a:solidFill>
                  <a:srgbClr val="FF0000"/>
                </a:solidFill>
                <a:latin typeface="Comic Sans MS" panose="030F0702030302020204" pitchFamily="66" charset="0"/>
              </a:rPr>
            </a:br>
            <a:r>
              <a:rPr lang="en-US" sz="6600" b="1" dirty="0">
                <a:solidFill>
                  <a:srgbClr val="FF0000"/>
                </a:solidFill>
                <a:latin typeface="Comic Sans MS" panose="030F0702030302020204" pitchFamily="66" charset="0"/>
              </a:rPr>
              <a:t>Using Python</a:t>
            </a:r>
            <a:endParaRPr lang="en-IN" sz="6600" b="1" dirty="0">
              <a:solidFill>
                <a:srgbClr val="FF0000"/>
              </a:solidFill>
              <a:latin typeface="Comic Sans MS" panose="030F0702030302020204" pitchFamily="66" charset="0"/>
            </a:endParaRPr>
          </a:p>
        </p:txBody>
      </p:sp>
      <p:sp>
        <p:nvSpPr>
          <p:cNvPr id="3" name="Subtitle 2">
            <a:extLst>
              <a:ext uri="{FF2B5EF4-FFF2-40B4-BE49-F238E27FC236}">
                <a16:creationId xmlns:a16="http://schemas.microsoft.com/office/drawing/2014/main" id="{B4AFDC57-3734-0F2A-C0D1-D553CE553C75}"/>
              </a:ext>
            </a:extLst>
          </p:cNvPr>
          <p:cNvSpPr>
            <a:spLocks noGrp="1"/>
          </p:cNvSpPr>
          <p:nvPr>
            <p:ph type="subTitle" idx="1"/>
          </p:nvPr>
        </p:nvSpPr>
        <p:spPr>
          <a:xfrm>
            <a:off x="7434944" y="4691743"/>
            <a:ext cx="4561112" cy="1001486"/>
          </a:xfrm>
        </p:spPr>
        <p:txBody>
          <a:bodyPr>
            <a:normAutofit/>
          </a:bodyPr>
          <a:lstStyle/>
          <a:p>
            <a:r>
              <a:rPr lang="en-US" sz="4800" b="1" dirty="0">
                <a:solidFill>
                  <a:srgbClr val="FF0000"/>
                </a:solidFill>
                <a:latin typeface="Comic Sans MS" panose="030F0702030302020204" pitchFamily="66" charset="0"/>
              </a:rPr>
              <a:t>By Sahil</a:t>
            </a:r>
            <a:endParaRPr lang="en-IN" sz="4800" b="1"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223396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4D226-525E-2482-D434-716CE1E20D2E}"/>
              </a:ext>
            </a:extLst>
          </p:cNvPr>
          <p:cNvSpPr>
            <a:spLocks noGrp="1"/>
          </p:cNvSpPr>
          <p:nvPr>
            <p:ph type="title"/>
          </p:nvPr>
        </p:nvSpPr>
        <p:spPr>
          <a:xfrm>
            <a:off x="707571" y="365126"/>
            <a:ext cx="10646229" cy="647246"/>
          </a:xfrm>
        </p:spPr>
        <p:txBody>
          <a:bodyPr>
            <a:normAutofit fontScale="90000"/>
          </a:bodyPr>
          <a:lstStyle/>
          <a:p>
            <a:r>
              <a:rPr lang="en-US" b="1" dirty="0">
                <a:latin typeface="+mn-lt"/>
              </a:rPr>
              <a:t>Introduction</a:t>
            </a:r>
            <a:endParaRPr lang="en-IN" b="1" dirty="0">
              <a:latin typeface="+mn-lt"/>
            </a:endParaRPr>
          </a:p>
        </p:txBody>
      </p:sp>
      <p:sp>
        <p:nvSpPr>
          <p:cNvPr id="3" name="Content Placeholder 2">
            <a:extLst>
              <a:ext uri="{FF2B5EF4-FFF2-40B4-BE49-F238E27FC236}">
                <a16:creationId xmlns:a16="http://schemas.microsoft.com/office/drawing/2014/main" id="{8B0A13B1-CA9E-9583-FA6F-EB7CD0073C97}"/>
              </a:ext>
            </a:extLst>
          </p:cNvPr>
          <p:cNvSpPr>
            <a:spLocks noGrp="1"/>
          </p:cNvSpPr>
          <p:nvPr>
            <p:ph idx="1"/>
          </p:nvPr>
        </p:nvSpPr>
        <p:spPr>
          <a:xfrm>
            <a:off x="489857" y="1251858"/>
            <a:ext cx="11310257" cy="5410200"/>
          </a:xfrm>
        </p:spPr>
        <p:txBody>
          <a:bodyPr>
            <a:normAutofit lnSpcReduction="10000"/>
          </a:bodyPr>
          <a:lstStyle/>
          <a:p>
            <a:r>
              <a:rPr lang="en-US" sz="2400" dirty="0">
                <a:solidFill>
                  <a:srgbClr val="00FFFF"/>
                </a:solidFill>
                <a:latin typeface="Comic Sans MS" panose="030F0702030302020204" pitchFamily="66" charset="0"/>
              </a:rPr>
              <a:t>Life expectancy is one of the most important indicators of a country's overall health and development. It represents the </a:t>
            </a:r>
            <a:r>
              <a:rPr lang="en-US" sz="2400" b="1" dirty="0">
                <a:solidFill>
                  <a:srgbClr val="00FFFF"/>
                </a:solidFill>
                <a:latin typeface="Comic Sans MS" panose="030F0702030302020204" pitchFamily="66" charset="0"/>
              </a:rPr>
              <a:t>average number of years a person is expected to live</a:t>
            </a:r>
            <a:r>
              <a:rPr lang="en-US" sz="2400" dirty="0">
                <a:solidFill>
                  <a:srgbClr val="00FFFF"/>
                </a:solidFill>
                <a:latin typeface="Comic Sans MS" panose="030F0702030302020204" pitchFamily="66" charset="0"/>
              </a:rPr>
              <a:t>, based on the prevailing mortality rates at the time of birth. A higher life expectancy typically reflects better healthcare systems, higher living standards, and greater social and economic development, while a lower life expectancy often points to issues such as poverty, limited access to healthcare, malnutrition, or high rates of disease.</a:t>
            </a:r>
          </a:p>
          <a:p>
            <a:endParaRPr lang="en-US" sz="2400" dirty="0">
              <a:solidFill>
                <a:srgbClr val="00FFFF"/>
              </a:solidFill>
              <a:latin typeface="Comic Sans MS" panose="030F0702030302020204" pitchFamily="66" charset="0"/>
            </a:endParaRPr>
          </a:p>
          <a:p>
            <a:r>
              <a:rPr lang="en-US" sz="2400" dirty="0">
                <a:solidFill>
                  <a:srgbClr val="00FFFF"/>
                </a:solidFill>
                <a:latin typeface="Comic Sans MS" panose="030F0702030302020204" pitchFamily="66" charset="0"/>
              </a:rPr>
              <a:t>Understanding the </a:t>
            </a:r>
            <a:r>
              <a:rPr lang="en-US" sz="2400" b="1" dirty="0">
                <a:solidFill>
                  <a:srgbClr val="00FFFF"/>
                </a:solidFill>
                <a:latin typeface="Comic Sans MS" panose="030F0702030302020204" pitchFamily="66" charset="0"/>
              </a:rPr>
              <a:t>factors that influence life expectancy</a:t>
            </a:r>
            <a:r>
              <a:rPr lang="en-US" sz="2400" dirty="0">
                <a:solidFill>
                  <a:srgbClr val="00FFFF"/>
                </a:solidFill>
                <a:latin typeface="Comic Sans MS" panose="030F0702030302020204" pitchFamily="66" charset="0"/>
              </a:rPr>
              <a:t> is crucial for governments, researchers, and policymakers. It enables them to pinpoint areas that require intervention, allocate resources more effectively, and develop policies aimed at improving public health outcomes. For example, identifying a strong relationship between education levels and life expectancy could motivate investment in schooling, while a strong link between preventable diseases and lower life expectancy could lead to more targeted healthcare initiatives.</a:t>
            </a:r>
          </a:p>
          <a:p>
            <a:endParaRPr lang="en-IN" sz="2400" dirty="0">
              <a:latin typeface="Comic Sans MS" panose="030F0702030302020204" pitchFamily="66" charset="0"/>
            </a:endParaRPr>
          </a:p>
        </p:txBody>
      </p:sp>
    </p:spTree>
    <p:extLst>
      <p:ext uri="{BB962C8B-B14F-4D97-AF65-F5344CB8AC3E}">
        <p14:creationId xmlns:p14="http://schemas.microsoft.com/office/powerpoint/2010/main" val="2210038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194B0-C3B4-717F-AC80-BC95902F13B0}"/>
              </a:ext>
            </a:extLst>
          </p:cNvPr>
          <p:cNvSpPr>
            <a:spLocks noGrp="1"/>
          </p:cNvSpPr>
          <p:nvPr>
            <p:ph type="title"/>
          </p:nvPr>
        </p:nvSpPr>
        <p:spPr>
          <a:xfrm>
            <a:off x="446315" y="365125"/>
            <a:ext cx="10907486" cy="614589"/>
          </a:xfrm>
        </p:spPr>
        <p:txBody>
          <a:bodyPr>
            <a:normAutofit fontScale="90000"/>
          </a:bodyPr>
          <a:lstStyle/>
          <a:p>
            <a:r>
              <a:rPr lang="en-US" b="1" dirty="0">
                <a:latin typeface="+mn-lt"/>
              </a:rPr>
              <a:t>Objective:</a:t>
            </a:r>
            <a:endParaRPr lang="en-IN" b="1" dirty="0">
              <a:latin typeface="+mn-lt"/>
            </a:endParaRPr>
          </a:p>
        </p:txBody>
      </p:sp>
      <p:sp>
        <p:nvSpPr>
          <p:cNvPr id="3" name="Content Placeholder 2">
            <a:extLst>
              <a:ext uri="{FF2B5EF4-FFF2-40B4-BE49-F238E27FC236}">
                <a16:creationId xmlns:a16="http://schemas.microsoft.com/office/drawing/2014/main" id="{0B1F4A6C-B569-74F7-867D-937DEE37DE7A}"/>
              </a:ext>
            </a:extLst>
          </p:cNvPr>
          <p:cNvSpPr>
            <a:spLocks noGrp="1"/>
          </p:cNvSpPr>
          <p:nvPr>
            <p:ph idx="1"/>
          </p:nvPr>
        </p:nvSpPr>
        <p:spPr>
          <a:xfrm>
            <a:off x="130629" y="1208314"/>
            <a:ext cx="11745685" cy="5442857"/>
          </a:xfrm>
        </p:spPr>
        <p:txBody>
          <a:bodyPr>
            <a:noAutofit/>
          </a:bodyPr>
          <a:lstStyle/>
          <a:p>
            <a:r>
              <a:rPr lang="en-US" sz="1600" dirty="0">
                <a:solidFill>
                  <a:srgbClr val="00FFFF"/>
                </a:solidFill>
                <a:latin typeface="Comic Sans MS" panose="030F0702030302020204" pitchFamily="66" charset="0"/>
              </a:rPr>
              <a:t>The primary objective of this analysis is to </a:t>
            </a:r>
            <a:r>
              <a:rPr lang="en-US" sz="1600" b="1" dirty="0">
                <a:solidFill>
                  <a:srgbClr val="00FFFF"/>
                </a:solidFill>
                <a:latin typeface="Comic Sans MS" panose="030F0702030302020204" pitchFamily="66" charset="0"/>
              </a:rPr>
              <a:t>understand the key factors that influence life expectancy across different countries and regions</a:t>
            </a:r>
            <a:r>
              <a:rPr lang="en-US" sz="1600" dirty="0">
                <a:solidFill>
                  <a:srgbClr val="00FFFF"/>
                </a:solidFill>
                <a:latin typeface="Comic Sans MS" panose="030F0702030302020204" pitchFamily="66" charset="0"/>
              </a:rPr>
              <a:t>. From year 2000 to 2015 By analyzing historical health, economic, and social data, this study aims to uncover patterns, relationships, and disparities that contribute to variations in life expectancy worldwide.</a:t>
            </a:r>
          </a:p>
          <a:p>
            <a:endParaRPr lang="en-US" sz="1600" dirty="0">
              <a:latin typeface="Comic Sans MS" panose="030F0702030302020204" pitchFamily="66" charset="0"/>
            </a:endParaRPr>
          </a:p>
          <a:p>
            <a:r>
              <a:rPr lang="en-US" sz="1600" b="1" dirty="0">
                <a:latin typeface="Comic Sans MS" panose="030F0702030302020204" pitchFamily="66" charset="0"/>
              </a:rPr>
              <a:t>Specifically, the objectives are to:</a:t>
            </a:r>
          </a:p>
          <a:p>
            <a:r>
              <a:rPr lang="en-US" sz="1600" b="1" dirty="0">
                <a:solidFill>
                  <a:srgbClr val="00FFFF"/>
                </a:solidFill>
                <a:latin typeface="Comic Sans MS" panose="030F0702030302020204" pitchFamily="66" charset="0"/>
              </a:rPr>
              <a:t>Identify the major health, economic, and social indicators</a:t>
            </a:r>
            <a:r>
              <a:rPr lang="en-US" sz="1600" dirty="0">
                <a:solidFill>
                  <a:srgbClr val="00FFFF"/>
                </a:solidFill>
                <a:latin typeface="Comic Sans MS" panose="030F0702030302020204" pitchFamily="66" charset="0"/>
              </a:rPr>
              <a:t> </a:t>
            </a:r>
            <a:r>
              <a:rPr lang="en-US" sz="1600" dirty="0">
                <a:latin typeface="Comic Sans MS" panose="030F0702030302020204" pitchFamily="66" charset="0"/>
              </a:rPr>
              <a:t>that are most strongly correlated with life expectancy.</a:t>
            </a:r>
          </a:p>
          <a:p>
            <a:r>
              <a:rPr lang="en-US" sz="1600" b="1" dirty="0">
                <a:solidFill>
                  <a:srgbClr val="00FFFF"/>
                </a:solidFill>
                <a:latin typeface="Comic Sans MS" panose="030F0702030302020204" pitchFamily="66" charset="0"/>
              </a:rPr>
              <a:t>Examine regional and continental differences</a:t>
            </a:r>
            <a:r>
              <a:rPr lang="en-US" sz="1600" dirty="0">
                <a:solidFill>
                  <a:srgbClr val="00FFFF"/>
                </a:solidFill>
                <a:latin typeface="Comic Sans MS" panose="030F0702030302020204" pitchFamily="66" charset="0"/>
              </a:rPr>
              <a:t> in life expectancy</a:t>
            </a:r>
            <a:r>
              <a:rPr lang="en-US" sz="1600" dirty="0">
                <a:latin typeface="Comic Sans MS" panose="030F0702030302020204" pitchFamily="66" charset="0"/>
              </a:rPr>
              <a:t> and explore potential reasons behind these variations.</a:t>
            </a:r>
          </a:p>
          <a:p>
            <a:r>
              <a:rPr lang="en-US" sz="1600" b="1" dirty="0">
                <a:solidFill>
                  <a:srgbClr val="00FFFF"/>
                </a:solidFill>
                <a:latin typeface="Comic Sans MS" panose="030F0702030302020204" pitchFamily="66" charset="0"/>
              </a:rPr>
              <a:t>Analyze trends over time</a:t>
            </a:r>
            <a:r>
              <a:rPr lang="en-US" sz="1600" dirty="0">
                <a:solidFill>
                  <a:srgbClr val="00FFFF"/>
                </a:solidFill>
                <a:latin typeface="Comic Sans MS" panose="030F0702030302020204" pitchFamily="66" charset="0"/>
              </a:rPr>
              <a:t> </a:t>
            </a:r>
            <a:r>
              <a:rPr lang="en-US" sz="1600" dirty="0">
                <a:latin typeface="Comic Sans MS" panose="030F0702030302020204" pitchFamily="66" charset="0"/>
              </a:rPr>
              <a:t>to understand how life expectancy has changed globally and what factors have driven these changes.</a:t>
            </a:r>
          </a:p>
          <a:p>
            <a:r>
              <a:rPr lang="en-US" sz="1600" b="1" dirty="0">
                <a:solidFill>
                  <a:srgbClr val="00FFFF"/>
                </a:solidFill>
                <a:latin typeface="Comic Sans MS" panose="030F0702030302020204" pitchFamily="66" charset="0"/>
              </a:rPr>
              <a:t>Evaluate the impact of preventable diseases</a:t>
            </a:r>
            <a:r>
              <a:rPr lang="en-US" sz="1600" dirty="0">
                <a:solidFill>
                  <a:srgbClr val="00FFFF"/>
                </a:solidFill>
                <a:latin typeface="Comic Sans MS" panose="030F0702030302020204" pitchFamily="66" charset="0"/>
              </a:rPr>
              <a:t> </a:t>
            </a:r>
            <a:r>
              <a:rPr lang="en-US" sz="1600" dirty="0">
                <a:latin typeface="Comic Sans MS" panose="030F0702030302020204" pitchFamily="66" charset="0"/>
              </a:rPr>
              <a:t>(such as HIV/AIDS, Polio, and Diphtheria) on life expectancy in different parts of the world.</a:t>
            </a:r>
          </a:p>
          <a:p>
            <a:r>
              <a:rPr lang="en-US" sz="1600" b="1" dirty="0">
                <a:solidFill>
                  <a:srgbClr val="00FFFF"/>
                </a:solidFill>
                <a:latin typeface="Comic Sans MS" panose="030F0702030302020204" pitchFamily="66" charset="0"/>
              </a:rPr>
              <a:t>Explore the role of education, income, and healthcare access</a:t>
            </a:r>
            <a:r>
              <a:rPr lang="en-US" sz="1600" dirty="0">
                <a:solidFill>
                  <a:srgbClr val="00FFFF"/>
                </a:solidFill>
                <a:latin typeface="Comic Sans MS" panose="030F0702030302020204" pitchFamily="66" charset="0"/>
              </a:rPr>
              <a:t> </a:t>
            </a:r>
            <a:r>
              <a:rPr lang="en-US" sz="1600" dirty="0">
                <a:latin typeface="Comic Sans MS" panose="030F0702030302020204" pitchFamily="66" charset="0"/>
              </a:rPr>
              <a:t>in influencing life outcomes and longevity.</a:t>
            </a:r>
          </a:p>
          <a:p>
            <a:r>
              <a:rPr lang="en-US" sz="1600" b="1" dirty="0">
                <a:solidFill>
                  <a:srgbClr val="00FFFF"/>
                </a:solidFill>
                <a:latin typeface="Comic Sans MS" panose="030F0702030302020204" pitchFamily="66" charset="0"/>
              </a:rPr>
              <a:t>Provide actionable insights</a:t>
            </a:r>
            <a:r>
              <a:rPr lang="en-US" sz="1600" dirty="0">
                <a:solidFill>
                  <a:srgbClr val="00FFFF"/>
                </a:solidFill>
                <a:latin typeface="Comic Sans MS" panose="030F0702030302020204" pitchFamily="66" charset="0"/>
              </a:rPr>
              <a:t> </a:t>
            </a:r>
            <a:r>
              <a:rPr lang="en-US" sz="1600" dirty="0">
                <a:latin typeface="Comic Sans MS" panose="030F0702030302020204" pitchFamily="66" charset="0"/>
              </a:rPr>
              <a:t>that can help guide policy decisions, public health initiatives, and global development strategies.</a:t>
            </a:r>
          </a:p>
          <a:p>
            <a:endParaRPr lang="en-US" sz="1600" dirty="0">
              <a:latin typeface="Comic Sans MS" panose="030F0702030302020204" pitchFamily="66" charset="0"/>
            </a:endParaRPr>
          </a:p>
          <a:p>
            <a:r>
              <a:rPr lang="en-US" sz="1600" dirty="0">
                <a:solidFill>
                  <a:srgbClr val="00FFFF"/>
                </a:solidFill>
                <a:latin typeface="Comic Sans MS" panose="030F0702030302020204" pitchFamily="66" charset="0"/>
              </a:rPr>
              <a:t>By achieving these objectives, this analysis aims to contribute to a better understanding of global health challenges and support data-driven solutions to improve life expectancy for all.</a:t>
            </a:r>
          </a:p>
          <a:p>
            <a:endParaRPr lang="en-IN" sz="1600" dirty="0">
              <a:latin typeface="Comic Sans MS" panose="030F0702030302020204" pitchFamily="66" charset="0"/>
            </a:endParaRPr>
          </a:p>
        </p:txBody>
      </p:sp>
    </p:spTree>
    <p:extLst>
      <p:ext uri="{BB962C8B-B14F-4D97-AF65-F5344CB8AC3E}">
        <p14:creationId xmlns:p14="http://schemas.microsoft.com/office/powerpoint/2010/main" val="2903363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29ED-0320-8FBF-8FD2-C5E30310C171}"/>
              </a:ext>
            </a:extLst>
          </p:cNvPr>
          <p:cNvSpPr>
            <a:spLocks noGrp="1"/>
          </p:cNvSpPr>
          <p:nvPr>
            <p:ph type="title"/>
          </p:nvPr>
        </p:nvSpPr>
        <p:spPr>
          <a:xfrm>
            <a:off x="217714" y="206829"/>
            <a:ext cx="11136087" cy="1001485"/>
          </a:xfrm>
        </p:spPr>
        <p:txBody>
          <a:bodyPr>
            <a:normAutofit/>
          </a:bodyPr>
          <a:lstStyle/>
          <a:p>
            <a:r>
              <a:rPr lang="en-US" b="1" dirty="0"/>
              <a:t>Data  Preprocessing Steps:</a:t>
            </a:r>
            <a:endParaRPr lang="en-IN" b="1" dirty="0"/>
          </a:p>
        </p:txBody>
      </p:sp>
      <p:sp>
        <p:nvSpPr>
          <p:cNvPr id="3" name="Content Placeholder 2">
            <a:extLst>
              <a:ext uri="{FF2B5EF4-FFF2-40B4-BE49-F238E27FC236}">
                <a16:creationId xmlns:a16="http://schemas.microsoft.com/office/drawing/2014/main" id="{99FE51A0-7086-8DBB-DBF8-9EF2FC75FF74}"/>
              </a:ext>
            </a:extLst>
          </p:cNvPr>
          <p:cNvSpPr>
            <a:spLocks noGrp="1"/>
          </p:cNvSpPr>
          <p:nvPr>
            <p:ph idx="1"/>
          </p:nvPr>
        </p:nvSpPr>
        <p:spPr>
          <a:xfrm>
            <a:off x="217713" y="1643743"/>
            <a:ext cx="11734801" cy="4909456"/>
          </a:xfrm>
        </p:spPr>
        <p:txBody>
          <a:bodyPr/>
          <a:lstStyle/>
          <a:p>
            <a:r>
              <a:rPr lang="en-US" dirty="0">
                <a:solidFill>
                  <a:srgbClr val="00FFFF"/>
                </a:solidFill>
                <a:latin typeface="Comic Sans MS" panose="030F0702030302020204" pitchFamily="66" charset="0"/>
              </a:rPr>
              <a:t>1. Loading and Reading Data.</a:t>
            </a:r>
          </a:p>
          <a:p>
            <a:r>
              <a:rPr lang="en-US" dirty="0">
                <a:solidFill>
                  <a:srgbClr val="00FFFF"/>
                </a:solidFill>
                <a:latin typeface="Comic Sans MS" panose="030F0702030302020204" pitchFamily="66" charset="0"/>
              </a:rPr>
              <a:t>2.Data Shape.</a:t>
            </a:r>
          </a:p>
          <a:p>
            <a:r>
              <a:rPr lang="en-US" dirty="0">
                <a:solidFill>
                  <a:srgbClr val="00FFFF"/>
                </a:solidFill>
                <a:latin typeface="Comic Sans MS" panose="030F0702030302020204" pitchFamily="66" charset="0"/>
              </a:rPr>
              <a:t>3.Drop Duplicate Rows and Columns.</a:t>
            </a:r>
          </a:p>
          <a:p>
            <a:r>
              <a:rPr lang="en-US" dirty="0">
                <a:solidFill>
                  <a:srgbClr val="00FFFF"/>
                </a:solidFill>
                <a:latin typeface="Comic Sans MS" panose="030F0702030302020204" pitchFamily="66" charset="0"/>
              </a:rPr>
              <a:t>4. Dataset Overview.</a:t>
            </a:r>
          </a:p>
          <a:p>
            <a:r>
              <a:rPr lang="en-US" dirty="0">
                <a:solidFill>
                  <a:srgbClr val="00FFFF"/>
                </a:solidFill>
                <a:latin typeface="Comic Sans MS" panose="030F0702030302020204" pitchFamily="66" charset="0"/>
              </a:rPr>
              <a:t>5.Handling Null Values</a:t>
            </a:r>
          </a:p>
          <a:p>
            <a:r>
              <a:rPr lang="en-US" dirty="0">
                <a:solidFill>
                  <a:srgbClr val="00FFFF"/>
                </a:solidFill>
                <a:latin typeface="Comic Sans MS" panose="030F0702030302020204" pitchFamily="66" charset="0"/>
              </a:rPr>
              <a:t>6.Checking Datatypes.</a:t>
            </a:r>
          </a:p>
          <a:p>
            <a:r>
              <a:rPr lang="en-US" dirty="0">
                <a:solidFill>
                  <a:srgbClr val="00FFFF"/>
                </a:solidFill>
                <a:latin typeface="Comic Sans MS" panose="030F0702030302020204" pitchFamily="66" charset="0"/>
              </a:rPr>
              <a:t>7.Statistical Summary </a:t>
            </a:r>
            <a:r>
              <a:rPr lang="en-US" dirty="0">
                <a:solidFill>
                  <a:srgbClr val="FF0000"/>
                </a:solidFill>
                <a:latin typeface="Comic Sans MS" panose="030F0702030302020204" pitchFamily="66" charset="0"/>
              </a:rPr>
              <a:t>(Using describe())</a:t>
            </a:r>
          </a:p>
          <a:p>
            <a:r>
              <a:rPr lang="en-US" dirty="0">
                <a:solidFill>
                  <a:srgbClr val="00FFFF"/>
                </a:solidFill>
                <a:latin typeface="Comic Sans MS" panose="030F0702030302020204" pitchFamily="66" charset="0"/>
              </a:rPr>
              <a:t>8.Quick Summary of Dataset</a:t>
            </a:r>
            <a:r>
              <a:rPr lang="en-US" dirty="0">
                <a:solidFill>
                  <a:srgbClr val="FF0000"/>
                </a:solidFill>
                <a:latin typeface="Comic Sans MS" panose="030F0702030302020204" pitchFamily="66" charset="0"/>
              </a:rPr>
              <a:t>(Using Info())</a:t>
            </a:r>
            <a:endParaRPr lang="en-IN"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517785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D716-8E3B-3542-BE8E-7AE7473F785B}"/>
              </a:ext>
            </a:extLst>
          </p:cNvPr>
          <p:cNvSpPr>
            <a:spLocks noGrp="1"/>
          </p:cNvSpPr>
          <p:nvPr>
            <p:ph type="title"/>
          </p:nvPr>
        </p:nvSpPr>
        <p:spPr>
          <a:xfrm>
            <a:off x="163286" y="195943"/>
            <a:ext cx="11190514" cy="838200"/>
          </a:xfrm>
        </p:spPr>
        <p:txBody>
          <a:bodyPr/>
          <a:lstStyle/>
          <a:p>
            <a:r>
              <a:rPr lang="en-US" b="1" dirty="0">
                <a:latin typeface="+mn-lt"/>
              </a:rPr>
              <a:t>Columns Overview</a:t>
            </a:r>
            <a:endParaRPr lang="en-IN" b="1" dirty="0">
              <a:latin typeface="+mn-lt"/>
            </a:endParaRPr>
          </a:p>
        </p:txBody>
      </p:sp>
      <p:graphicFrame>
        <p:nvGraphicFramePr>
          <p:cNvPr id="4" name="Content Placeholder 3">
            <a:extLst>
              <a:ext uri="{FF2B5EF4-FFF2-40B4-BE49-F238E27FC236}">
                <a16:creationId xmlns:a16="http://schemas.microsoft.com/office/drawing/2014/main" id="{0DDBA828-AE39-DF5A-58C2-9449685005C7}"/>
              </a:ext>
            </a:extLst>
          </p:cNvPr>
          <p:cNvGraphicFramePr>
            <a:graphicFrameLocks noGrp="1"/>
          </p:cNvGraphicFramePr>
          <p:nvPr>
            <p:ph idx="1"/>
            <p:extLst>
              <p:ext uri="{D42A27DB-BD31-4B8C-83A1-F6EECF244321}">
                <p14:modId xmlns:p14="http://schemas.microsoft.com/office/powerpoint/2010/main" val="3842005823"/>
              </p:ext>
            </p:extLst>
          </p:nvPr>
        </p:nvGraphicFramePr>
        <p:xfrm>
          <a:off x="163286" y="1034143"/>
          <a:ext cx="11484428" cy="5704119"/>
        </p:xfrm>
        <a:graphic>
          <a:graphicData uri="http://schemas.openxmlformats.org/drawingml/2006/table">
            <a:tbl>
              <a:tblPr>
                <a:tableStyleId>{616DA210-FB5B-4158-B5E0-FEB733F419BA}</a:tableStyleId>
              </a:tblPr>
              <a:tblGrid>
                <a:gridCol w="5742214">
                  <a:extLst>
                    <a:ext uri="{9D8B030D-6E8A-4147-A177-3AD203B41FA5}">
                      <a16:colId xmlns:a16="http://schemas.microsoft.com/office/drawing/2014/main" val="379821658"/>
                    </a:ext>
                  </a:extLst>
                </a:gridCol>
                <a:gridCol w="5742214">
                  <a:extLst>
                    <a:ext uri="{9D8B030D-6E8A-4147-A177-3AD203B41FA5}">
                      <a16:colId xmlns:a16="http://schemas.microsoft.com/office/drawing/2014/main" val="12150193"/>
                    </a:ext>
                  </a:extLst>
                </a:gridCol>
              </a:tblGrid>
              <a:tr h="414845">
                <a:tc>
                  <a:txBody>
                    <a:bodyPr/>
                    <a:lstStyle/>
                    <a:p>
                      <a:r>
                        <a:rPr lang="en-IN" b="1">
                          <a:solidFill>
                            <a:srgbClr val="00FFFF"/>
                          </a:solidFill>
                        </a:rPr>
                        <a:t>Column Name</a:t>
                      </a:r>
                    </a:p>
                  </a:txBody>
                  <a:tcPr anchor="ctr"/>
                </a:tc>
                <a:tc>
                  <a:txBody>
                    <a:bodyPr/>
                    <a:lstStyle/>
                    <a:p>
                      <a:r>
                        <a:rPr lang="en-IN" b="1"/>
                        <a:t>Description</a:t>
                      </a:r>
                      <a:endParaRPr lang="en-IN"/>
                    </a:p>
                  </a:txBody>
                  <a:tcPr anchor="ctr"/>
                </a:tc>
                <a:extLst>
                  <a:ext uri="{0D108BD9-81ED-4DB2-BD59-A6C34878D82A}">
                    <a16:rowId xmlns:a16="http://schemas.microsoft.com/office/drawing/2014/main" val="2254161730"/>
                  </a:ext>
                </a:extLst>
              </a:tr>
              <a:tr h="414845">
                <a:tc>
                  <a:txBody>
                    <a:bodyPr/>
                    <a:lstStyle/>
                    <a:p>
                      <a:r>
                        <a:rPr lang="en-IN" b="1" dirty="0">
                          <a:solidFill>
                            <a:srgbClr val="00FFFF"/>
                          </a:solidFill>
                        </a:rPr>
                        <a:t>Country</a:t>
                      </a:r>
                    </a:p>
                  </a:txBody>
                  <a:tcPr anchor="ctr"/>
                </a:tc>
                <a:tc>
                  <a:txBody>
                    <a:bodyPr/>
                    <a:lstStyle/>
                    <a:p>
                      <a:r>
                        <a:rPr lang="en-IN"/>
                        <a:t>Name of the country</a:t>
                      </a:r>
                    </a:p>
                  </a:txBody>
                  <a:tcPr anchor="ctr"/>
                </a:tc>
                <a:extLst>
                  <a:ext uri="{0D108BD9-81ED-4DB2-BD59-A6C34878D82A}">
                    <a16:rowId xmlns:a16="http://schemas.microsoft.com/office/drawing/2014/main" val="2945411040"/>
                  </a:ext>
                </a:extLst>
              </a:tr>
              <a:tr h="414845">
                <a:tc>
                  <a:txBody>
                    <a:bodyPr/>
                    <a:lstStyle/>
                    <a:p>
                      <a:r>
                        <a:rPr lang="en-IN" b="1" dirty="0">
                          <a:solidFill>
                            <a:srgbClr val="00FFFF"/>
                          </a:solidFill>
                        </a:rPr>
                        <a:t>Year</a:t>
                      </a:r>
                    </a:p>
                  </a:txBody>
                  <a:tcPr anchor="ctr"/>
                </a:tc>
                <a:tc>
                  <a:txBody>
                    <a:bodyPr/>
                    <a:lstStyle/>
                    <a:p>
                      <a:r>
                        <a:rPr lang="en-IN"/>
                        <a:t>Year of observation</a:t>
                      </a:r>
                    </a:p>
                  </a:txBody>
                  <a:tcPr anchor="ctr"/>
                </a:tc>
                <a:extLst>
                  <a:ext uri="{0D108BD9-81ED-4DB2-BD59-A6C34878D82A}">
                    <a16:rowId xmlns:a16="http://schemas.microsoft.com/office/drawing/2014/main" val="872333845"/>
                  </a:ext>
                </a:extLst>
              </a:tr>
              <a:tr h="414845">
                <a:tc>
                  <a:txBody>
                    <a:bodyPr/>
                    <a:lstStyle/>
                    <a:p>
                      <a:r>
                        <a:rPr lang="en-IN" b="1">
                          <a:solidFill>
                            <a:srgbClr val="00FFFF"/>
                          </a:solidFill>
                        </a:rPr>
                        <a:t>Status</a:t>
                      </a:r>
                    </a:p>
                  </a:txBody>
                  <a:tcPr anchor="ctr"/>
                </a:tc>
                <a:tc>
                  <a:txBody>
                    <a:bodyPr/>
                    <a:lstStyle/>
                    <a:p>
                      <a:r>
                        <a:rPr lang="en-US"/>
                        <a:t>Development status: Developed or Developing</a:t>
                      </a:r>
                    </a:p>
                  </a:txBody>
                  <a:tcPr anchor="ctr"/>
                </a:tc>
                <a:extLst>
                  <a:ext uri="{0D108BD9-81ED-4DB2-BD59-A6C34878D82A}">
                    <a16:rowId xmlns:a16="http://schemas.microsoft.com/office/drawing/2014/main" val="2064677916"/>
                  </a:ext>
                </a:extLst>
              </a:tr>
              <a:tr h="414845">
                <a:tc>
                  <a:txBody>
                    <a:bodyPr/>
                    <a:lstStyle/>
                    <a:p>
                      <a:r>
                        <a:rPr lang="en-IN" b="1" dirty="0">
                          <a:solidFill>
                            <a:srgbClr val="00FFFF"/>
                          </a:solidFill>
                        </a:rPr>
                        <a:t>Life expectancy</a:t>
                      </a:r>
                    </a:p>
                  </a:txBody>
                  <a:tcPr anchor="ctr"/>
                </a:tc>
                <a:tc>
                  <a:txBody>
                    <a:bodyPr/>
                    <a:lstStyle/>
                    <a:p>
                      <a:r>
                        <a:rPr lang="en-US"/>
                        <a:t>Average life expectancy (in years)</a:t>
                      </a:r>
                    </a:p>
                  </a:txBody>
                  <a:tcPr anchor="ctr"/>
                </a:tc>
                <a:extLst>
                  <a:ext uri="{0D108BD9-81ED-4DB2-BD59-A6C34878D82A}">
                    <a16:rowId xmlns:a16="http://schemas.microsoft.com/office/drawing/2014/main" val="4149278523"/>
                  </a:ext>
                </a:extLst>
              </a:tr>
              <a:tr h="725979">
                <a:tc>
                  <a:txBody>
                    <a:bodyPr/>
                    <a:lstStyle/>
                    <a:p>
                      <a:r>
                        <a:rPr lang="en-IN" b="1">
                          <a:solidFill>
                            <a:srgbClr val="00FFFF"/>
                          </a:solidFill>
                        </a:rPr>
                        <a:t>Adult Mortality</a:t>
                      </a:r>
                    </a:p>
                  </a:txBody>
                  <a:tcPr anchor="ctr"/>
                </a:tc>
                <a:tc>
                  <a:txBody>
                    <a:bodyPr/>
                    <a:lstStyle/>
                    <a:p>
                      <a:r>
                        <a:rPr lang="en-US"/>
                        <a:t>Probability of dying between 15 and 60 years per 1000 population</a:t>
                      </a:r>
                    </a:p>
                  </a:txBody>
                  <a:tcPr anchor="ctr"/>
                </a:tc>
                <a:extLst>
                  <a:ext uri="{0D108BD9-81ED-4DB2-BD59-A6C34878D82A}">
                    <a16:rowId xmlns:a16="http://schemas.microsoft.com/office/drawing/2014/main" val="2705226486"/>
                  </a:ext>
                </a:extLst>
              </a:tr>
              <a:tr h="414845">
                <a:tc>
                  <a:txBody>
                    <a:bodyPr/>
                    <a:lstStyle/>
                    <a:p>
                      <a:r>
                        <a:rPr lang="en-IN" b="1">
                          <a:solidFill>
                            <a:srgbClr val="00FFFF"/>
                          </a:solidFill>
                        </a:rPr>
                        <a:t>infant deaths</a:t>
                      </a:r>
                    </a:p>
                  </a:txBody>
                  <a:tcPr anchor="ctr"/>
                </a:tc>
                <a:tc>
                  <a:txBody>
                    <a:bodyPr/>
                    <a:lstStyle/>
                    <a:p>
                      <a:r>
                        <a:rPr lang="en-US" dirty="0"/>
                        <a:t>Number of infant deaths per 1000 live births</a:t>
                      </a:r>
                    </a:p>
                  </a:txBody>
                  <a:tcPr anchor="ctr"/>
                </a:tc>
                <a:extLst>
                  <a:ext uri="{0D108BD9-81ED-4DB2-BD59-A6C34878D82A}">
                    <a16:rowId xmlns:a16="http://schemas.microsoft.com/office/drawing/2014/main" val="4014353667"/>
                  </a:ext>
                </a:extLst>
              </a:tr>
              <a:tr h="414845">
                <a:tc>
                  <a:txBody>
                    <a:bodyPr/>
                    <a:lstStyle/>
                    <a:p>
                      <a:r>
                        <a:rPr lang="en-IN" b="1">
                          <a:solidFill>
                            <a:srgbClr val="00FFFF"/>
                          </a:solidFill>
                        </a:rPr>
                        <a:t>Alcohol</a:t>
                      </a:r>
                    </a:p>
                  </a:txBody>
                  <a:tcPr anchor="ctr"/>
                </a:tc>
                <a:tc>
                  <a:txBody>
                    <a:bodyPr/>
                    <a:lstStyle/>
                    <a:p>
                      <a:r>
                        <a:rPr lang="en-IN" dirty="0"/>
                        <a:t>Alcohol consumption (</a:t>
                      </a:r>
                      <a:r>
                        <a:rPr lang="en-IN" dirty="0" err="1"/>
                        <a:t>liters</a:t>
                      </a:r>
                      <a:r>
                        <a:rPr lang="en-IN" dirty="0"/>
                        <a:t> per capita, age 15+)</a:t>
                      </a:r>
                    </a:p>
                  </a:txBody>
                  <a:tcPr anchor="ctr"/>
                </a:tc>
                <a:extLst>
                  <a:ext uri="{0D108BD9-81ED-4DB2-BD59-A6C34878D82A}">
                    <a16:rowId xmlns:a16="http://schemas.microsoft.com/office/drawing/2014/main" val="3937900638"/>
                  </a:ext>
                </a:extLst>
              </a:tr>
              <a:tr h="414845">
                <a:tc>
                  <a:txBody>
                    <a:bodyPr/>
                    <a:lstStyle/>
                    <a:p>
                      <a:r>
                        <a:rPr lang="en-IN" b="1" dirty="0">
                          <a:solidFill>
                            <a:srgbClr val="00FFFF"/>
                          </a:solidFill>
                        </a:rPr>
                        <a:t>percentage expenditure</a:t>
                      </a:r>
                    </a:p>
                  </a:txBody>
                  <a:tcPr anchor="ctr"/>
                </a:tc>
                <a:tc>
                  <a:txBody>
                    <a:bodyPr/>
                    <a:lstStyle/>
                    <a:p>
                      <a:r>
                        <a:rPr lang="en-US" dirty="0"/>
                        <a:t>Expenditure on health as % of GDP</a:t>
                      </a:r>
                    </a:p>
                  </a:txBody>
                  <a:tcPr anchor="ctr"/>
                </a:tc>
                <a:extLst>
                  <a:ext uri="{0D108BD9-81ED-4DB2-BD59-A6C34878D82A}">
                    <a16:rowId xmlns:a16="http://schemas.microsoft.com/office/drawing/2014/main" val="3237021955"/>
                  </a:ext>
                </a:extLst>
              </a:tr>
              <a:tr h="414845">
                <a:tc>
                  <a:txBody>
                    <a:bodyPr/>
                    <a:lstStyle/>
                    <a:p>
                      <a:r>
                        <a:rPr lang="en-IN" b="1">
                          <a:solidFill>
                            <a:srgbClr val="00FFFF"/>
                          </a:solidFill>
                        </a:rPr>
                        <a:t>Hepatitis B</a:t>
                      </a:r>
                    </a:p>
                  </a:txBody>
                  <a:tcPr anchor="ctr"/>
                </a:tc>
                <a:tc>
                  <a:txBody>
                    <a:bodyPr/>
                    <a:lstStyle/>
                    <a:p>
                      <a:r>
                        <a:rPr lang="en-US" dirty="0"/>
                        <a:t>% of 1-year-olds immunized against Hepatitis B</a:t>
                      </a:r>
                    </a:p>
                  </a:txBody>
                  <a:tcPr anchor="ctr"/>
                </a:tc>
                <a:extLst>
                  <a:ext uri="{0D108BD9-81ED-4DB2-BD59-A6C34878D82A}">
                    <a16:rowId xmlns:a16="http://schemas.microsoft.com/office/drawing/2014/main" val="3136370207"/>
                  </a:ext>
                </a:extLst>
              </a:tr>
              <a:tr h="414845">
                <a:tc>
                  <a:txBody>
                    <a:bodyPr/>
                    <a:lstStyle/>
                    <a:p>
                      <a:r>
                        <a:rPr lang="en-IN" b="1">
                          <a:solidFill>
                            <a:srgbClr val="00FFFF"/>
                          </a:solidFill>
                        </a:rPr>
                        <a:t>Measles</a:t>
                      </a:r>
                    </a:p>
                  </a:txBody>
                  <a:tcPr anchor="ctr"/>
                </a:tc>
                <a:tc>
                  <a:txBody>
                    <a:bodyPr/>
                    <a:lstStyle/>
                    <a:p>
                      <a:r>
                        <a:rPr lang="en-US" dirty="0"/>
                        <a:t>Measles cases per 1000 population</a:t>
                      </a:r>
                    </a:p>
                  </a:txBody>
                  <a:tcPr anchor="ctr"/>
                </a:tc>
                <a:extLst>
                  <a:ext uri="{0D108BD9-81ED-4DB2-BD59-A6C34878D82A}">
                    <a16:rowId xmlns:a16="http://schemas.microsoft.com/office/drawing/2014/main" val="1186067449"/>
                  </a:ext>
                </a:extLst>
              </a:tr>
              <a:tr h="414845">
                <a:tc>
                  <a:txBody>
                    <a:bodyPr/>
                    <a:lstStyle/>
                    <a:p>
                      <a:r>
                        <a:rPr lang="en-IN" b="1" dirty="0">
                          <a:solidFill>
                            <a:srgbClr val="00FFFF"/>
                          </a:solidFill>
                        </a:rPr>
                        <a:t>BMI</a:t>
                      </a:r>
                    </a:p>
                  </a:txBody>
                  <a:tcPr anchor="ctr"/>
                </a:tc>
                <a:tc>
                  <a:txBody>
                    <a:bodyPr/>
                    <a:lstStyle/>
                    <a:p>
                      <a:r>
                        <a:rPr lang="en-IN" dirty="0"/>
                        <a:t>Average Body Mass Index</a:t>
                      </a:r>
                    </a:p>
                  </a:txBody>
                  <a:tcPr anchor="ctr"/>
                </a:tc>
                <a:extLst>
                  <a:ext uri="{0D108BD9-81ED-4DB2-BD59-A6C34878D82A}">
                    <a16:rowId xmlns:a16="http://schemas.microsoft.com/office/drawing/2014/main" val="588742425"/>
                  </a:ext>
                </a:extLst>
              </a:tr>
              <a:tr h="414845">
                <a:tc>
                  <a:txBody>
                    <a:bodyPr/>
                    <a:lstStyle/>
                    <a:p>
                      <a:r>
                        <a:rPr lang="en-IN" b="1" dirty="0">
                          <a:solidFill>
                            <a:srgbClr val="00FFFF"/>
                          </a:solidFill>
                        </a:rPr>
                        <a:t>under-five deaths</a:t>
                      </a:r>
                    </a:p>
                  </a:txBody>
                  <a:tcPr anchor="ctr"/>
                </a:tc>
                <a:tc>
                  <a:txBody>
                    <a:bodyPr/>
                    <a:lstStyle/>
                    <a:p>
                      <a:r>
                        <a:rPr lang="en-US" dirty="0"/>
                        <a:t>Deaths of children under 5 per 1000 live births</a:t>
                      </a:r>
                    </a:p>
                  </a:txBody>
                  <a:tcPr anchor="ctr"/>
                </a:tc>
                <a:extLst>
                  <a:ext uri="{0D108BD9-81ED-4DB2-BD59-A6C34878D82A}">
                    <a16:rowId xmlns:a16="http://schemas.microsoft.com/office/drawing/2014/main" val="2819600887"/>
                  </a:ext>
                </a:extLst>
              </a:tr>
            </a:tbl>
          </a:graphicData>
        </a:graphic>
      </p:graphicFrame>
    </p:spTree>
    <p:extLst>
      <p:ext uri="{BB962C8B-B14F-4D97-AF65-F5344CB8AC3E}">
        <p14:creationId xmlns:p14="http://schemas.microsoft.com/office/powerpoint/2010/main" val="2366312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CD92A-23FF-2C52-2544-6F60C5D2B406}"/>
              </a:ext>
            </a:extLst>
          </p:cNvPr>
          <p:cNvSpPr>
            <a:spLocks noGrp="1"/>
          </p:cNvSpPr>
          <p:nvPr>
            <p:ph type="title"/>
          </p:nvPr>
        </p:nvSpPr>
        <p:spPr>
          <a:xfrm>
            <a:off x="326571" y="108857"/>
            <a:ext cx="11027229" cy="1121229"/>
          </a:xfrm>
        </p:spPr>
        <p:txBody>
          <a:bodyPr/>
          <a:lstStyle/>
          <a:p>
            <a:r>
              <a:rPr lang="en-US" b="1" dirty="0">
                <a:latin typeface="+mn-lt"/>
              </a:rPr>
              <a:t>Columns Overview</a:t>
            </a:r>
            <a:endParaRPr lang="en-IN" b="1" dirty="0">
              <a:latin typeface="+mn-lt"/>
            </a:endParaRPr>
          </a:p>
        </p:txBody>
      </p:sp>
      <p:graphicFrame>
        <p:nvGraphicFramePr>
          <p:cNvPr id="4" name="Content Placeholder 3">
            <a:extLst>
              <a:ext uri="{FF2B5EF4-FFF2-40B4-BE49-F238E27FC236}">
                <a16:creationId xmlns:a16="http://schemas.microsoft.com/office/drawing/2014/main" id="{AD81AD79-1027-2D7D-B955-905FECE6C5F1}"/>
              </a:ext>
            </a:extLst>
          </p:cNvPr>
          <p:cNvGraphicFramePr>
            <a:graphicFrameLocks noGrp="1"/>
          </p:cNvGraphicFramePr>
          <p:nvPr>
            <p:ph idx="1"/>
            <p:extLst>
              <p:ext uri="{D42A27DB-BD31-4B8C-83A1-F6EECF244321}">
                <p14:modId xmlns:p14="http://schemas.microsoft.com/office/powerpoint/2010/main" val="3467486928"/>
              </p:ext>
            </p:extLst>
          </p:nvPr>
        </p:nvGraphicFramePr>
        <p:xfrm>
          <a:off x="326571" y="1121229"/>
          <a:ext cx="10402798" cy="5535158"/>
        </p:xfrm>
        <a:graphic>
          <a:graphicData uri="http://schemas.openxmlformats.org/drawingml/2006/table">
            <a:tbl>
              <a:tblPr>
                <a:tableStyleId>{616DA210-FB5B-4158-B5E0-FEB733F419BA}</a:tableStyleId>
              </a:tblPr>
              <a:tblGrid>
                <a:gridCol w="5201399">
                  <a:extLst>
                    <a:ext uri="{9D8B030D-6E8A-4147-A177-3AD203B41FA5}">
                      <a16:colId xmlns:a16="http://schemas.microsoft.com/office/drawing/2014/main" val="4082820422"/>
                    </a:ext>
                  </a:extLst>
                </a:gridCol>
                <a:gridCol w="5201399">
                  <a:extLst>
                    <a:ext uri="{9D8B030D-6E8A-4147-A177-3AD203B41FA5}">
                      <a16:colId xmlns:a16="http://schemas.microsoft.com/office/drawing/2014/main" val="3624209353"/>
                    </a:ext>
                  </a:extLst>
                </a:gridCol>
              </a:tblGrid>
              <a:tr h="417183">
                <a:tc>
                  <a:txBody>
                    <a:bodyPr/>
                    <a:lstStyle/>
                    <a:p>
                      <a:r>
                        <a:rPr lang="en-IN" sz="1600" b="1" dirty="0">
                          <a:solidFill>
                            <a:srgbClr val="00FFFF"/>
                          </a:solidFill>
                        </a:rPr>
                        <a:t>Column Name</a:t>
                      </a:r>
                    </a:p>
                  </a:txBody>
                  <a:tcPr marL="80580" marR="80580" marT="40290" marB="40290" anchor="ctr"/>
                </a:tc>
                <a:tc>
                  <a:txBody>
                    <a:bodyPr/>
                    <a:lstStyle/>
                    <a:p>
                      <a:r>
                        <a:rPr lang="en-IN" sz="1600" b="1"/>
                        <a:t>Description</a:t>
                      </a:r>
                      <a:endParaRPr lang="en-IN" sz="1600"/>
                    </a:p>
                  </a:txBody>
                  <a:tcPr marL="80580" marR="80580" marT="40290" marB="40290" anchor="ctr"/>
                </a:tc>
                <a:extLst>
                  <a:ext uri="{0D108BD9-81ED-4DB2-BD59-A6C34878D82A}">
                    <a16:rowId xmlns:a16="http://schemas.microsoft.com/office/drawing/2014/main" val="813517397"/>
                  </a:ext>
                </a:extLst>
              </a:tr>
              <a:tr h="417183">
                <a:tc>
                  <a:txBody>
                    <a:bodyPr/>
                    <a:lstStyle/>
                    <a:p>
                      <a:r>
                        <a:rPr lang="en-IN" sz="1600" b="1" dirty="0">
                          <a:solidFill>
                            <a:srgbClr val="00FFFF"/>
                          </a:solidFill>
                        </a:rPr>
                        <a:t>Polio</a:t>
                      </a:r>
                    </a:p>
                  </a:txBody>
                  <a:tcPr marL="80580" marR="80580" marT="40290" marB="40290" anchor="ctr"/>
                </a:tc>
                <a:tc>
                  <a:txBody>
                    <a:bodyPr/>
                    <a:lstStyle/>
                    <a:p>
                      <a:r>
                        <a:rPr lang="en-US" sz="1600"/>
                        <a:t>% of 1-year-olds immunized against Polio</a:t>
                      </a:r>
                    </a:p>
                  </a:txBody>
                  <a:tcPr marL="80580" marR="80580" marT="40290" marB="40290" anchor="ctr"/>
                </a:tc>
                <a:extLst>
                  <a:ext uri="{0D108BD9-81ED-4DB2-BD59-A6C34878D82A}">
                    <a16:rowId xmlns:a16="http://schemas.microsoft.com/office/drawing/2014/main" val="2346551184"/>
                  </a:ext>
                </a:extLst>
              </a:tr>
              <a:tr h="417183">
                <a:tc>
                  <a:txBody>
                    <a:bodyPr/>
                    <a:lstStyle/>
                    <a:p>
                      <a:r>
                        <a:rPr lang="en-IN" sz="1600" b="1">
                          <a:solidFill>
                            <a:srgbClr val="00FFFF"/>
                          </a:solidFill>
                        </a:rPr>
                        <a:t>Total expenditure</a:t>
                      </a:r>
                    </a:p>
                  </a:txBody>
                  <a:tcPr marL="80580" marR="80580" marT="40290" marB="40290" anchor="ctr"/>
                </a:tc>
                <a:tc>
                  <a:txBody>
                    <a:bodyPr/>
                    <a:lstStyle/>
                    <a:p>
                      <a:r>
                        <a:rPr lang="en-US" sz="1600"/>
                        <a:t>Total health expenditure as % of government budget</a:t>
                      </a:r>
                    </a:p>
                  </a:txBody>
                  <a:tcPr marL="80580" marR="80580" marT="40290" marB="40290" anchor="ctr"/>
                </a:tc>
                <a:extLst>
                  <a:ext uri="{0D108BD9-81ED-4DB2-BD59-A6C34878D82A}">
                    <a16:rowId xmlns:a16="http://schemas.microsoft.com/office/drawing/2014/main" val="2646168288"/>
                  </a:ext>
                </a:extLst>
              </a:tr>
              <a:tr h="417183">
                <a:tc>
                  <a:txBody>
                    <a:bodyPr/>
                    <a:lstStyle/>
                    <a:p>
                      <a:r>
                        <a:rPr lang="en-IN" sz="1600" b="1">
                          <a:solidFill>
                            <a:srgbClr val="00FFFF"/>
                          </a:solidFill>
                        </a:rPr>
                        <a:t>Diphtheria</a:t>
                      </a:r>
                    </a:p>
                  </a:txBody>
                  <a:tcPr marL="80580" marR="80580" marT="40290" marB="40290" anchor="ctr"/>
                </a:tc>
                <a:tc>
                  <a:txBody>
                    <a:bodyPr/>
                    <a:lstStyle/>
                    <a:p>
                      <a:r>
                        <a:rPr lang="en-US" sz="1600"/>
                        <a:t>% of 1-year-olds immunized against Diphtheria</a:t>
                      </a:r>
                    </a:p>
                  </a:txBody>
                  <a:tcPr marL="80580" marR="80580" marT="40290" marB="40290" anchor="ctr"/>
                </a:tc>
                <a:extLst>
                  <a:ext uri="{0D108BD9-81ED-4DB2-BD59-A6C34878D82A}">
                    <a16:rowId xmlns:a16="http://schemas.microsoft.com/office/drawing/2014/main" val="1500569900"/>
                  </a:ext>
                </a:extLst>
              </a:tr>
              <a:tr h="417183">
                <a:tc>
                  <a:txBody>
                    <a:bodyPr/>
                    <a:lstStyle/>
                    <a:p>
                      <a:r>
                        <a:rPr lang="en-IN" sz="1600" b="1">
                          <a:solidFill>
                            <a:srgbClr val="00FFFF"/>
                          </a:solidFill>
                        </a:rPr>
                        <a:t>HIV/AIDS</a:t>
                      </a:r>
                    </a:p>
                  </a:txBody>
                  <a:tcPr marL="80580" marR="80580" marT="40290" marB="40290" anchor="ctr"/>
                </a:tc>
                <a:tc>
                  <a:txBody>
                    <a:bodyPr/>
                    <a:lstStyle/>
                    <a:p>
                      <a:r>
                        <a:rPr lang="en-US" sz="1600"/>
                        <a:t>Deaths per 1000 due to HIV/AIDS</a:t>
                      </a:r>
                    </a:p>
                  </a:txBody>
                  <a:tcPr marL="80580" marR="80580" marT="40290" marB="40290" anchor="ctr"/>
                </a:tc>
                <a:extLst>
                  <a:ext uri="{0D108BD9-81ED-4DB2-BD59-A6C34878D82A}">
                    <a16:rowId xmlns:a16="http://schemas.microsoft.com/office/drawing/2014/main" val="3390481357"/>
                  </a:ext>
                </a:extLst>
              </a:tr>
              <a:tr h="417183">
                <a:tc>
                  <a:txBody>
                    <a:bodyPr/>
                    <a:lstStyle/>
                    <a:p>
                      <a:r>
                        <a:rPr lang="en-IN" sz="1600" b="1">
                          <a:solidFill>
                            <a:srgbClr val="00FFFF"/>
                          </a:solidFill>
                        </a:rPr>
                        <a:t>GDP</a:t>
                      </a:r>
                    </a:p>
                  </a:txBody>
                  <a:tcPr marL="80580" marR="80580" marT="40290" marB="40290" anchor="ctr"/>
                </a:tc>
                <a:tc>
                  <a:txBody>
                    <a:bodyPr/>
                    <a:lstStyle/>
                    <a:p>
                      <a:r>
                        <a:rPr lang="en-US" sz="1600"/>
                        <a:t>Gross Domestic Product in USD</a:t>
                      </a:r>
                    </a:p>
                  </a:txBody>
                  <a:tcPr marL="80580" marR="80580" marT="40290" marB="40290" anchor="ctr"/>
                </a:tc>
                <a:extLst>
                  <a:ext uri="{0D108BD9-81ED-4DB2-BD59-A6C34878D82A}">
                    <a16:rowId xmlns:a16="http://schemas.microsoft.com/office/drawing/2014/main" val="899904169"/>
                  </a:ext>
                </a:extLst>
              </a:tr>
              <a:tr h="417183">
                <a:tc>
                  <a:txBody>
                    <a:bodyPr/>
                    <a:lstStyle/>
                    <a:p>
                      <a:r>
                        <a:rPr lang="en-IN" sz="1600" b="1">
                          <a:solidFill>
                            <a:srgbClr val="00FFFF"/>
                          </a:solidFill>
                        </a:rPr>
                        <a:t>Population</a:t>
                      </a:r>
                    </a:p>
                  </a:txBody>
                  <a:tcPr marL="80580" marR="80580" marT="40290" marB="40290" anchor="ctr"/>
                </a:tc>
                <a:tc>
                  <a:txBody>
                    <a:bodyPr/>
                    <a:lstStyle/>
                    <a:p>
                      <a:r>
                        <a:rPr lang="en-IN" sz="1600"/>
                        <a:t>Population of the country</a:t>
                      </a:r>
                    </a:p>
                  </a:txBody>
                  <a:tcPr marL="80580" marR="80580" marT="40290" marB="40290" anchor="ctr"/>
                </a:tc>
                <a:extLst>
                  <a:ext uri="{0D108BD9-81ED-4DB2-BD59-A6C34878D82A}">
                    <a16:rowId xmlns:a16="http://schemas.microsoft.com/office/drawing/2014/main" val="3955459288"/>
                  </a:ext>
                </a:extLst>
              </a:tr>
              <a:tr h="725347">
                <a:tc>
                  <a:txBody>
                    <a:bodyPr/>
                    <a:lstStyle/>
                    <a:p>
                      <a:r>
                        <a:rPr lang="en-IN" sz="1600" b="1">
                          <a:solidFill>
                            <a:srgbClr val="00FFFF"/>
                          </a:solidFill>
                        </a:rPr>
                        <a:t>thinness 1-19 years</a:t>
                      </a:r>
                    </a:p>
                  </a:txBody>
                  <a:tcPr marL="80580" marR="80580" marT="40290" marB="40290" anchor="ctr"/>
                </a:tc>
                <a:tc>
                  <a:txBody>
                    <a:bodyPr/>
                    <a:lstStyle/>
                    <a:p>
                      <a:r>
                        <a:rPr lang="en-US" sz="1600"/>
                        <a:t>% of children/adolescents aged 1–19 who are underweight</a:t>
                      </a:r>
                    </a:p>
                  </a:txBody>
                  <a:tcPr marL="80580" marR="80580" marT="40290" marB="40290" anchor="ctr"/>
                </a:tc>
                <a:extLst>
                  <a:ext uri="{0D108BD9-81ED-4DB2-BD59-A6C34878D82A}">
                    <a16:rowId xmlns:a16="http://schemas.microsoft.com/office/drawing/2014/main" val="3210567781"/>
                  </a:ext>
                </a:extLst>
              </a:tr>
              <a:tr h="417183">
                <a:tc>
                  <a:txBody>
                    <a:bodyPr/>
                    <a:lstStyle/>
                    <a:p>
                      <a:r>
                        <a:rPr lang="en-IN" sz="1600" b="1">
                          <a:solidFill>
                            <a:srgbClr val="00FFFF"/>
                          </a:solidFill>
                        </a:rPr>
                        <a:t>thinness 5-9 years</a:t>
                      </a:r>
                    </a:p>
                  </a:txBody>
                  <a:tcPr marL="80580" marR="80580" marT="40290" marB="40290" anchor="ctr"/>
                </a:tc>
                <a:tc>
                  <a:txBody>
                    <a:bodyPr/>
                    <a:lstStyle/>
                    <a:p>
                      <a:r>
                        <a:rPr lang="en-US" sz="1600"/>
                        <a:t>% of children aged 5–9 who are underweight</a:t>
                      </a:r>
                    </a:p>
                  </a:txBody>
                  <a:tcPr marL="80580" marR="80580" marT="40290" marB="40290" anchor="ctr"/>
                </a:tc>
                <a:extLst>
                  <a:ext uri="{0D108BD9-81ED-4DB2-BD59-A6C34878D82A}">
                    <a16:rowId xmlns:a16="http://schemas.microsoft.com/office/drawing/2014/main" val="2512120102"/>
                  </a:ext>
                </a:extLst>
              </a:tr>
              <a:tr h="730744">
                <a:tc>
                  <a:txBody>
                    <a:bodyPr/>
                    <a:lstStyle/>
                    <a:p>
                      <a:r>
                        <a:rPr lang="en-IN" sz="1600" b="1" dirty="0">
                          <a:solidFill>
                            <a:srgbClr val="00FFFF"/>
                          </a:solidFill>
                        </a:rPr>
                        <a:t>Income composition of resources</a:t>
                      </a:r>
                    </a:p>
                  </a:txBody>
                  <a:tcPr marL="80580" marR="80580" marT="40290" marB="40290" anchor="ctr"/>
                </a:tc>
                <a:tc>
                  <a:txBody>
                    <a:bodyPr/>
                    <a:lstStyle/>
                    <a:p>
                      <a:r>
                        <a:rPr lang="en-US" sz="1600"/>
                        <a:t>Index reflecting income component of Human Development Index</a:t>
                      </a:r>
                    </a:p>
                  </a:txBody>
                  <a:tcPr marL="80580" marR="80580" marT="40290" marB="40290" anchor="ctr"/>
                </a:tc>
                <a:extLst>
                  <a:ext uri="{0D108BD9-81ED-4DB2-BD59-A6C34878D82A}">
                    <a16:rowId xmlns:a16="http://schemas.microsoft.com/office/drawing/2014/main" val="2159011664"/>
                  </a:ext>
                </a:extLst>
              </a:tr>
              <a:tr h="417183">
                <a:tc>
                  <a:txBody>
                    <a:bodyPr/>
                    <a:lstStyle/>
                    <a:p>
                      <a:r>
                        <a:rPr lang="en-IN" sz="1600" b="1">
                          <a:solidFill>
                            <a:srgbClr val="00FFFF"/>
                          </a:solidFill>
                        </a:rPr>
                        <a:t>Schooling</a:t>
                      </a:r>
                    </a:p>
                  </a:txBody>
                  <a:tcPr marL="80580" marR="80580" marT="40290" marB="40290" anchor="ctr"/>
                </a:tc>
                <a:tc>
                  <a:txBody>
                    <a:bodyPr/>
                    <a:lstStyle/>
                    <a:p>
                      <a:r>
                        <a:rPr lang="en-US" sz="1600"/>
                        <a:t>Average number of years of schooling</a:t>
                      </a:r>
                    </a:p>
                  </a:txBody>
                  <a:tcPr marL="80580" marR="80580" marT="40290" marB="40290" anchor="ctr"/>
                </a:tc>
                <a:extLst>
                  <a:ext uri="{0D108BD9-81ED-4DB2-BD59-A6C34878D82A}">
                    <a16:rowId xmlns:a16="http://schemas.microsoft.com/office/drawing/2014/main" val="628192610"/>
                  </a:ext>
                </a:extLst>
              </a:tr>
              <a:tr h="286547">
                <a:tc>
                  <a:txBody>
                    <a:bodyPr/>
                    <a:lstStyle/>
                    <a:p>
                      <a:r>
                        <a:rPr lang="en-IN" sz="1600" b="1" dirty="0">
                          <a:solidFill>
                            <a:srgbClr val="00FFFF"/>
                          </a:solidFill>
                        </a:rPr>
                        <a:t>Continent</a:t>
                      </a:r>
                    </a:p>
                  </a:txBody>
                  <a:tcPr marL="80580" marR="80580" marT="40290" marB="40290" anchor="ctr"/>
                </a:tc>
                <a:tc>
                  <a:txBody>
                    <a:bodyPr/>
                    <a:lstStyle/>
                    <a:p>
                      <a:r>
                        <a:rPr lang="en-US" sz="1600" dirty="0"/>
                        <a:t>Continent the country belongs to (manually added)</a:t>
                      </a:r>
                    </a:p>
                  </a:txBody>
                  <a:tcPr marL="80580" marR="80580" marT="40290" marB="40290" anchor="ctr"/>
                </a:tc>
                <a:extLst>
                  <a:ext uri="{0D108BD9-81ED-4DB2-BD59-A6C34878D82A}">
                    <a16:rowId xmlns:a16="http://schemas.microsoft.com/office/drawing/2014/main" val="3530027712"/>
                  </a:ext>
                </a:extLst>
              </a:tr>
            </a:tbl>
          </a:graphicData>
        </a:graphic>
      </p:graphicFrame>
    </p:spTree>
    <p:extLst>
      <p:ext uri="{BB962C8B-B14F-4D97-AF65-F5344CB8AC3E}">
        <p14:creationId xmlns:p14="http://schemas.microsoft.com/office/powerpoint/2010/main" val="1352866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9C755-F593-47A4-0037-763334D9386B}"/>
              </a:ext>
            </a:extLst>
          </p:cNvPr>
          <p:cNvSpPr>
            <a:spLocks noGrp="1"/>
          </p:cNvSpPr>
          <p:nvPr>
            <p:ph type="title"/>
          </p:nvPr>
        </p:nvSpPr>
        <p:spPr>
          <a:xfrm>
            <a:off x="1045029" y="1230086"/>
            <a:ext cx="10700657" cy="1186543"/>
          </a:xfrm>
        </p:spPr>
        <p:txBody>
          <a:bodyPr>
            <a:normAutofit/>
          </a:bodyPr>
          <a:lstStyle/>
          <a:p>
            <a:r>
              <a:rPr lang="en-US" sz="7200" b="1" dirty="0">
                <a:solidFill>
                  <a:srgbClr val="FF0000"/>
                </a:solidFill>
                <a:latin typeface="+mn-lt"/>
              </a:rPr>
              <a:t>Exploratory Data Analysis</a:t>
            </a:r>
            <a:endParaRPr lang="en-IN" sz="7200" b="1" dirty="0">
              <a:solidFill>
                <a:srgbClr val="FF0000"/>
              </a:solidFill>
              <a:latin typeface="+mn-lt"/>
            </a:endParaRPr>
          </a:p>
        </p:txBody>
      </p:sp>
      <p:sp>
        <p:nvSpPr>
          <p:cNvPr id="3" name="Text Placeholder 2">
            <a:extLst>
              <a:ext uri="{FF2B5EF4-FFF2-40B4-BE49-F238E27FC236}">
                <a16:creationId xmlns:a16="http://schemas.microsoft.com/office/drawing/2014/main" id="{515943AF-E8A7-77F3-7998-0CDEF069067B}"/>
              </a:ext>
            </a:extLst>
          </p:cNvPr>
          <p:cNvSpPr>
            <a:spLocks noGrp="1"/>
          </p:cNvSpPr>
          <p:nvPr>
            <p:ph type="body" idx="1"/>
          </p:nvPr>
        </p:nvSpPr>
        <p:spPr>
          <a:xfrm>
            <a:off x="8066314" y="3341915"/>
            <a:ext cx="3222172" cy="1099457"/>
          </a:xfrm>
        </p:spPr>
        <p:txBody>
          <a:bodyPr>
            <a:normAutofit/>
          </a:bodyPr>
          <a:lstStyle/>
          <a:p>
            <a:r>
              <a:rPr lang="en-US" sz="6000" b="1" dirty="0">
                <a:solidFill>
                  <a:srgbClr val="FF0000"/>
                </a:solidFill>
              </a:rPr>
              <a:t>By SAHIL</a:t>
            </a:r>
            <a:endParaRPr lang="en-IN" sz="6000" b="1" dirty="0">
              <a:solidFill>
                <a:srgbClr val="FF0000"/>
              </a:solidFill>
            </a:endParaRPr>
          </a:p>
        </p:txBody>
      </p:sp>
    </p:spTree>
    <p:extLst>
      <p:ext uri="{BB962C8B-B14F-4D97-AF65-F5344CB8AC3E}">
        <p14:creationId xmlns:p14="http://schemas.microsoft.com/office/powerpoint/2010/main" val="3977926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2EDED-AFB6-7BC0-F655-2BFE3B63AC60}"/>
              </a:ext>
            </a:extLst>
          </p:cNvPr>
          <p:cNvSpPr>
            <a:spLocks noGrp="1"/>
          </p:cNvSpPr>
          <p:nvPr>
            <p:ph type="title"/>
          </p:nvPr>
        </p:nvSpPr>
        <p:spPr>
          <a:xfrm>
            <a:off x="87086" y="130630"/>
            <a:ext cx="11919857" cy="1208314"/>
          </a:xfrm>
        </p:spPr>
        <p:txBody>
          <a:bodyPr>
            <a:normAutofit fontScale="90000"/>
          </a:bodyPr>
          <a:lstStyle/>
          <a:p>
            <a:r>
              <a:rPr lang="en-US" b="1" dirty="0">
                <a:latin typeface="+mn-lt"/>
              </a:rPr>
              <a:t>1.Correlation of life expectancy with other columns</a:t>
            </a:r>
            <a:endParaRPr lang="en-IN" b="1" dirty="0">
              <a:latin typeface="+mn-lt"/>
            </a:endParaRPr>
          </a:p>
        </p:txBody>
      </p:sp>
      <p:graphicFrame>
        <p:nvGraphicFramePr>
          <p:cNvPr id="5" name="Content Placeholder 4">
            <a:extLst>
              <a:ext uri="{FF2B5EF4-FFF2-40B4-BE49-F238E27FC236}">
                <a16:creationId xmlns:a16="http://schemas.microsoft.com/office/drawing/2014/main" id="{AC530B2D-1097-4926-137F-BA32951BFEC8}"/>
              </a:ext>
            </a:extLst>
          </p:cNvPr>
          <p:cNvGraphicFramePr>
            <a:graphicFrameLocks noGrp="1"/>
          </p:cNvGraphicFramePr>
          <p:nvPr>
            <p:ph sz="half" idx="1"/>
            <p:extLst>
              <p:ext uri="{D42A27DB-BD31-4B8C-83A1-F6EECF244321}">
                <p14:modId xmlns:p14="http://schemas.microsoft.com/office/powerpoint/2010/main" val="2826694609"/>
              </p:ext>
            </p:extLst>
          </p:nvPr>
        </p:nvGraphicFramePr>
        <p:xfrm>
          <a:off x="87086" y="1480457"/>
          <a:ext cx="5932716" cy="4942113"/>
        </p:xfrm>
        <a:graphic>
          <a:graphicData uri="http://schemas.openxmlformats.org/drawingml/2006/table">
            <a:tbl>
              <a:tblPr>
                <a:tableStyleId>{616DA210-FB5B-4158-B5E0-FEB733F419BA}</a:tableStyleId>
              </a:tblPr>
              <a:tblGrid>
                <a:gridCol w="1483179">
                  <a:extLst>
                    <a:ext uri="{9D8B030D-6E8A-4147-A177-3AD203B41FA5}">
                      <a16:colId xmlns:a16="http://schemas.microsoft.com/office/drawing/2014/main" val="3358668325"/>
                    </a:ext>
                  </a:extLst>
                </a:gridCol>
                <a:gridCol w="1483179">
                  <a:extLst>
                    <a:ext uri="{9D8B030D-6E8A-4147-A177-3AD203B41FA5}">
                      <a16:colId xmlns:a16="http://schemas.microsoft.com/office/drawing/2014/main" val="770865912"/>
                    </a:ext>
                  </a:extLst>
                </a:gridCol>
                <a:gridCol w="1483179">
                  <a:extLst>
                    <a:ext uri="{9D8B030D-6E8A-4147-A177-3AD203B41FA5}">
                      <a16:colId xmlns:a16="http://schemas.microsoft.com/office/drawing/2014/main" val="1537198319"/>
                    </a:ext>
                  </a:extLst>
                </a:gridCol>
                <a:gridCol w="1483179">
                  <a:extLst>
                    <a:ext uri="{9D8B030D-6E8A-4147-A177-3AD203B41FA5}">
                      <a16:colId xmlns:a16="http://schemas.microsoft.com/office/drawing/2014/main" val="2318680730"/>
                    </a:ext>
                  </a:extLst>
                </a:gridCol>
              </a:tblGrid>
              <a:tr h="1922597">
                <a:tc>
                  <a:txBody>
                    <a:bodyPr/>
                    <a:lstStyle/>
                    <a:p>
                      <a:pPr algn="ctr"/>
                      <a:r>
                        <a:rPr lang="en-IN" sz="2400" b="1" dirty="0"/>
                        <a:t>Rank</a:t>
                      </a:r>
                    </a:p>
                  </a:txBody>
                  <a:tcPr marL="45057" marR="45057" marT="22529" marB="22529" anchor="ctr"/>
                </a:tc>
                <a:tc>
                  <a:txBody>
                    <a:bodyPr/>
                    <a:lstStyle/>
                    <a:p>
                      <a:r>
                        <a:rPr lang="en-IN" sz="2400" b="1" dirty="0"/>
                        <a:t>Feature</a:t>
                      </a:r>
                    </a:p>
                  </a:txBody>
                  <a:tcPr marL="45057" marR="45057" marT="22529" marB="22529" anchor="ctr"/>
                </a:tc>
                <a:tc>
                  <a:txBody>
                    <a:bodyPr/>
                    <a:lstStyle/>
                    <a:p>
                      <a:pPr algn="ctr"/>
                      <a:r>
                        <a:rPr lang="en-IN" sz="2400" b="1" dirty="0"/>
                        <a:t>Correlation with Life Expectancy</a:t>
                      </a:r>
                    </a:p>
                  </a:txBody>
                  <a:tcPr marL="45057" marR="45057" marT="22529" marB="22529" anchor="ctr"/>
                </a:tc>
                <a:tc>
                  <a:txBody>
                    <a:bodyPr/>
                    <a:lstStyle/>
                    <a:p>
                      <a:r>
                        <a:rPr lang="en-IN" sz="2400" b="1" dirty="0"/>
                        <a:t>Impact</a:t>
                      </a:r>
                    </a:p>
                  </a:txBody>
                  <a:tcPr marL="45057" marR="45057" marT="22529" marB="22529" anchor="ctr"/>
                </a:tc>
                <a:extLst>
                  <a:ext uri="{0D108BD9-81ED-4DB2-BD59-A6C34878D82A}">
                    <a16:rowId xmlns:a16="http://schemas.microsoft.com/office/drawing/2014/main" val="4117422719"/>
                  </a:ext>
                </a:extLst>
              </a:tr>
              <a:tr h="1096919">
                <a:tc>
                  <a:txBody>
                    <a:bodyPr/>
                    <a:lstStyle/>
                    <a:p>
                      <a:pPr algn="ctr"/>
                      <a:r>
                        <a:rPr lang="en-IN" sz="2400" b="1" dirty="0"/>
                        <a:t>1</a:t>
                      </a:r>
                    </a:p>
                  </a:txBody>
                  <a:tcPr marL="45057" marR="45057" marT="22529" marB="22529" anchor="ctr"/>
                </a:tc>
                <a:tc>
                  <a:txBody>
                    <a:bodyPr/>
                    <a:lstStyle/>
                    <a:p>
                      <a:r>
                        <a:rPr lang="en-IN" sz="2400" b="1" dirty="0">
                          <a:solidFill>
                            <a:srgbClr val="00FFFF"/>
                          </a:solidFill>
                        </a:rPr>
                        <a:t>Schooling</a:t>
                      </a:r>
                    </a:p>
                  </a:txBody>
                  <a:tcPr marL="45057" marR="45057" marT="22529" marB="22529" anchor="ctr"/>
                </a:tc>
                <a:tc>
                  <a:txBody>
                    <a:bodyPr/>
                    <a:lstStyle/>
                    <a:p>
                      <a:pPr algn="ctr"/>
                      <a:r>
                        <a:rPr lang="en-IN" sz="2400" b="1">
                          <a:solidFill>
                            <a:srgbClr val="00FFFF"/>
                          </a:solidFill>
                        </a:rPr>
                        <a:t>0.747</a:t>
                      </a:r>
                    </a:p>
                  </a:txBody>
                  <a:tcPr marL="45057" marR="45057" marT="22529" marB="22529" anchor="ctr"/>
                </a:tc>
                <a:tc>
                  <a:txBody>
                    <a:bodyPr/>
                    <a:lstStyle/>
                    <a:p>
                      <a:r>
                        <a:rPr lang="en-IN" sz="2400" b="1" dirty="0">
                          <a:solidFill>
                            <a:srgbClr val="00FFFF"/>
                          </a:solidFill>
                        </a:rPr>
                        <a:t>Strong Positive</a:t>
                      </a:r>
                    </a:p>
                  </a:txBody>
                  <a:tcPr marL="45057" marR="45057" marT="22529" marB="22529" anchor="ctr"/>
                </a:tc>
                <a:extLst>
                  <a:ext uri="{0D108BD9-81ED-4DB2-BD59-A6C34878D82A}">
                    <a16:rowId xmlns:a16="http://schemas.microsoft.com/office/drawing/2014/main" val="773998905"/>
                  </a:ext>
                </a:extLst>
              </a:tr>
              <a:tr h="1922597">
                <a:tc>
                  <a:txBody>
                    <a:bodyPr/>
                    <a:lstStyle/>
                    <a:p>
                      <a:pPr algn="ctr"/>
                      <a:r>
                        <a:rPr lang="en-IN" sz="2400" b="1" dirty="0"/>
                        <a:t>2</a:t>
                      </a:r>
                    </a:p>
                  </a:txBody>
                  <a:tcPr marL="45057" marR="45057" marT="22529" marB="22529" anchor="ctr"/>
                </a:tc>
                <a:tc>
                  <a:txBody>
                    <a:bodyPr/>
                    <a:lstStyle/>
                    <a:p>
                      <a:r>
                        <a:rPr lang="en-IN" sz="2400" b="1">
                          <a:solidFill>
                            <a:srgbClr val="00FFFF"/>
                          </a:solidFill>
                        </a:rPr>
                        <a:t>Income composition of resources</a:t>
                      </a:r>
                    </a:p>
                  </a:txBody>
                  <a:tcPr marL="45057" marR="45057" marT="22529" marB="22529" anchor="ctr"/>
                </a:tc>
                <a:tc>
                  <a:txBody>
                    <a:bodyPr/>
                    <a:lstStyle/>
                    <a:p>
                      <a:pPr algn="ctr"/>
                      <a:r>
                        <a:rPr lang="en-IN" sz="2400" b="1" dirty="0">
                          <a:solidFill>
                            <a:srgbClr val="00FFFF"/>
                          </a:solidFill>
                        </a:rPr>
                        <a:t>0.725</a:t>
                      </a:r>
                    </a:p>
                  </a:txBody>
                  <a:tcPr marL="45057" marR="45057" marT="22529" marB="22529" anchor="ctr"/>
                </a:tc>
                <a:tc>
                  <a:txBody>
                    <a:bodyPr/>
                    <a:lstStyle/>
                    <a:p>
                      <a:r>
                        <a:rPr lang="en-IN" sz="2400" b="1" dirty="0">
                          <a:solidFill>
                            <a:srgbClr val="00FFFF"/>
                          </a:solidFill>
                        </a:rPr>
                        <a:t>Strong Positive</a:t>
                      </a:r>
                    </a:p>
                  </a:txBody>
                  <a:tcPr marL="45057" marR="45057" marT="22529" marB="22529" anchor="ctr"/>
                </a:tc>
                <a:extLst>
                  <a:ext uri="{0D108BD9-81ED-4DB2-BD59-A6C34878D82A}">
                    <a16:rowId xmlns:a16="http://schemas.microsoft.com/office/drawing/2014/main" val="1958830617"/>
                  </a:ext>
                </a:extLst>
              </a:tr>
            </a:tbl>
          </a:graphicData>
        </a:graphic>
      </p:graphicFrame>
      <p:sp>
        <p:nvSpPr>
          <p:cNvPr id="4" name="Content Placeholder 3">
            <a:extLst>
              <a:ext uri="{FF2B5EF4-FFF2-40B4-BE49-F238E27FC236}">
                <a16:creationId xmlns:a16="http://schemas.microsoft.com/office/drawing/2014/main" id="{45750102-CDF1-A989-4A6F-5F3C9BD3F3E2}"/>
              </a:ext>
            </a:extLst>
          </p:cNvPr>
          <p:cNvSpPr>
            <a:spLocks noGrp="1"/>
          </p:cNvSpPr>
          <p:nvPr>
            <p:ph sz="half" idx="2"/>
          </p:nvPr>
        </p:nvSpPr>
        <p:spPr>
          <a:xfrm>
            <a:off x="6498770" y="1752600"/>
            <a:ext cx="5366659" cy="4580710"/>
          </a:xfrm>
        </p:spPr>
        <p:txBody>
          <a:bodyPr>
            <a:normAutofit lnSpcReduction="10000"/>
          </a:bodyPr>
          <a:lstStyle/>
          <a:p>
            <a:r>
              <a:rPr lang="en-US" sz="3600" b="1" dirty="0">
                <a:solidFill>
                  <a:srgbClr val="FF0000"/>
                </a:solidFill>
              </a:rPr>
              <a:t>Insight:</a:t>
            </a:r>
          </a:p>
          <a:p>
            <a:endParaRPr lang="en-US" dirty="0"/>
          </a:p>
          <a:p>
            <a:r>
              <a:rPr lang="en-US" dirty="0">
                <a:solidFill>
                  <a:srgbClr val="00FFFF"/>
                </a:solidFill>
                <a:latin typeface="Comic Sans MS" panose="030F0702030302020204" pitchFamily="66" charset="0"/>
              </a:rPr>
              <a:t>Life Expectancy is </a:t>
            </a:r>
            <a:r>
              <a:rPr lang="en-US" dirty="0">
                <a:solidFill>
                  <a:srgbClr val="FF0000"/>
                </a:solidFill>
                <a:latin typeface="Comic Sans MS" panose="030F0702030302020204" pitchFamily="66" charset="0"/>
              </a:rPr>
              <a:t>heavily correlated </a:t>
            </a:r>
            <a:r>
              <a:rPr lang="en-US" dirty="0">
                <a:solidFill>
                  <a:srgbClr val="00FFFF"/>
                </a:solidFill>
                <a:latin typeface="Comic Sans MS" panose="030F0702030302020204" pitchFamily="66" charset="0"/>
              </a:rPr>
              <a:t>by the schooling and income composition of resources.</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As the Schooling and Income Composition of Resources increases life expectancy also increases over the years</a:t>
            </a:r>
            <a:endParaRPr lang="en-IN" dirty="0">
              <a:solidFill>
                <a:srgbClr val="00FFFF"/>
              </a:solidFill>
              <a:latin typeface="Comic Sans MS" panose="030F0702030302020204" pitchFamily="66" charset="0"/>
            </a:endParaRPr>
          </a:p>
        </p:txBody>
      </p:sp>
    </p:spTree>
    <p:extLst>
      <p:ext uri="{BB962C8B-B14F-4D97-AF65-F5344CB8AC3E}">
        <p14:creationId xmlns:p14="http://schemas.microsoft.com/office/powerpoint/2010/main" val="2428033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93444-310F-4537-15BA-1454CDA5869C}"/>
              </a:ext>
            </a:extLst>
          </p:cNvPr>
          <p:cNvSpPr>
            <a:spLocks noGrp="1"/>
          </p:cNvSpPr>
          <p:nvPr>
            <p:ph type="title"/>
          </p:nvPr>
        </p:nvSpPr>
        <p:spPr>
          <a:xfrm>
            <a:off x="195943" y="293914"/>
            <a:ext cx="11157857" cy="729343"/>
          </a:xfrm>
        </p:spPr>
        <p:txBody>
          <a:bodyPr/>
          <a:lstStyle/>
          <a:p>
            <a:r>
              <a:rPr lang="en-US" b="1" dirty="0">
                <a:latin typeface="+mn-lt"/>
              </a:rPr>
              <a:t>2.Life Expectancy By Continents</a:t>
            </a:r>
            <a:endParaRPr lang="en-IN" b="1" dirty="0">
              <a:latin typeface="+mn-lt"/>
            </a:endParaRPr>
          </a:p>
        </p:txBody>
      </p:sp>
      <p:pic>
        <p:nvPicPr>
          <p:cNvPr id="6" name="Content Placeholder 5">
            <a:extLst>
              <a:ext uri="{FF2B5EF4-FFF2-40B4-BE49-F238E27FC236}">
                <a16:creationId xmlns:a16="http://schemas.microsoft.com/office/drawing/2014/main" id="{16C0F046-659E-A0D2-4C16-07DDB4096B1A}"/>
              </a:ext>
            </a:extLst>
          </p:cNvPr>
          <p:cNvPicPr>
            <a:picLocks noGrp="1" noChangeAspect="1"/>
          </p:cNvPicPr>
          <p:nvPr>
            <p:ph sz="half" idx="1"/>
          </p:nvPr>
        </p:nvPicPr>
        <p:blipFill>
          <a:blip r:embed="rId2"/>
          <a:stretch>
            <a:fillRect/>
          </a:stretch>
        </p:blipFill>
        <p:spPr>
          <a:xfrm>
            <a:off x="97971" y="1534886"/>
            <a:ext cx="6574972" cy="5029199"/>
          </a:xfrm>
        </p:spPr>
      </p:pic>
      <p:sp>
        <p:nvSpPr>
          <p:cNvPr id="4" name="Content Placeholder 3">
            <a:extLst>
              <a:ext uri="{FF2B5EF4-FFF2-40B4-BE49-F238E27FC236}">
                <a16:creationId xmlns:a16="http://schemas.microsoft.com/office/drawing/2014/main" id="{DF5B054D-605E-0C95-DE5A-2EAD15EFF555}"/>
              </a:ext>
            </a:extLst>
          </p:cNvPr>
          <p:cNvSpPr>
            <a:spLocks noGrp="1"/>
          </p:cNvSpPr>
          <p:nvPr>
            <p:ph sz="half" idx="2"/>
          </p:nvPr>
        </p:nvSpPr>
        <p:spPr>
          <a:xfrm>
            <a:off x="7119257" y="1534886"/>
            <a:ext cx="4898572" cy="5029199"/>
          </a:xfrm>
        </p:spPr>
        <p:txBody>
          <a:bodyPr/>
          <a:lstStyle/>
          <a:p>
            <a:r>
              <a:rPr lang="en-US" sz="3600" b="1" dirty="0">
                <a:solidFill>
                  <a:srgbClr val="FF0000"/>
                </a:solidFill>
              </a:rPr>
              <a:t>Insight:</a:t>
            </a:r>
          </a:p>
          <a:p>
            <a:endParaRPr lang="en-US" sz="3600" dirty="0"/>
          </a:p>
          <a:p>
            <a:pPr marL="0" indent="0">
              <a:buNone/>
            </a:pPr>
            <a:r>
              <a:rPr lang="en-US" sz="2400" dirty="0"/>
              <a:t> </a:t>
            </a:r>
            <a:r>
              <a:rPr lang="en-US" sz="2400" dirty="0">
                <a:solidFill>
                  <a:srgbClr val="00FFFF"/>
                </a:solidFill>
                <a:latin typeface="Comic Sans MS" panose="030F0702030302020204" pitchFamily="66" charset="0"/>
              </a:rPr>
              <a:t>From Year 2000 to 2015 Europe has the highest mean life expectancy</a:t>
            </a:r>
          </a:p>
          <a:p>
            <a:pPr marL="0" indent="0">
              <a:buNone/>
            </a:pPr>
            <a:r>
              <a:rPr lang="en-US" sz="2400" dirty="0">
                <a:solidFill>
                  <a:srgbClr val="00FFFF"/>
                </a:solidFill>
                <a:latin typeface="Comic Sans MS" panose="030F0702030302020204" pitchFamily="66" charset="0"/>
              </a:rPr>
              <a:t> and Africa has the lowest life expectancy</a:t>
            </a:r>
            <a:endParaRPr lang="en-IN" sz="2400" dirty="0">
              <a:solidFill>
                <a:srgbClr val="00FFFF"/>
              </a:solidFill>
              <a:latin typeface="Comic Sans MS" panose="030F0702030302020204" pitchFamily="66" charset="0"/>
            </a:endParaRPr>
          </a:p>
        </p:txBody>
      </p:sp>
    </p:spTree>
    <p:extLst>
      <p:ext uri="{BB962C8B-B14F-4D97-AF65-F5344CB8AC3E}">
        <p14:creationId xmlns:p14="http://schemas.microsoft.com/office/powerpoint/2010/main" val="731474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35CFB-6ACC-2676-6A81-6A1B76AF84FB}"/>
              </a:ext>
            </a:extLst>
          </p:cNvPr>
          <p:cNvSpPr>
            <a:spLocks noGrp="1"/>
          </p:cNvSpPr>
          <p:nvPr>
            <p:ph type="title"/>
          </p:nvPr>
        </p:nvSpPr>
        <p:spPr>
          <a:xfrm>
            <a:off x="148856" y="174172"/>
            <a:ext cx="11673030" cy="707572"/>
          </a:xfrm>
        </p:spPr>
        <p:txBody>
          <a:bodyPr/>
          <a:lstStyle/>
          <a:p>
            <a:r>
              <a:rPr lang="en-US" b="1" dirty="0">
                <a:latin typeface="+mn-lt"/>
              </a:rPr>
              <a:t>Key Insights:</a:t>
            </a:r>
            <a:endParaRPr lang="en-IN" b="1" dirty="0">
              <a:latin typeface="+mn-lt"/>
            </a:endParaRPr>
          </a:p>
        </p:txBody>
      </p:sp>
      <p:graphicFrame>
        <p:nvGraphicFramePr>
          <p:cNvPr id="5" name="Content Placeholder 4">
            <a:extLst>
              <a:ext uri="{FF2B5EF4-FFF2-40B4-BE49-F238E27FC236}">
                <a16:creationId xmlns:a16="http://schemas.microsoft.com/office/drawing/2014/main" id="{4FB7D8C2-15F7-EF52-1562-B9DDB75D02EA}"/>
              </a:ext>
            </a:extLst>
          </p:cNvPr>
          <p:cNvGraphicFramePr>
            <a:graphicFrameLocks noGrp="1"/>
          </p:cNvGraphicFramePr>
          <p:nvPr>
            <p:ph idx="1"/>
            <p:extLst>
              <p:ext uri="{D42A27DB-BD31-4B8C-83A1-F6EECF244321}">
                <p14:modId xmlns:p14="http://schemas.microsoft.com/office/powerpoint/2010/main" val="1880209245"/>
              </p:ext>
            </p:extLst>
          </p:nvPr>
        </p:nvGraphicFramePr>
        <p:xfrm>
          <a:off x="-1" y="1041990"/>
          <a:ext cx="12089219" cy="5947850"/>
        </p:xfrm>
        <a:graphic>
          <a:graphicData uri="http://schemas.openxmlformats.org/drawingml/2006/table">
            <a:tbl>
              <a:tblPr>
                <a:tableStyleId>{616DA210-FB5B-4158-B5E0-FEB733F419BA}</a:tableStyleId>
              </a:tblPr>
              <a:tblGrid>
                <a:gridCol w="659220">
                  <a:extLst>
                    <a:ext uri="{9D8B030D-6E8A-4147-A177-3AD203B41FA5}">
                      <a16:colId xmlns:a16="http://schemas.microsoft.com/office/drawing/2014/main" val="3353518188"/>
                    </a:ext>
                  </a:extLst>
                </a:gridCol>
                <a:gridCol w="11429999">
                  <a:extLst>
                    <a:ext uri="{9D8B030D-6E8A-4147-A177-3AD203B41FA5}">
                      <a16:colId xmlns:a16="http://schemas.microsoft.com/office/drawing/2014/main" val="182673756"/>
                    </a:ext>
                  </a:extLst>
                </a:gridCol>
              </a:tblGrid>
              <a:tr h="645016">
                <a:tc>
                  <a:txBody>
                    <a:bodyPr/>
                    <a:lstStyle/>
                    <a:p>
                      <a:pPr algn="r"/>
                      <a:endParaRPr lang="en-IN" sz="2000" dirty="0"/>
                    </a:p>
                  </a:txBody>
                  <a:tcPr marL="13199" marR="13199" marT="6599" marB="6599" anchor="ctr"/>
                </a:tc>
                <a:tc>
                  <a:txBody>
                    <a:bodyPr/>
                    <a:lstStyle/>
                    <a:p>
                      <a:r>
                        <a:rPr lang="en-US" sz="2000" dirty="0"/>
                        <a:t>  </a:t>
                      </a:r>
                      <a:r>
                        <a:rPr lang="en-US" sz="2000" b="1" dirty="0">
                          <a:solidFill>
                            <a:srgbClr val="00FFFF"/>
                          </a:solidFill>
                        </a:rPr>
                        <a:t>Insight</a:t>
                      </a:r>
                      <a:endParaRPr lang="en-IN" sz="2000" b="1" dirty="0">
                        <a:solidFill>
                          <a:srgbClr val="00FFFF"/>
                        </a:solidFill>
                      </a:endParaRPr>
                    </a:p>
                  </a:txBody>
                  <a:tcPr marL="13199" marR="13199" marT="6599" marB="6599" anchor="ctr"/>
                </a:tc>
                <a:extLst>
                  <a:ext uri="{0D108BD9-81ED-4DB2-BD59-A6C34878D82A}">
                    <a16:rowId xmlns:a16="http://schemas.microsoft.com/office/drawing/2014/main" val="2340325535"/>
                  </a:ext>
                </a:extLst>
              </a:tr>
              <a:tr h="1315177">
                <a:tc>
                  <a:txBody>
                    <a:bodyPr/>
                    <a:lstStyle/>
                    <a:p>
                      <a:pPr algn="r"/>
                      <a:r>
                        <a:rPr lang="en-US" sz="2000" b="1" dirty="0">
                          <a:solidFill>
                            <a:srgbClr val="FF0000"/>
                          </a:solidFill>
                          <a:latin typeface="Comic Sans MS" panose="030F0702030302020204" pitchFamily="66" charset="0"/>
                        </a:rPr>
                        <a:t>1</a:t>
                      </a:r>
                      <a:r>
                        <a:rPr lang="en-IN" sz="2000" b="1" dirty="0">
                          <a:solidFill>
                            <a:srgbClr val="FF0000"/>
                          </a:solidFill>
                          <a:latin typeface="Comic Sans MS" panose="030F0702030302020204" pitchFamily="66" charset="0"/>
                        </a:rPr>
                        <a:t> </a:t>
                      </a:r>
                    </a:p>
                  </a:txBody>
                  <a:tcPr marL="13199" marR="13199" marT="6599" marB="6599" anchor="ctr"/>
                </a:tc>
                <a:tc>
                  <a:txBody>
                    <a:bodyPr/>
                    <a:lstStyle/>
                    <a:p>
                      <a:r>
                        <a:rPr lang="en-US" sz="2000" b="1" dirty="0">
                          <a:solidFill>
                            <a:srgbClr val="00FFFF"/>
                          </a:solidFill>
                          <a:latin typeface="Comic Sans MS" panose="030F0702030302020204" pitchFamily="66" charset="0"/>
                        </a:rPr>
                        <a:t>Japan</a:t>
                      </a:r>
                      <a:r>
                        <a:rPr lang="en-US" sz="2000" dirty="0">
                          <a:solidFill>
                            <a:srgbClr val="00FFFF"/>
                          </a:solidFill>
                          <a:latin typeface="Comic Sans MS" panose="030F0702030302020204" pitchFamily="66" charset="0"/>
                        </a:rPr>
                        <a:t> has the </a:t>
                      </a:r>
                      <a:r>
                        <a:rPr lang="en-US" sz="2000" b="1" dirty="0">
                          <a:solidFill>
                            <a:srgbClr val="00FFFF"/>
                          </a:solidFill>
                          <a:latin typeface="Comic Sans MS" panose="030F0702030302020204" pitchFamily="66" charset="0"/>
                        </a:rPr>
                        <a:t>highest average life expectancy</a:t>
                      </a:r>
                      <a:r>
                        <a:rPr lang="en-US" sz="2000" dirty="0">
                          <a:solidFill>
                            <a:srgbClr val="00FFFF"/>
                          </a:solidFill>
                          <a:latin typeface="Comic Sans MS" panose="030F0702030302020204" pitchFamily="66" charset="0"/>
                        </a:rPr>
                        <a:t> at </a:t>
                      </a:r>
                      <a:r>
                        <a:rPr lang="en-US" sz="2000" b="1" dirty="0">
                          <a:solidFill>
                            <a:srgbClr val="00FFFF"/>
                          </a:solidFill>
                          <a:latin typeface="Comic Sans MS" panose="030F0702030302020204" pitchFamily="66" charset="0"/>
                        </a:rPr>
                        <a:t>82.54 years</a:t>
                      </a:r>
                      <a:r>
                        <a:rPr lang="en-US" sz="2000" dirty="0">
                          <a:solidFill>
                            <a:srgbClr val="00FFFF"/>
                          </a:solidFill>
                          <a:latin typeface="Comic Sans MS" panose="030F0702030302020204" pitchFamily="66" charset="0"/>
                        </a:rPr>
                        <a:t>, followed by </a:t>
                      </a:r>
                      <a:r>
                        <a:rPr lang="en-US" sz="2000" b="1" dirty="0">
                          <a:solidFill>
                            <a:srgbClr val="00FFFF"/>
                          </a:solidFill>
                          <a:latin typeface="Comic Sans MS" panose="030F0702030302020204" pitchFamily="66" charset="0"/>
                        </a:rPr>
                        <a:t>Sweden</a:t>
                      </a:r>
                      <a:r>
                        <a:rPr lang="en-US" sz="2000" dirty="0">
                          <a:solidFill>
                            <a:srgbClr val="00FFFF"/>
                          </a:solidFill>
                          <a:latin typeface="Comic Sans MS" panose="030F0702030302020204" pitchFamily="66" charset="0"/>
                        </a:rPr>
                        <a:t> and </a:t>
                      </a:r>
                      <a:r>
                        <a:rPr lang="en-US" sz="2000" b="1" dirty="0">
                          <a:solidFill>
                            <a:srgbClr val="00FFFF"/>
                          </a:solidFill>
                          <a:latin typeface="Comic Sans MS" panose="030F0702030302020204" pitchFamily="66" charset="0"/>
                        </a:rPr>
                        <a:t>Iceland</a:t>
                      </a:r>
                      <a:r>
                        <a:rPr lang="en-US" sz="2000" dirty="0">
                          <a:solidFill>
                            <a:srgbClr val="00FFFF"/>
                          </a:solidFill>
                          <a:latin typeface="Comic Sans MS" panose="030F0702030302020204" pitchFamily="66" charset="0"/>
                        </a:rPr>
                        <a:t>.</a:t>
                      </a:r>
                    </a:p>
                  </a:txBody>
                  <a:tcPr marL="13199" marR="13199" marT="6599" marB="6599" anchor="ctr"/>
                </a:tc>
                <a:extLst>
                  <a:ext uri="{0D108BD9-81ED-4DB2-BD59-A6C34878D82A}">
                    <a16:rowId xmlns:a16="http://schemas.microsoft.com/office/drawing/2014/main" val="2611826675"/>
                  </a:ext>
                </a:extLst>
              </a:tr>
              <a:tr h="1315177">
                <a:tc>
                  <a:txBody>
                    <a:bodyPr/>
                    <a:lstStyle/>
                    <a:p>
                      <a:pPr algn="r"/>
                      <a:r>
                        <a:rPr lang="en-IN" sz="2000" b="1" dirty="0">
                          <a:solidFill>
                            <a:srgbClr val="FF0000"/>
                          </a:solidFill>
                          <a:latin typeface="Comic Sans MS" panose="030F0702030302020204" pitchFamily="66" charset="0"/>
                        </a:rPr>
                        <a:t>2</a:t>
                      </a:r>
                    </a:p>
                  </a:txBody>
                  <a:tcPr marL="13199" marR="13199" marT="6599" marB="6599" anchor="ctr"/>
                </a:tc>
                <a:tc>
                  <a:txBody>
                    <a:bodyPr/>
                    <a:lstStyle/>
                    <a:p>
                      <a:r>
                        <a:rPr lang="en-US" sz="2000" b="1" dirty="0">
                          <a:solidFill>
                            <a:srgbClr val="00FFFF"/>
                          </a:solidFill>
                          <a:latin typeface="Comic Sans MS" panose="030F0702030302020204" pitchFamily="66" charset="0"/>
                        </a:rPr>
                        <a:t>Sierra Leone</a:t>
                      </a:r>
                      <a:r>
                        <a:rPr lang="en-US" sz="2000" dirty="0">
                          <a:solidFill>
                            <a:srgbClr val="00FFFF"/>
                          </a:solidFill>
                          <a:latin typeface="Comic Sans MS" panose="030F0702030302020204" pitchFamily="66" charset="0"/>
                        </a:rPr>
                        <a:t> has the </a:t>
                      </a:r>
                      <a:r>
                        <a:rPr lang="en-US" sz="2000" b="1" dirty="0">
                          <a:solidFill>
                            <a:srgbClr val="00FFFF"/>
                          </a:solidFill>
                          <a:latin typeface="Comic Sans MS" panose="030F0702030302020204" pitchFamily="66" charset="0"/>
                        </a:rPr>
                        <a:t>lowest average life expectancy</a:t>
                      </a:r>
                      <a:r>
                        <a:rPr lang="en-US" sz="2000" dirty="0">
                          <a:solidFill>
                            <a:srgbClr val="00FFFF"/>
                          </a:solidFill>
                          <a:latin typeface="Comic Sans MS" panose="030F0702030302020204" pitchFamily="66" charset="0"/>
                        </a:rPr>
                        <a:t> at </a:t>
                      </a:r>
                      <a:r>
                        <a:rPr lang="en-US" sz="2000" b="1" dirty="0">
                          <a:solidFill>
                            <a:srgbClr val="00FFFF"/>
                          </a:solidFill>
                          <a:latin typeface="Comic Sans MS" panose="030F0702030302020204" pitchFamily="66" charset="0"/>
                        </a:rPr>
                        <a:t>46.11 years</a:t>
                      </a:r>
                      <a:r>
                        <a:rPr lang="en-US" sz="2000" dirty="0">
                          <a:solidFill>
                            <a:srgbClr val="00FFFF"/>
                          </a:solidFill>
                          <a:latin typeface="Comic Sans MS" panose="030F0702030302020204" pitchFamily="66" charset="0"/>
                        </a:rPr>
                        <a:t>, followed by </a:t>
                      </a:r>
                      <a:r>
                        <a:rPr lang="en-US" sz="2000" b="1" dirty="0">
                          <a:solidFill>
                            <a:srgbClr val="00FFFF"/>
                          </a:solidFill>
                          <a:latin typeface="Comic Sans MS" panose="030F0702030302020204" pitchFamily="66" charset="0"/>
                        </a:rPr>
                        <a:t>Central African Republic</a:t>
                      </a:r>
                      <a:r>
                        <a:rPr lang="en-US" sz="2000" dirty="0">
                          <a:solidFill>
                            <a:srgbClr val="00FFFF"/>
                          </a:solidFill>
                          <a:latin typeface="Comic Sans MS" panose="030F0702030302020204" pitchFamily="66" charset="0"/>
                        </a:rPr>
                        <a:t> and </a:t>
                      </a:r>
                      <a:r>
                        <a:rPr lang="en-US" sz="2000" b="1" dirty="0">
                          <a:solidFill>
                            <a:srgbClr val="00FFFF"/>
                          </a:solidFill>
                          <a:latin typeface="Comic Sans MS" panose="030F0702030302020204" pitchFamily="66" charset="0"/>
                        </a:rPr>
                        <a:t>Lesotho</a:t>
                      </a:r>
                      <a:r>
                        <a:rPr lang="en-US" sz="2000" dirty="0">
                          <a:solidFill>
                            <a:srgbClr val="00FFFF"/>
                          </a:solidFill>
                          <a:latin typeface="Comic Sans MS" panose="030F0702030302020204" pitchFamily="66" charset="0"/>
                        </a:rPr>
                        <a:t>.</a:t>
                      </a:r>
                    </a:p>
                  </a:txBody>
                  <a:tcPr marL="13199" marR="13199" marT="6599" marB="6599" anchor="ctr"/>
                </a:tc>
                <a:extLst>
                  <a:ext uri="{0D108BD9-81ED-4DB2-BD59-A6C34878D82A}">
                    <a16:rowId xmlns:a16="http://schemas.microsoft.com/office/drawing/2014/main" val="3409899904"/>
                  </a:ext>
                </a:extLst>
              </a:tr>
              <a:tr h="1357303">
                <a:tc>
                  <a:txBody>
                    <a:bodyPr/>
                    <a:lstStyle/>
                    <a:p>
                      <a:pPr algn="r"/>
                      <a:r>
                        <a:rPr lang="en-IN" sz="2000" b="1" dirty="0">
                          <a:solidFill>
                            <a:srgbClr val="FF0000"/>
                          </a:solidFill>
                          <a:latin typeface="Comic Sans MS" panose="030F0702030302020204" pitchFamily="66" charset="0"/>
                        </a:rPr>
                        <a:t>3</a:t>
                      </a:r>
                    </a:p>
                  </a:txBody>
                  <a:tcPr marL="13199" marR="13199" marT="6599" marB="6599" anchor="ctr"/>
                </a:tc>
                <a:tc>
                  <a:txBody>
                    <a:bodyPr/>
                    <a:lstStyle/>
                    <a:p>
                      <a:r>
                        <a:rPr lang="en-US" sz="2000" dirty="0">
                          <a:solidFill>
                            <a:srgbClr val="00FFFF"/>
                          </a:solidFill>
                          <a:latin typeface="Comic Sans MS" panose="030F0702030302020204" pitchFamily="66" charset="0"/>
                        </a:rPr>
                        <a:t>The </a:t>
                      </a:r>
                      <a:r>
                        <a:rPr lang="en-US" sz="2000" b="1" dirty="0">
                          <a:solidFill>
                            <a:srgbClr val="00FFFF"/>
                          </a:solidFill>
                          <a:latin typeface="Comic Sans MS" panose="030F0702030302020204" pitchFamily="66" charset="0"/>
                        </a:rPr>
                        <a:t>lowest life expectancy ever recorded</a:t>
                      </a:r>
                      <a:r>
                        <a:rPr lang="en-US" sz="2000" dirty="0">
                          <a:solidFill>
                            <a:srgbClr val="00FFFF"/>
                          </a:solidFill>
                          <a:latin typeface="Comic Sans MS" panose="030F0702030302020204" pitchFamily="66" charset="0"/>
                        </a:rPr>
                        <a:t> in the dataset is </a:t>
                      </a:r>
                      <a:r>
                        <a:rPr lang="en-US" sz="2000" b="1" dirty="0">
                          <a:solidFill>
                            <a:srgbClr val="00FFFF"/>
                          </a:solidFill>
                          <a:latin typeface="Comic Sans MS" panose="030F0702030302020204" pitchFamily="66" charset="0"/>
                        </a:rPr>
                        <a:t>36.3 years</a:t>
                      </a:r>
                      <a:r>
                        <a:rPr lang="en-US" sz="2000" dirty="0">
                          <a:solidFill>
                            <a:srgbClr val="00FFFF"/>
                          </a:solidFill>
                          <a:latin typeface="Comic Sans MS" panose="030F0702030302020204" pitchFamily="66" charset="0"/>
                        </a:rPr>
                        <a:t>, observed in </a:t>
                      </a:r>
                      <a:r>
                        <a:rPr lang="en-US" sz="2000" b="1" dirty="0">
                          <a:solidFill>
                            <a:srgbClr val="00FFFF"/>
                          </a:solidFill>
                          <a:latin typeface="Comic Sans MS" panose="030F0702030302020204" pitchFamily="66" charset="0"/>
                        </a:rPr>
                        <a:t>Haiti</a:t>
                      </a:r>
                      <a:r>
                        <a:rPr lang="en-US" sz="2000" dirty="0">
                          <a:solidFill>
                            <a:srgbClr val="00FFFF"/>
                          </a:solidFill>
                          <a:latin typeface="Comic Sans MS" panose="030F0702030302020204" pitchFamily="66" charset="0"/>
                        </a:rPr>
                        <a:t> in </a:t>
                      </a:r>
                      <a:r>
                        <a:rPr lang="en-US" sz="2000" b="1" dirty="0">
                          <a:solidFill>
                            <a:srgbClr val="00FFFF"/>
                          </a:solidFill>
                          <a:latin typeface="Comic Sans MS" panose="030F0702030302020204" pitchFamily="66" charset="0"/>
                        </a:rPr>
                        <a:t>2010</a:t>
                      </a:r>
                      <a:r>
                        <a:rPr lang="en-US" sz="2000" dirty="0">
                          <a:solidFill>
                            <a:srgbClr val="00FFFF"/>
                          </a:solidFill>
                          <a:latin typeface="Comic Sans MS" panose="030F0702030302020204" pitchFamily="66" charset="0"/>
                        </a:rPr>
                        <a:t>.</a:t>
                      </a:r>
                    </a:p>
                  </a:txBody>
                  <a:tcPr marL="13199" marR="13199" marT="6599" marB="6599" anchor="ctr"/>
                </a:tc>
                <a:extLst>
                  <a:ext uri="{0D108BD9-81ED-4DB2-BD59-A6C34878D82A}">
                    <a16:rowId xmlns:a16="http://schemas.microsoft.com/office/drawing/2014/main" val="313128287"/>
                  </a:ext>
                </a:extLst>
              </a:tr>
              <a:tr h="1315177">
                <a:tc>
                  <a:txBody>
                    <a:bodyPr/>
                    <a:lstStyle/>
                    <a:p>
                      <a:pPr algn="r"/>
                      <a:r>
                        <a:rPr lang="en-IN" sz="2000" b="1" dirty="0">
                          <a:solidFill>
                            <a:srgbClr val="FF0000"/>
                          </a:solidFill>
                          <a:latin typeface="Comic Sans MS" panose="030F0702030302020204" pitchFamily="66" charset="0"/>
                        </a:rPr>
                        <a:t>4</a:t>
                      </a:r>
                    </a:p>
                  </a:txBody>
                  <a:tcPr marL="13199" marR="13199" marT="6599" marB="6599" anchor="ctr"/>
                </a:tc>
                <a:tc>
                  <a:txBody>
                    <a:bodyPr/>
                    <a:lstStyle/>
                    <a:p>
                      <a:r>
                        <a:rPr lang="en-US" sz="2000" b="1" dirty="0">
                          <a:solidFill>
                            <a:srgbClr val="00FFFF"/>
                          </a:solidFill>
                          <a:latin typeface="Comic Sans MS" panose="030F0702030302020204" pitchFamily="66" charset="0"/>
                        </a:rPr>
                        <a:t>Haiti</a:t>
                      </a:r>
                      <a:r>
                        <a:rPr lang="en-US" sz="2000" dirty="0">
                          <a:solidFill>
                            <a:srgbClr val="00FFFF"/>
                          </a:solidFill>
                          <a:latin typeface="Comic Sans MS" panose="030F0702030302020204" pitchFamily="66" charset="0"/>
                        </a:rPr>
                        <a:t> experienced the </a:t>
                      </a:r>
                      <a:r>
                        <a:rPr lang="en-US" sz="2000" b="1" dirty="0">
                          <a:solidFill>
                            <a:srgbClr val="00FFFF"/>
                          </a:solidFill>
                          <a:latin typeface="Comic Sans MS" panose="030F0702030302020204" pitchFamily="66" charset="0"/>
                        </a:rPr>
                        <a:t>highest drop in life expectancy</a:t>
                      </a:r>
                      <a:r>
                        <a:rPr lang="en-US" sz="2000" dirty="0">
                          <a:solidFill>
                            <a:srgbClr val="00FFFF"/>
                          </a:solidFill>
                          <a:latin typeface="Comic Sans MS" panose="030F0702030302020204" pitchFamily="66" charset="0"/>
                        </a:rPr>
                        <a:t>, with a significant </a:t>
                      </a:r>
                      <a:r>
                        <a:rPr lang="en-US" sz="2000" b="1" dirty="0">
                          <a:solidFill>
                            <a:srgbClr val="00FFFF"/>
                          </a:solidFill>
                          <a:latin typeface="Comic Sans MS" panose="030F0702030302020204" pitchFamily="66" charset="0"/>
                        </a:rPr>
                        <a:t>decline of 28.7%</a:t>
                      </a:r>
                      <a:r>
                        <a:rPr lang="en-US" sz="2000" dirty="0">
                          <a:solidFill>
                            <a:srgbClr val="00FFFF"/>
                          </a:solidFill>
                          <a:latin typeface="Comic Sans MS" panose="030F0702030302020204" pitchFamily="66" charset="0"/>
                        </a:rPr>
                        <a:t> over the years.</a:t>
                      </a:r>
                    </a:p>
                  </a:txBody>
                  <a:tcPr marL="13199" marR="13199" marT="6599" marB="6599" anchor="ctr"/>
                </a:tc>
                <a:extLst>
                  <a:ext uri="{0D108BD9-81ED-4DB2-BD59-A6C34878D82A}">
                    <a16:rowId xmlns:a16="http://schemas.microsoft.com/office/drawing/2014/main" val="3956291614"/>
                  </a:ext>
                </a:extLst>
              </a:tr>
            </a:tbl>
          </a:graphicData>
        </a:graphic>
      </p:graphicFrame>
    </p:spTree>
    <p:extLst>
      <p:ext uri="{BB962C8B-B14F-4D97-AF65-F5344CB8AC3E}">
        <p14:creationId xmlns:p14="http://schemas.microsoft.com/office/powerpoint/2010/main" val="3986093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1ED23-0719-9664-36CE-213A05D41246}"/>
              </a:ext>
            </a:extLst>
          </p:cNvPr>
          <p:cNvSpPr>
            <a:spLocks noGrp="1"/>
          </p:cNvSpPr>
          <p:nvPr>
            <p:ph type="title"/>
          </p:nvPr>
        </p:nvSpPr>
        <p:spPr>
          <a:xfrm>
            <a:off x="130629" y="97972"/>
            <a:ext cx="11223171" cy="936172"/>
          </a:xfrm>
        </p:spPr>
        <p:txBody>
          <a:bodyPr/>
          <a:lstStyle/>
          <a:p>
            <a:r>
              <a:rPr lang="en-US" b="1" dirty="0">
                <a:latin typeface="+mn-lt"/>
              </a:rPr>
              <a:t>3.Adult Mortality:</a:t>
            </a:r>
            <a:endParaRPr lang="en-IN" b="1" dirty="0">
              <a:latin typeface="+mn-lt"/>
            </a:endParaRPr>
          </a:p>
        </p:txBody>
      </p:sp>
      <p:pic>
        <p:nvPicPr>
          <p:cNvPr id="6" name="Content Placeholder 5">
            <a:extLst>
              <a:ext uri="{FF2B5EF4-FFF2-40B4-BE49-F238E27FC236}">
                <a16:creationId xmlns:a16="http://schemas.microsoft.com/office/drawing/2014/main" id="{528B06A1-8FCE-848B-0EE6-9B08AFE8F198}"/>
              </a:ext>
            </a:extLst>
          </p:cNvPr>
          <p:cNvPicPr>
            <a:picLocks noGrp="1" noChangeAspect="1"/>
          </p:cNvPicPr>
          <p:nvPr>
            <p:ph sz="half" idx="1"/>
          </p:nvPr>
        </p:nvPicPr>
        <p:blipFill>
          <a:blip r:embed="rId2"/>
          <a:stretch>
            <a:fillRect/>
          </a:stretch>
        </p:blipFill>
        <p:spPr>
          <a:xfrm>
            <a:off x="130629" y="1385380"/>
            <a:ext cx="6281057" cy="5233134"/>
          </a:xfrm>
        </p:spPr>
      </p:pic>
      <p:sp>
        <p:nvSpPr>
          <p:cNvPr id="4" name="Content Placeholder 3">
            <a:extLst>
              <a:ext uri="{FF2B5EF4-FFF2-40B4-BE49-F238E27FC236}">
                <a16:creationId xmlns:a16="http://schemas.microsoft.com/office/drawing/2014/main" id="{549614B0-6568-79BC-3DAA-41ADFED185F3}"/>
              </a:ext>
            </a:extLst>
          </p:cNvPr>
          <p:cNvSpPr>
            <a:spLocks noGrp="1"/>
          </p:cNvSpPr>
          <p:nvPr>
            <p:ph sz="half" idx="2"/>
          </p:nvPr>
        </p:nvSpPr>
        <p:spPr>
          <a:xfrm>
            <a:off x="6553199" y="272143"/>
            <a:ext cx="5508171" cy="6487885"/>
          </a:xfrm>
        </p:spPr>
        <p:txBody>
          <a:bodyPr>
            <a:normAutofit fontScale="70000" lnSpcReduction="20000"/>
          </a:bodyPr>
          <a:lstStyle/>
          <a:p>
            <a:r>
              <a:rPr lang="en-US" sz="4000" b="1" dirty="0">
                <a:solidFill>
                  <a:srgbClr val="FF0000"/>
                </a:solidFill>
              </a:rPr>
              <a:t>Insight:</a:t>
            </a:r>
          </a:p>
          <a:p>
            <a:endParaRPr lang="en-US" sz="3900" b="1" dirty="0">
              <a:solidFill>
                <a:srgbClr val="FF0000"/>
              </a:solidFill>
            </a:endParaRPr>
          </a:p>
          <a:p>
            <a:r>
              <a:rPr lang="en-US" sz="2600" dirty="0">
                <a:solidFill>
                  <a:srgbClr val="FFFF00"/>
                </a:solidFill>
                <a:latin typeface="Comic Sans MS" panose="030F0702030302020204" pitchFamily="66" charset="0"/>
              </a:rPr>
              <a:t>Adult Mortality refers to the probability of dying between the ages of 15 and 60 years, typically expressed per 1,000 adults in the population</a:t>
            </a:r>
            <a:r>
              <a:rPr lang="en-US" sz="2600" dirty="0">
                <a:solidFill>
                  <a:srgbClr val="00FFFF"/>
                </a:solidFill>
                <a:latin typeface="Comic Sans MS" panose="030F0702030302020204" pitchFamily="66" charset="0"/>
              </a:rPr>
              <a:t>.</a:t>
            </a:r>
          </a:p>
          <a:p>
            <a:endParaRPr lang="en-US" sz="2600" dirty="0">
              <a:solidFill>
                <a:srgbClr val="00FFFF"/>
              </a:solidFill>
              <a:latin typeface="Comic Sans MS" panose="030F0702030302020204" pitchFamily="66" charset="0"/>
            </a:endParaRPr>
          </a:p>
          <a:p>
            <a:r>
              <a:rPr lang="en-US" sz="2600" dirty="0">
                <a:solidFill>
                  <a:srgbClr val="FFFF00"/>
                </a:solidFill>
                <a:latin typeface="Comic Sans MS" panose="030F0702030302020204" pitchFamily="66" charset="0"/>
              </a:rPr>
              <a:t>Adult Mortality Rate=( No of Death between age 15 to 60) / (Total Population between age 15 to 60) * 1000</a:t>
            </a:r>
          </a:p>
          <a:p>
            <a:endParaRPr lang="en-US" dirty="0">
              <a:solidFill>
                <a:srgbClr val="00FFFF"/>
              </a:solidFill>
            </a:endParaRPr>
          </a:p>
          <a:p>
            <a:r>
              <a:rPr lang="en-US" sz="2600" dirty="0">
                <a:solidFill>
                  <a:srgbClr val="00FFFF"/>
                </a:solidFill>
                <a:latin typeface="Comic Sans MS" panose="030F0702030302020204" pitchFamily="66" charset="0"/>
              </a:rPr>
              <a:t>1.There is </a:t>
            </a:r>
            <a:r>
              <a:rPr lang="en-US" sz="2600" dirty="0">
                <a:solidFill>
                  <a:srgbClr val="FF0000"/>
                </a:solidFill>
                <a:latin typeface="Comic Sans MS" panose="030F0702030302020204" pitchFamily="66" charset="0"/>
              </a:rPr>
              <a:t>a negative relationship between adult mortality and life expectancy</a:t>
            </a:r>
            <a:r>
              <a:rPr lang="en-US" sz="2600" dirty="0">
                <a:solidFill>
                  <a:srgbClr val="00FFFF"/>
                </a:solidFill>
                <a:latin typeface="Comic Sans MS" panose="030F0702030302020204" pitchFamily="66" charset="0"/>
              </a:rPr>
              <a:t> — as adult mortality increases, life expectancy decreases.</a:t>
            </a:r>
          </a:p>
          <a:p>
            <a:endParaRPr lang="en-US" sz="2600" dirty="0">
              <a:solidFill>
                <a:srgbClr val="00FFFF"/>
              </a:solidFill>
              <a:latin typeface="Comic Sans MS" panose="030F0702030302020204" pitchFamily="66" charset="0"/>
            </a:endParaRPr>
          </a:p>
          <a:p>
            <a:r>
              <a:rPr lang="en-US" sz="2600" dirty="0">
                <a:solidFill>
                  <a:srgbClr val="00FFFF"/>
                </a:solidFill>
                <a:latin typeface="Comic Sans MS" panose="030F0702030302020204" pitchFamily="66" charset="0"/>
              </a:rPr>
              <a:t>2.The </a:t>
            </a:r>
            <a:r>
              <a:rPr lang="en-US" sz="2600" dirty="0">
                <a:solidFill>
                  <a:srgbClr val="FF0000"/>
                </a:solidFill>
                <a:latin typeface="Comic Sans MS" panose="030F0702030302020204" pitchFamily="66" charset="0"/>
              </a:rPr>
              <a:t>African continent </a:t>
            </a:r>
            <a:r>
              <a:rPr lang="en-US" sz="2600" dirty="0">
                <a:solidFill>
                  <a:srgbClr val="00FFFF"/>
                </a:solidFill>
                <a:latin typeface="Comic Sans MS" panose="030F0702030302020204" pitchFamily="66" charset="0"/>
              </a:rPr>
              <a:t>has the </a:t>
            </a:r>
            <a:r>
              <a:rPr lang="en-US" sz="2600" dirty="0">
                <a:solidFill>
                  <a:srgbClr val="FF0000"/>
                </a:solidFill>
                <a:latin typeface="Comic Sans MS" panose="030F0702030302020204" pitchFamily="66" charset="0"/>
              </a:rPr>
              <a:t>highest adult mortality rates</a:t>
            </a:r>
            <a:r>
              <a:rPr lang="en-US" sz="2600" dirty="0">
                <a:solidFill>
                  <a:srgbClr val="00FFFF"/>
                </a:solidFill>
                <a:latin typeface="Comic Sans MS" panose="030F0702030302020204" pitchFamily="66" charset="0"/>
              </a:rPr>
              <a:t>, which is why many countries in Africa tend to have lower life expectancy.</a:t>
            </a:r>
          </a:p>
          <a:p>
            <a:endParaRPr lang="en-US" sz="2600" dirty="0">
              <a:solidFill>
                <a:srgbClr val="00FFFF"/>
              </a:solidFill>
              <a:latin typeface="Comic Sans MS" panose="030F0702030302020204" pitchFamily="66" charset="0"/>
            </a:endParaRPr>
          </a:p>
          <a:p>
            <a:r>
              <a:rPr lang="en-US" sz="2600" dirty="0">
                <a:solidFill>
                  <a:srgbClr val="00FFFF"/>
                </a:solidFill>
                <a:latin typeface="Comic Sans MS" panose="030F0702030302020204" pitchFamily="66" charset="0"/>
              </a:rPr>
              <a:t>3.In contrast</a:t>
            </a:r>
            <a:r>
              <a:rPr lang="en-US" sz="2600" dirty="0">
                <a:solidFill>
                  <a:srgbClr val="FF0000"/>
                </a:solidFill>
                <a:latin typeface="Comic Sans MS" panose="030F0702030302020204" pitchFamily="66" charset="0"/>
              </a:rPr>
              <a:t>, countries from other continents </a:t>
            </a:r>
            <a:r>
              <a:rPr lang="en-US" sz="2600" dirty="0">
                <a:solidFill>
                  <a:srgbClr val="00FFFF"/>
                </a:solidFill>
                <a:latin typeface="Comic Sans MS" panose="030F0702030302020204" pitchFamily="66" charset="0"/>
              </a:rPr>
              <a:t>generally have lower adult mortality and therefore enjoy a higher life expectancy</a:t>
            </a:r>
            <a:r>
              <a:rPr lang="en-US" dirty="0">
                <a:solidFill>
                  <a:srgbClr val="00FFFF"/>
                </a:solidFill>
                <a:latin typeface="Comic Sans MS" panose="030F0702030302020204" pitchFamily="66" charset="0"/>
              </a:rPr>
              <a:t>.</a:t>
            </a:r>
          </a:p>
          <a:p>
            <a:endParaRPr lang="en-IN" dirty="0"/>
          </a:p>
        </p:txBody>
      </p:sp>
    </p:spTree>
    <p:extLst>
      <p:ext uri="{BB962C8B-B14F-4D97-AF65-F5344CB8AC3E}">
        <p14:creationId xmlns:p14="http://schemas.microsoft.com/office/powerpoint/2010/main" val="265061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F0D4-DB99-3078-9C39-6C99BD1070F7}"/>
              </a:ext>
            </a:extLst>
          </p:cNvPr>
          <p:cNvSpPr>
            <a:spLocks noGrp="1"/>
          </p:cNvSpPr>
          <p:nvPr>
            <p:ph type="title"/>
          </p:nvPr>
        </p:nvSpPr>
        <p:spPr>
          <a:xfrm>
            <a:off x="163286" y="195944"/>
            <a:ext cx="11190514" cy="664028"/>
          </a:xfrm>
        </p:spPr>
        <p:txBody>
          <a:bodyPr>
            <a:normAutofit fontScale="90000"/>
          </a:bodyPr>
          <a:lstStyle/>
          <a:p>
            <a:r>
              <a:rPr lang="en-US" b="1" dirty="0">
                <a:latin typeface="+mn-lt"/>
              </a:rPr>
              <a:t>Key Insights:</a:t>
            </a:r>
            <a:endParaRPr lang="en-IN" b="1" dirty="0">
              <a:latin typeface="+mn-lt"/>
            </a:endParaRPr>
          </a:p>
        </p:txBody>
      </p:sp>
      <p:graphicFrame>
        <p:nvGraphicFramePr>
          <p:cNvPr id="4" name="Content Placeholder 3">
            <a:extLst>
              <a:ext uri="{FF2B5EF4-FFF2-40B4-BE49-F238E27FC236}">
                <a16:creationId xmlns:a16="http://schemas.microsoft.com/office/drawing/2014/main" id="{2C16BED3-FEBB-000E-EEB7-5249A80DDE99}"/>
              </a:ext>
            </a:extLst>
          </p:cNvPr>
          <p:cNvGraphicFramePr>
            <a:graphicFrameLocks noGrp="1"/>
          </p:cNvGraphicFramePr>
          <p:nvPr>
            <p:ph idx="1"/>
            <p:extLst>
              <p:ext uri="{D42A27DB-BD31-4B8C-83A1-F6EECF244321}">
                <p14:modId xmlns:p14="http://schemas.microsoft.com/office/powerpoint/2010/main" val="154603307"/>
              </p:ext>
            </p:extLst>
          </p:nvPr>
        </p:nvGraphicFramePr>
        <p:xfrm>
          <a:off x="202019" y="859972"/>
          <a:ext cx="11826695" cy="5802084"/>
        </p:xfrm>
        <a:graphic>
          <a:graphicData uri="http://schemas.openxmlformats.org/drawingml/2006/table">
            <a:tbl>
              <a:tblPr>
                <a:tableStyleId>{616DA210-FB5B-4158-B5E0-FEB733F419BA}</a:tableStyleId>
              </a:tblPr>
              <a:tblGrid>
                <a:gridCol w="549436">
                  <a:extLst>
                    <a:ext uri="{9D8B030D-6E8A-4147-A177-3AD203B41FA5}">
                      <a16:colId xmlns:a16="http://schemas.microsoft.com/office/drawing/2014/main" val="23776068"/>
                    </a:ext>
                  </a:extLst>
                </a:gridCol>
                <a:gridCol w="11277259">
                  <a:extLst>
                    <a:ext uri="{9D8B030D-6E8A-4147-A177-3AD203B41FA5}">
                      <a16:colId xmlns:a16="http://schemas.microsoft.com/office/drawing/2014/main" val="2612929834"/>
                    </a:ext>
                  </a:extLst>
                </a:gridCol>
              </a:tblGrid>
              <a:tr h="967014">
                <a:tc>
                  <a:txBody>
                    <a:bodyPr/>
                    <a:lstStyle/>
                    <a:p>
                      <a:pPr algn="r"/>
                      <a:r>
                        <a:rPr lang="en-IN" sz="1700" b="1" dirty="0">
                          <a:solidFill>
                            <a:srgbClr val="FF0000"/>
                          </a:solidFill>
                          <a:latin typeface="Comic Sans MS" panose="030F0702030302020204" pitchFamily="66" charset="0"/>
                        </a:rPr>
                        <a:t>1</a:t>
                      </a:r>
                    </a:p>
                  </a:txBody>
                  <a:tcPr marL="86593" marR="86593" marT="43297" marB="43297" anchor="ctr"/>
                </a:tc>
                <a:tc>
                  <a:txBody>
                    <a:bodyPr/>
                    <a:lstStyle/>
                    <a:p>
                      <a:r>
                        <a:rPr lang="en-US" sz="1700" dirty="0">
                          <a:solidFill>
                            <a:srgbClr val="00FFFF"/>
                          </a:solidFill>
                          <a:latin typeface="Comic Sans MS" panose="030F0702030302020204" pitchFamily="66" charset="0"/>
                        </a:rPr>
                        <a:t>Zimbabwe recorded the highest adult mortality rate of </a:t>
                      </a:r>
                      <a:r>
                        <a:rPr lang="en-US" sz="1700" b="1" dirty="0">
                          <a:solidFill>
                            <a:srgbClr val="00FFFF"/>
                          </a:solidFill>
                          <a:latin typeface="Comic Sans MS" panose="030F0702030302020204" pitchFamily="66" charset="0"/>
                        </a:rPr>
                        <a:t>723</a:t>
                      </a:r>
                      <a:r>
                        <a:rPr lang="en-US" sz="1700" dirty="0">
                          <a:solidFill>
                            <a:srgbClr val="00FFFF"/>
                          </a:solidFill>
                          <a:latin typeface="Comic Sans MS" panose="030F0702030302020204" pitchFamily="66" charset="0"/>
                        </a:rPr>
                        <a:t> in the year </a:t>
                      </a:r>
                      <a:r>
                        <a:rPr lang="en-US" sz="1700" b="1" dirty="0">
                          <a:solidFill>
                            <a:srgbClr val="00FFFF"/>
                          </a:solidFill>
                          <a:latin typeface="Comic Sans MS" panose="030F0702030302020204" pitchFamily="66" charset="0"/>
                        </a:rPr>
                        <a:t>2004</a:t>
                      </a:r>
                      <a:r>
                        <a:rPr lang="en-US" sz="1700" dirty="0">
                          <a:solidFill>
                            <a:srgbClr val="00FFFF"/>
                          </a:solidFill>
                          <a:latin typeface="Comic Sans MS" panose="030F0702030302020204" pitchFamily="66" charset="0"/>
                        </a:rPr>
                        <a:t> — the highest ever in the dataset.</a:t>
                      </a:r>
                    </a:p>
                  </a:txBody>
                  <a:tcPr marL="86593" marR="86593" marT="43297" marB="43297" anchor="ctr"/>
                </a:tc>
                <a:extLst>
                  <a:ext uri="{0D108BD9-81ED-4DB2-BD59-A6C34878D82A}">
                    <a16:rowId xmlns:a16="http://schemas.microsoft.com/office/drawing/2014/main" val="521628762"/>
                  </a:ext>
                </a:extLst>
              </a:tr>
              <a:tr h="967014">
                <a:tc>
                  <a:txBody>
                    <a:bodyPr/>
                    <a:lstStyle/>
                    <a:p>
                      <a:pPr algn="r"/>
                      <a:r>
                        <a:rPr lang="en-IN" sz="1700" b="1" dirty="0">
                          <a:solidFill>
                            <a:srgbClr val="FF0000"/>
                          </a:solidFill>
                          <a:latin typeface="Comic Sans MS" panose="030F0702030302020204" pitchFamily="66" charset="0"/>
                        </a:rPr>
                        <a:t>2</a:t>
                      </a:r>
                    </a:p>
                  </a:txBody>
                  <a:tcPr marL="86593" marR="86593" marT="43297" marB="43297" anchor="ctr"/>
                </a:tc>
                <a:tc>
                  <a:txBody>
                    <a:bodyPr/>
                    <a:lstStyle/>
                    <a:p>
                      <a:r>
                        <a:rPr lang="en-US" sz="1700">
                          <a:solidFill>
                            <a:srgbClr val="00FFFF"/>
                          </a:solidFill>
                          <a:latin typeface="Comic Sans MS" panose="030F0702030302020204" pitchFamily="66" charset="0"/>
                        </a:rPr>
                        <a:t>Lesotho has the </a:t>
                      </a:r>
                      <a:r>
                        <a:rPr lang="en-US" sz="1700" b="1">
                          <a:solidFill>
                            <a:srgbClr val="00FFFF"/>
                          </a:solidFill>
                          <a:latin typeface="Comic Sans MS" panose="030F0702030302020204" pitchFamily="66" charset="0"/>
                        </a:rPr>
                        <a:t>highest average adult mortality rate</a:t>
                      </a:r>
                      <a:r>
                        <a:rPr lang="en-US" sz="1700">
                          <a:solidFill>
                            <a:srgbClr val="00FFFF"/>
                          </a:solidFill>
                          <a:latin typeface="Comic Sans MS" panose="030F0702030302020204" pitchFamily="66" charset="0"/>
                        </a:rPr>
                        <a:t> at </a:t>
                      </a:r>
                      <a:r>
                        <a:rPr lang="en-US" sz="1700" b="1">
                          <a:solidFill>
                            <a:srgbClr val="00FFFF"/>
                          </a:solidFill>
                          <a:latin typeface="Comic Sans MS" panose="030F0702030302020204" pitchFamily="66" charset="0"/>
                        </a:rPr>
                        <a:t>550</a:t>
                      </a:r>
                      <a:r>
                        <a:rPr lang="en-US" sz="1700">
                          <a:solidFill>
                            <a:srgbClr val="00FFFF"/>
                          </a:solidFill>
                          <a:latin typeface="Comic Sans MS" panose="030F0702030302020204" pitchFamily="66" charset="0"/>
                        </a:rPr>
                        <a:t>, followed by </a:t>
                      </a:r>
                      <a:r>
                        <a:rPr lang="en-US" sz="1700" b="1">
                          <a:solidFill>
                            <a:srgbClr val="00FFFF"/>
                          </a:solidFill>
                          <a:latin typeface="Comic Sans MS" panose="030F0702030302020204" pitchFamily="66" charset="0"/>
                        </a:rPr>
                        <a:t>Zimbabwe (462)</a:t>
                      </a:r>
                      <a:r>
                        <a:rPr lang="en-US" sz="1700">
                          <a:solidFill>
                            <a:srgbClr val="00FFFF"/>
                          </a:solidFill>
                          <a:latin typeface="Comic Sans MS" panose="030F0702030302020204" pitchFamily="66" charset="0"/>
                        </a:rPr>
                        <a:t> and </a:t>
                      </a:r>
                      <a:r>
                        <a:rPr lang="en-US" sz="1700" b="1">
                          <a:solidFill>
                            <a:srgbClr val="00FFFF"/>
                          </a:solidFill>
                          <a:latin typeface="Comic Sans MS" panose="030F0702030302020204" pitchFamily="66" charset="0"/>
                        </a:rPr>
                        <a:t>Botswana (462.37)</a:t>
                      </a:r>
                      <a:r>
                        <a:rPr lang="en-US" sz="1700">
                          <a:solidFill>
                            <a:srgbClr val="00FFFF"/>
                          </a:solidFill>
                          <a:latin typeface="Comic Sans MS" panose="030F0702030302020204" pitchFamily="66" charset="0"/>
                        </a:rPr>
                        <a:t> over the years.</a:t>
                      </a:r>
                    </a:p>
                  </a:txBody>
                  <a:tcPr marL="86593" marR="86593" marT="43297" marB="43297" anchor="ctr"/>
                </a:tc>
                <a:extLst>
                  <a:ext uri="{0D108BD9-81ED-4DB2-BD59-A6C34878D82A}">
                    <a16:rowId xmlns:a16="http://schemas.microsoft.com/office/drawing/2014/main" val="3212050812"/>
                  </a:ext>
                </a:extLst>
              </a:tr>
              <a:tr h="967014">
                <a:tc>
                  <a:txBody>
                    <a:bodyPr/>
                    <a:lstStyle/>
                    <a:p>
                      <a:pPr algn="r"/>
                      <a:r>
                        <a:rPr lang="en-IN" sz="1700" b="1">
                          <a:solidFill>
                            <a:srgbClr val="FF0000"/>
                          </a:solidFill>
                          <a:latin typeface="Comic Sans MS" panose="030F0702030302020204" pitchFamily="66" charset="0"/>
                        </a:rPr>
                        <a:t>3</a:t>
                      </a:r>
                    </a:p>
                  </a:txBody>
                  <a:tcPr marL="86593" marR="86593" marT="43297" marB="43297" anchor="ctr"/>
                </a:tc>
                <a:tc>
                  <a:txBody>
                    <a:bodyPr/>
                    <a:lstStyle/>
                    <a:p>
                      <a:r>
                        <a:rPr lang="en-US" sz="1700" dirty="0">
                          <a:solidFill>
                            <a:srgbClr val="00FFFF"/>
                          </a:solidFill>
                          <a:latin typeface="Comic Sans MS" panose="030F0702030302020204" pitchFamily="66" charset="0"/>
                        </a:rPr>
                        <a:t>By continent, </a:t>
                      </a:r>
                      <a:r>
                        <a:rPr lang="en-US" sz="1700" b="1" dirty="0">
                          <a:solidFill>
                            <a:srgbClr val="00FFFF"/>
                          </a:solidFill>
                          <a:latin typeface="Comic Sans MS" panose="030F0702030302020204" pitchFamily="66" charset="0"/>
                        </a:rPr>
                        <a:t>Africa</a:t>
                      </a:r>
                      <a:r>
                        <a:rPr lang="en-US" sz="1700" dirty="0">
                          <a:solidFill>
                            <a:srgbClr val="00FFFF"/>
                          </a:solidFill>
                          <a:latin typeface="Comic Sans MS" panose="030F0702030302020204" pitchFamily="66" charset="0"/>
                        </a:rPr>
                        <a:t> has the </a:t>
                      </a:r>
                      <a:r>
                        <a:rPr lang="en-US" sz="1700" b="1" dirty="0">
                          <a:solidFill>
                            <a:srgbClr val="00FFFF"/>
                          </a:solidFill>
                          <a:latin typeface="Comic Sans MS" panose="030F0702030302020204" pitchFamily="66" charset="0"/>
                        </a:rPr>
                        <a:t>highest average adult mortality rate</a:t>
                      </a:r>
                      <a:r>
                        <a:rPr lang="en-US" sz="1700" dirty="0">
                          <a:solidFill>
                            <a:srgbClr val="00FFFF"/>
                          </a:solidFill>
                          <a:latin typeface="Comic Sans MS" panose="030F0702030302020204" pitchFamily="66" charset="0"/>
                        </a:rPr>
                        <a:t> at </a:t>
                      </a:r>
                      <a:r>
                        <a:rPr lang="en-US" sz="1700" b="1" dirty="0">
                          <a:solidFill>
                            <a:srgbClr val="00FFFF"/>
                          </a:solidFill>
                          <a:latin typeface="Comic Sans MS" panose="030F0702030302020204" pitchFamily="66" charset="0"/>
                        </a:rPr>
                        <a:t>266</a:t>
                      </a:r>
                      <a:r>
                        <a:rPr lang="en-US" sz="1700" dirty="0">
                          <a:solidFill>
                            <a:srgbClr val="00FFFF"/>
                          </a:solidFill>
                          <a:latin typeface="Comic Sans MS" panose="030F0702030302020204" pitchFamily="66" charset="0"/>
                        </a:rPr>
                        <a:t>, while </a:t>
                      </a:r>
                      <a:r>
                        <a:rPr lang="en-US" sz="1700" b="1" dirty="0">
                          <a:solidFill>
                            <a:srgbClr val="00FFFF"/>
                          </a:solidFill>
                          <a:latin typeface="Comic Sans MS" panose="030F0702030302020204" pitchFamily="66" charset="0"/>
                        </a:rPr>
                        <a:t>Europe</a:t>
                      </a:r>
                      <a:r>
                        <a:rPr lang="en-US" sz="1700" dirty="0">
                          <a:solidFill>
                            <a:srgbClr val="00FFFF"/>
                          </a:solidFill>
                          <a:latin typeface="Comic Sans MS" panose="030F0702030302020204" pitchFamily="66" charset="0"/>
                        </a:rPr>
                        <a:t> has the </a:t>
                      </a:r>
                      <a:r>
                        <a:rPr lang="en-US" sz="1700" b="1" dirty="0">
                          <a:solidFill>
                            <a:srgbClr val="00FFFF"/>
                          </a:solidFill>
                          <a:latin typeface="Comic Sans MS" panose="030F0702030302020204" pitchFamily="66" charset="0"/>
                        </a:rPr>
                        <a:t>lowest</a:t>
                      </a:r>
                      <a:r>
                        <a:rPr lang="en-US" sz="1700" dirty="0">
                          <a:solidFill>
                            <a:srgbClr val="00FFFF"/>
                          </a:solidFill>
                          <a:latin typeface="Comic Sans MS" panose="030F0702030302020204" pitchFamily="66" charset="0"/>
                        </a:rPr>
                        <a:t> at </a:t>
                      </a:r>
                      <a:r>
                        <a:rPr lang="en-US" sz="1700" b="1" dirty="0">
                          <a:solidFill>
                            <a:srgbClr val="00FFFF"/>
                          </a:solidFill>
                          <a:latin typeface="Comic Sans MS" panose="030F0702030302020204" pitchFamily="66" charset="0"/>
                        </a:rPr>
                        <a:t>98</a:t>
                      </a:r>
                      <a:r>
                        <a:rPr lang="en-US" sz="1700" dirty="0">
                          <a:solidFill>
                            <a:srgbClr val="00FFFF"/>
                          </a:solidFill>
                          <a:latin typeface="Comic Sans MS" panose="030F0702030302020204" pitchFamily="66" charset="0"/>
                        </a:rPr>
                        <a:t>.</a:t>
                      </a:r>
                    </a:p>
                  </a:txBody>
                  <a:tcPr marL="86593" marR="86593" marT="43297" marB="43297" anchor="ctr"/>
                </a:tc>
                <a:extLst>
                  <a:ext uri="{0D108BD9-81ED-4DB2-BD59-A6C34878D82A}">
                    <a16:rowId xmlns:a16="http://schemas.microsoft.com/office/drawing/2014/main" val="443761713"/>
                  </a:ext>
                </a:extLst>
              </a:tr>
              <a:tr h="967014">
                <a:tc>
                  <a:txBody>
                    <a:bodyPr/>
                    <a:lstStyle/>
                    <a:p>
                      <a:pPr algn="r"/>
                      <a:r>
                        <a:rPr lang="en-IN" sz="1700" b="1">
                          <a:solidFill>
                            <a:srgbClr val="FF0000"/>
                          </a:solidFill>
                          <a:latin typeface="Comic Sans MS" panose="030F0702030302020204" pitchFamily="66" charset="0"/>
                        </a:rPr>
                        <a:t>4</a:t>
                      </a:r>
                    </a:p>
                  </a:txBody>
                  <a:tcPr marL="86593" marR="86593" marT="43297" marB="43297" anchor="ctr"/>
                </a:tc>
                <a:tc>
                  <a:txBody>
                    <a:bodyPr/>
                    <a:lstStyle/>
                    <a:p>
                      <a:r>
                        <a:rPr lang="en-US" sz="1700">
                          <a:solidFill>
                            <a:srgbClr val="00FFFF"/>
                          </a:solidFill>
                          <a:latin typeface="Comic Sans MS" panose="030F0702030302020204" pitchFamily="66" charset="0"/>
                        </a:rPr>
                        <a:t>In </a:t>
                      </a:r>
                      <a:r>
                        <a:rPr lang="en-US" sz="1700" b="1">
                          <a:solidFill>
                            <a:srgbClr val="00FFFF"/>
                          </a:solidFill>
                          <a:latin typeface="Comic Sans MS" panose="030F0702030302020204" pitchFamily="66" charset="0"/>
                        </a:rPr>
                        <a:t>2015</a:t>
                      </a:r>
                      <a:r>
                        <a:rPr lang="en-US" sz="1700">
                          <a:solidFill>
                            <a:srgbClr val="00FFFF"/>
                          </a:solidFill>
                          <a:latin typeface="Comic Sans MS" panose="030F0702030302020204" pitchFamily="66" charset="0"/>
                        </a:rPr>
                        <a:t>, the countries with the highest adult mortality rates were </a:t>
                      </a:r>
                      <a:r>
                        <a:rPr lang="en-US" sz="1700" b="1">
                          <a:solidFill>
                            <a:srgbClr val="00FFFF"/>
                          </a:solidFill>
                          <a:latin typeface="Comic Sans MS" panose="030F0702030302020204" pitchFamily="66" charset="0"/>
                        </a:rPr>
                        <a:t>Zimbabwe, Botswana, Haiti, Lesotho</a:t>
                      </a:r>
                      <a:r>
                        <a:rPr lang="en-US" sz="1700">
                          <a:solidFill>
                            <a:srgbClr val="00FFFF"/>
                          </a:solidFill>
                          <a:latin typeface="Comic Sans MS" panose="030F0702030302020204" pitchFamily="66" charset="0"/>
                        </a:rPr>
                        <a:t>, and </a:t>
                      </a:r>
                      <a:r>
                        <a:rPr lang="en-US" sz="1700" b="1">
                          <a:solidFill>
                            <a:srgbClr val="00FFFF"/>
                          </a:solidFill>
                          <a:latin typeface="Comic Sans MS" panose="030F0702030302020204" pitchFamily="66" charset="0"/>
                        </a:rPr>
                        <a:t>Malawi</a:t>
                      </a:r>
                      <a:r>
                        <a:rPr lang="en-US" sz="1700">
                          <a:solidFill>
                            <a:srgbClr val="00FFFF"/>
                          </a:solidFill>
                          <a:latin typeface="Comic Sans MS" panose="030F0702030302020204" pitchFamily="66" charset="0"/>
                        </a:rPr>
                        <a:t>.</a:t>
                      </a:r>
                    </a:p>
                  </a:txBody>
                  <a:tcPr marL="86593" marR="86593" marT="43297" marB="43297" anchor="ctr"/>
                </a:tc>
                <a:extLst>
                  <a:ext uri="{0D108BD9-81ED-4DB2-BD59-A6C34878D82A}">
                    <a16:rowId xmlns:a16="http://schemas.microsoft.com/office/drawing/2014/main" val="2387906394"/>
                  </a:ext>
                </a:extLst>
              </a:tr>
              <a:tr h="967014">
                <a:tc>
                  <a:txBody>
                    <a:bodyPr/>
                    <a:lstStyle/>
                    <a:p>
                      <a:pPr algn="r"/>
                      <a:r>
                        <a:rPr lang="en-IN" sz="1700" b="1">
                          <a:solidFill>
                            <a:srgbClr val="FF0000"/>
                          </a:solidFill>
                          <a:latin typeface="Comic Sans MS" panose="030F0702030302020204" pitchFamily="66" charset="0"/>
                        </a:rPr>
                        <a:t>5</a:t>
                      </a:r>
                    </a:p>
                  </a:txBody>
                  <a:tcPr marL="86593" marR="86593" marT="43297" marB="43297" anchor="ctr"/>
                </a:tc>
                <a:tc>
                  <a:txBody>
                    <a:bodyPr/>
                    <a:lstStyle/>
                    <a:p>
                      <a:r>
                        <a:rPr lang="en-US" sz="1700" dirty="0">
                          <a:solidFill>
                            <a:srgbClr val="00FFFF"/>
                          </a:solidFill>
                          <a:latin typeface="Comic Sans MS" panose="030F0702030302020204" pitchFamily="66" charset="0"/>
                        </a:rPr>
                        <a:t>Top 5 countries where adult mortality </a:t>
                      </a:r>
                      <a:r>
                        <a:rPr lang="en-US" sz="1700" b="1" dirty="0">
                          <a:solidFill>
                            <a:srgbClr val="00FFFF"/>
                          </a:solidFill>
                          <a:latin typeface="Comic Sans MS" panose="030F0702030302020204" pitchFamily="66" charset="0"/>
                        </a:rPr>
                        <a:t>increased</a:t>
                      </a:r>
                      <a:r>
                        <a:rPr lang="en-US" sz="1700" dirty="0">
                          <a:solidFill>
                            <a:srgbClr val="00FFFF"/>
                          </a:solidFill>
                          <a:latin typeface="Comic Sans MS" panose="030F0702030302020204" pitchFamily="66" charset="0"/>
                        </a:rPr>
                        <a:t> in 2015 vs. previous year: </a:t>
                      </a:r>
                      <a:r>
                        <a:rPr lang="en-US" sz="1700" b="1" dirty="0">
                          <a:solidFill>
                            <a:srgbClr val="00FFFF"/>
                          </a:solidFill>
                          <a:latin typeface="Comic Sans MS" panose="030F0702030302020204" pitchFamily="66" charset="0"/>
                        </a:rPr>
                        <a:t>Cote d'Ivoire, Uganda, Tanzania, Comoros</a:t>
                      </a:r>
                      <a:r>
                        <a:rPr lang="en-US" sz="1700" dirty="0">
                          <a:solidFill>
                            <a:srgbClr val="00FFFF"/>
                          </a:solidFill>
                          <a:latin typeface="Comic Sans MS" panose="030F0702030302020204" pitchFamily="66" charset="0"/>
                        </a:rPr>
                        <a:t>, and </a:t>
                      </a:r>
                      <a:r>
                        <a:rPr lang="en-US" sz="1700" b="1" dirty="0">
                          <a:solidFill>
                            <a:srgbClr val="00FFFF"/>
                          </a:solidFill>
                          <a:latin typeface="Comic Sans MS" panose="030F0702030302020204" pitchFamily="66" charset="0"/>
                        </a:rPr>
                        <a:t>Rwanda</a:t>
                      </a:r>
                      <a:r>
                        <a:rPr lang="en-US" sz="1700" dirty="0">
                          <a:solidFill>
                            <a:srgbClr val="00FFFF"/>
                          </a:solidFill>
                          <a:latin typeface="Comic Sans MS" panose="030F0702030302020204" pitchFamily="66" charset="0"/>
                        </a:rPr>
                        <a:t>.</a:t>
                      </a:r>
                    </a:p>
                  </a:txBody>
                  <a:tcPr marL="86593" marR="86593" marT="43297" marB="43297" anchor="ctr"/>
                </a:tc>
                <a:extLst>
                  <a:ext uri="{0D108BD9-81ED-4DB2-BD59-A6C34878D82A}">
                    <a16:rowId xmlns:a16="http://schemas.microsoft.com/office/drawing/2014/main" val="3032230957"/>
                  </a:ext>
                </a:extLst>
              </a:tr>
              <a:tr h="967014">
                <a:tc>
                  <a:txBody>
                    <a:bodyPr/>
                    <a:lstStyle/>
                    <a:p>
                      <a:pPr algn="r"/>
                      <a:r>
                        <a:rPr lang="en-IN" sz="1700" b="1" dirty="0">
                          <a:solidFill>
                            <a:srgbClr val="FF0000"/>
                          </a:solidFill>
                          <a:latin typeface="Comic Sans MS" panose="030F0702030302020204" pitchFamily="66" charset="0"/>
                        </a:rPr>
                        <a:t>6</a:t>
                      </a:r>
                    </a:p>
                  </a:txBody>
                  <a:tcPr marL="86593" marR="86593" marT="43297" marB="43297" anchor="ctr"/>
                </a:tc>
                <a:tc>
                  <a:txBody>
                    <a:bodyPr/>
                    <a:lstStyle/>
                    <a:p>
                      <a:r>
                        <a:rPr lang="en-US" sz="1700" dirty="0">
                          <a:solidFill>
                            <a:srgbClr val="00FFFF"/>
                          </a:solidFill>
                          <a:latin typeface="Comic Sans MS" panose="030F0702030302020204" pitchFamily="66" charset="0"/>
                        </a:rPr>
                        <a:t>Top 5 countries where adult mortality </a:t>
                      </a:r>
                      <a:r>
                        <a:rPr lang="en-US" sz="1700" b="1" dirty="0">
                          <a:solidFill>
                            <a:srgbClr val="00FFFF"/>
                          </a:solidFill>
                          <a:latin typeface="Comic Sans MS" panose="030F0702030302020204" pitchFamily="66" charset="0"/>
                        </a:rPr>
                        <a:t>decreased</a:t>
                      </a:r>
                      <a:r>
                        <a:rPr lang="en-US" sz="1700" dirty="0">
                          <a:solidFill>
                            <a:srgbClr val="00FFFF"/>
                          </a:solidFill>
                          <a:latin typeface="Comic Sans MS" panose="030F0702030302020204" pitchFamily="66" charset="0"/>
                        </a:rPr>
                        <a:t> in 2015 vs. previous year: </a:t>
                      </a:r>
                      <a:r>
                        <a:rPr lang="en-US" sz="1700" b="1" dirty="0">
                          <a:solidFill>
                            <a:srgbClr val="00FFFF"/>
                          </a:solidFill>
                          <a:latin typeface="Comic Sans MS" panose="030F0702030302020204" pitchFamily="66" charset="0"/>
                        </a:rPr>
                        <a:t>Zambia, Burkina Faso, Haiti, Madagascar</a:t>
                      </a:r>
                      <a:r>
                        <a:rPr lang="en-US" sz="1700" dirty="0">
                          <a:solidFill>
                            <a:srgbClr val="00FFFF"/>
                          </a:solidFill>
                          <a:latin typeface="Comic Sans MS" panose="030F0702030302020204" pitchFamily="66" charset="0"/>
                        </a:rPr>
                        <a:t>, and </a:t>
                      </a:r>
                      <a:r>
                        <a:rPr lang="en-US" sz="1700" b="1" dirty="0">
                          <a:solidFill>
                            <a:srgbClr val="00FFFF"/>
                          </a:solidFill>
                          <a:latin typeface="Comic Sans MS" panose="030F0702030302020204" pitchFamily="66" charset="0"/>
                        </a:rPr>
                        <a:t>Niger</a:t>
                      </a:r>
                      <a:r>
                        <a:rPr lang="en-US" sz="1700" dirty="0">
                          <a:solidFill>
                            <a:srgbClr val="00FFFF"/>
                          </a:solidFill>
                          <a:latin typeface="Comic Sans MS" panose="030F0702030302020204" pitchFamily="66" charset="0"/>
                        </a:rPr>
                        <a:t>.</a:t>
                      </a:r>
                    </a:p>
                  </a:txBody>
                  <a:tcPr marL="86593" marR="86593" marT="43297" marB="43297" anchor="ctr"/>
                </a:tc>
                <a:extLst>
                  <a:ext uri="{0D108BD9-81ED-4DB2-BD59-A6C34878D82A}">
                    <a16:rowId xmlns:a16="http://schemas.microsoft.com/office/drawing/2014/main" val="569893645"/>
                  </a:ext>
                </a:extLst>
              </a:tr>
            </a:tbl>
          </a:graphicData>
        </a:graphic>
      </p:graphicFrame>
    </p:spTree>
    <p:extLst>
      <p:ext uri="{BB962C8B-B14F-4D97-AF65-F5344CB8AC3E}">
        <p14:creationId xmlns:p14="http://schemas.microsoft.com/office/powerpoint/2010/main" val="1891140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C7666-244A-ABC2-CFCA-EB532A2635A2}"/>
              </a:ext>
            </a:extLst>
          </p:cNvPr>
          <p:cNvSpPr>
            <a:spLocks noGrp="1"/>
          </p:cNvSpPr>
          <p:nvPr>
            <p:ph type="title"/>
          </p:nvPr>
        </p:nvSpPr>
        <p:spPr>
          <a:xfrm>
            <a:off x="116958" y="159488"/>
            <a:ext cx="11236842" cy="861238"/>
          </a:xfrm>
        </p:spPr>
        <p:txBody>
          <a:bodyPr>
            <a:normAutofit/>
          </a:bodyPr>
          <a:lstStyle/>
          <a:p>
            <a:r>
              <a:rPr lang="en-US" b="1" dirty="0">
                <a:latin typeface="+mn-lt"/>
              </a:rPr>
              <a:t>4.Infant Deaths:</a:t>
            </a:r>
            <a:endParaRPr lang="en-IN" b="1" dirty="0">
              <a:latin typeface="+mn-lt"/>
            </a:endParaRPr>
          </a:p>
        </p:txBody>
      </p:sp>
      <p:pic>
        <p:nvPicPr>
          <p:cNvPr id="6" name="Content Placeholder 5">
            <a:extLst>
              <a:ext uri="{FF2B5EF4-FFF2-40B4-BE49-F238E27FC236}">
                <a16:creationId xmlns:a16="http://schemas.microsoft.com/office/drawing/2014/main" id="{6320D292-934A-EFBF-87B8-F079FA92AAC6}"/>
              </a:ext>
            </a:extLst>
          </p:cNvPr>
          <p:cNvPicPr>
            <a:picLocks noGrp="1" noChangeAspect="1"/>
          </p:cNvPicPr>
          <p:nvPr>
            <p:ph sz="half" idx="1"/>
          </p:nvPr>
        </p:nvPicPr>
        <p:blipFill>
          <a:blip r:embed="rId2"/>
          <a:stretch>
            <a:fillRect/>
          </a:stretch>
        </p:blipFill>
        <p:spPr>
          <a:xfrm>
            <a:off x="116958" y="1371600"/>
            <a:ext cx="6560289" cy="5326912"/>
          </a:xfrm>
        </p:spPr>
      </p:pic>
      <p:sp>
        <p:nvSpPr>
          <p:cNvPr id="4" name="Content Placeholder 3">
            <a:extLst>
              <a:ext uri="{FF2B5EF4-FFF2-40B4-BE49-F238E27FC236}">
                <a16:creationId xmlns:a16="http://schemas.microsoft.com/office/drawing/2014/main" id="{648BEA22-D117-44EB-93C8-495AE63CA280}"/>
              </a:ext>
            </a:extLst>
          </p:cNvPr>
          <p:cNvSpPr>
            <a:spLocks noGrp="1"/>
          </p:cNvSpPr>
          <p:nvPr>
            <p:ph sz="half" idx="2"/>
          </p:nvPr>
        </p:nvSpPr>
        <p:spPr>
          <a:xfrm>
            <a:off x="7049385" y="159488"/>
            <a:ext cx="4890977" cy="6539024"/>
          </a:xfrm>
        </p:spPr>
        <p:txBody>
          <a:bodyPr>
            <a:normAutofit fontScale="92500" lnSpcReduction="20000"/>
          </a:bodyPr>
          <a:lstStyle/>
          <a:p>
            <a:r>
              <a:rPr lang="en-US" sz="3500" b="1" dirty="0">
                <a:solidFill>
                  <a:srgbClr val="FF0000"/>
                </a:solidFill>
              </a:rPr>
              <a:t>Insight:</a:t>
            </a:r>
          </a:p>
          <a:p>
            <a:r>
              <a:rPr lang="en-US" dirty="0">
                <a:solidFill>
                  <a:srgbClr val="FFFF00"/>
                </a:solidFill>
                <a:latin typeface="Comic Sans MS" panose="030F0702030302020204" pitchFamily="66" charset="0"/>
              </a:rPr>
              <a:t>Infant deaths refers to the number of children who die before reaching 1 year of age, usually measured per year per country.</a:t>
            </a:r>
          </a:p>
          <a:p>
            <a:endParaRPr lang="en-US" b="1" dirty="0">
              <a:solidFill>
                <a:srgbClr val="FF0000"/>
              </a:solidFill>
            </a:endParaRPr>
          </a:p>
          <a:p>
            <a:r>
              <a:rPr lang="en-US" sz="2400" dirty="0">
                <a:solidFill>
                  <a:srgbClr val="00FFFF"/>
                </a:solidFill>
                <a:latin typeface="Comic Sans MS" panose="030F0702030302020204" pitchFamily="66" charset="0"/>
              </a:rPr>
              <a:t>There is a </a:t>
            </a:r>
            <a:r>
              <a:rPr lang="en-US" sz="2400" dirty="0">
                <a:solidFill>
                  <a:srgbClr val="FF0000"/>
                </a:solidFill>
                <a:latin typeface="Comic Sans MS" panose="030F0702030302020204" pitchFamily="66" charset="0"/>
              </a:rPr>
              <a:t>clear negative relationship between infant deaths and life expectancy </a:t>
            </a:r>
            <a:r>
              <a:rPr lang="en-US" sz="2400" dirty="0">
                <a:solidFill>
                  <a:srgbClr val="00FFFF"/>
                </a:solidFill>
                <a:latin typeface="Comic Sans MS" panose="030F0702030302020204" pitchFamily="66" charset="0"/>
              </a:rPr>
              <a:t>— as the number of infant deaths increases, life expectancy decreases.</a:t>
            </a:r>
          </a:p>
          <a:p>
            <a:endParaRPr lang="en-US" sz="2400" dirty="0">
              <a:solidFill>
                <a:srgbClr val="00FFFF"/>
              </a:solidFill>
              <a:latin typeface="Comic Sans MS" panose="030F0702030302020204" pitchFamily="66" charset="0"/>
            </a:endParaRPr>
          </a:p>
          <a:p>
            <a:r>
              <a:rPr lang="en-US" sz="2400" dirty="0">
                <a:solidFill>
                  <a:srgbClr val="00FFFF"/>
                </a:solidFill>
                <a:latin typeface="Comic Sans MS" panose="030F0702030302020204" pitchFamily="66" charset="0"/>
              </a:rPr>
              <a:t>This </a:t>
            </a:r>
            <a:r>
              <a:rPr lang="en-US" sz="2400" dirty="0">
                <a:solidFill>
                  <a:srgbClr val="FF0000"/>
                </a:solidFill>
                <a:latin typeface="Comic Sans MS" panose="030F0702030302020204" pitchFamily="66" charset="0"/>
              </a:rPr>
              <a:t>trend is most noticeable in African and Asian countries, where infant death rates have remained relatively high over the years</a:t>
            </a:r>
            <a:r>
              <a:rPr lang="en-US" sz="2400" dirty="0">
                <a:solidFill>
                  <a:srgbClr val="00FFFF"/>
                </a:solidFill>
                <a:latin typeface="Comic Sans MS" panose="030F0702030302020204" pitchFamily="66" charset="0"/>
              </a:rPr>
              <a:t>. As a result, these regions often experience lower life expectancy compared to other parts of the world</a:t>
            </a:r>
          </a:p>
          <a:p>
            <a:endParaRPr lang="en-IN" dirty="0"/>
          </a:p>
        </p:txBody>
      </p:sp>
    </p:spTree>
    <p:extLst>
      <p:ext uri="{BB962C8B-B14F-4D97-AF65-F5344CB8AC3E}">
        <p14:creationId xmlns:p14="http://schemas.microsoft.com/office/powerpoint/2010/main" val="3875383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E93DE-D9E7-B1A5-2D54-5E02456BA273}"/>
              </a:ext>
            </a:extLst>
          </p:cNvPr>
          <p:cNvSpPr>
            <a:spLocks noGrp="1"/>
          </p:cNvSpPr>
          <p:nvPr>
            <p:ph type="title"/>
          </p:nvPr>
        </p:nvSpPr>
        <p:spPr>
          <a:xfrm>
            <a:off x="116959" y="233916"/>
            <a:ext cx="11236842" cy="563526"/>
          </a:xfrm>
        </p:spPr>
        <p:txBody>
          <a:bodyPr>
            <a:normAutofit fontScale="90000"/>
          </a:bodyPr>
          <a:lstStyle/>
          <a:p>
            <a:r>
              <a:rPr lang="en-US" b="1" dirty="0">
                <a:latin typeface="+mn-lt"/>
              </a:rPr>
              <a:t>Key Insights</a:t>
            </a:r>
            <a:endParaRPr lang="en-IN" b="1" dirty="0">
              <a:latin typeface="+mn-lt"/>
            </a:endParaRPr>
          </a:p>
        </p:txBody>
      </p:sp>
      <p:graphicFrame>
        <p:nvGraphicFramePr>
          <p:cNvPr id="4" name="Content Placeholder 3">
            <a:extLst>
              <a:ext uri="{FF2B5EF4-FFF2-40B4-BE49-F238E27FC236}">
                <a16:creationId xmlns:a16="http://schemas.microsoft.com/office/drawing/2014/main" id="{2F75F8E8-04B8-E2D5-FEA1-88F19A9AF24F}"/>
              </a:ext>
            </a:extLst>
          </p:cNvPr>
          <p:cNvGraphicFramePr>
            <a:graphicFrameLocks noGrp="1"/>
          </p:cNvGraphicFramePr>
          <p:nvPr>
            <p:ph idx="1"/>
            <p:extLst>
              <p:ext uri="{D42A27DB-BD31-4B8C-83A1-F6EECF244321}">
                <p14:modId xmlns:p14="http://schemas.microsoft.com/office/powerpoint/2010/main" val="2421033976"/>
              </p:ext>
            </p:extLst>
          </p:nvPr>
        </p:nvGraphicFramePr>
        <p:xfrm>
          <a:off x="116958" y="988828"/>
          <a:ext cx="11812771" cy="5752214"/>
        </p:xfrm>
        <a:graphic>
          <a:graphicData uri="http://schemas.openxmlformats.org/drawingml/2006/table">
            <a:tbl>
              <a:tblPr>
                <a:tableStyleId>{616DA210-FB5B-4158-B5E0-FEB733F419BA}</a:tableStyleId>
              </a:tblPr>
              <a:tblGrid>
                <a:gridCol w="1102718">
                  <a:extLst>
                    <a:ext uri="{9D8B030D-6E8A-4147-A177-3AD203B41FA5}">
                      <a16:colId xmlns:a16="http://schemas.microsoft.com/office/drawing/2014/main" val="2184980372"/>
                    </a:ext>
                  </a:extLst>
                </a:gridCol>
                <a:gridCol w="10710053">
                  <a:extLst>
                    <a:ext uri="{9D8B030D-6E8A-4147-A177-3AD203B41FA5}">
                      <a16:colId xmlns:a16="http://schemas.microsoft.com/office/drawing/2014/main" val="1528359041"/>
                    </a:ext>
                  </a:extLst>
                </a:gridCol>
              </a:tblGrid>
              <a:tr h="405641">
                <a:tc>
                  <a:txBody>
                    <a:bodyPr/>
                    <a:lstStyle/>
                    <a:p>
                      <a:pPr algn="r"/>
                      <a:r>
                        <a:rPr lang="en-IN" sz="1800" b="1">
                          <a:solidFill>
                            <a:srgbClr val="00FFFF"/>
                          </a:solidFill>
                          <a:latin typeface="Comic Sans MS" panose="030F0702030302020204" pitchFamily="66" charset="0"/>
                        </a:rPr>
                        <a:t>#</a:t>
                      </a:r>
                      <a:endParaRPr lang="en-IN" sz="1800">
                        <a:solidFill>
                          <a:srgbClr val="00FFFF"/>
                        </a:solidFill>
                        <a:latin typeface="Comic Sans MS" panose="030F0702030302020204" pitchFamily="66" charset="0"/>
                      </a:endParaRPr>
                    </a:p>
                  </a:txBody>
                  <a:tcPr marL="81756" marR="81756" marT="40878" marB="40878" anchor="ctr"/>
                </a:tc>
                <a:tc>
                  <a:txBody>
                    <a:bodyPr/>
                    <a:lstStyle/>
                    <a:p>
                      <a:r>
                        <a:rPr lang="en-IN" sz="1800" b="1">
                          <a:solidFill>
                            <a:srgbClr val="00FFFF"/>
                          </a:solidFill>
                          <a:latin typeface="Comic Sans MS" panose="030F0702030302020204" pitchFamily="66" charset="0"/>
                        </a:rPr>
                        <a:t>Insight</a:t>
                      </a:r>
                      <a:endParaRPr lang="en-IN" sz="1800">
                        <a:solidFill>
                          <a:srgbClr val="00FFFF"/>
                        </a:solidFill>
                        <a:latin typeface="Comic Sans MS" panose="030F0702030302020204" pitchFamily="66" charset="0"/>
                      </a:endParaRPr>
                    </a:p>
                  </a:txBody>
                  <a:tcPr marL="81756" marR="81756" marT="40878" marB="40878" anchor="ctr"/>
                </a:tc>
                <a:extLst>
                  <a:ext uri="{0D108BD9-81ED-4DB2-BD59-A6C34878D82A}">
                    <a16:rowId xmlns:a16="http://schemas.microsoft.com/office/drawing/2014/main" val="83144323"/>
                  </a:ext>
                </a:extLst>
              </a:tr>
              <a:tr h="1014103">
                <a:tc>
                  <a:txBody>
                    <a:bodyPr/>
                    <a:lstStyle/>
                    <a:p>
                      <a:pPr algn="r"/>
                      <a:r>
                        <a:rPr lang="en-IN" sz="1800" dirty="0">
                          <a:solidFill>
                            <a:srgbClr val="00FFFF"/>
                          </a:solidFill>
                          <a:latin typeface="Comic Sans MS" panose="030F0702030302020204" pitchFamily="66" charset="0"/>
                        </a:rPr>
                        <a:t>1</a:t>
                      </a:r>
                    </a:p>
                  </a:txBody>
                  <a:tcPr marL="81756" marR="81756" marT="40878" marB="40878" anchor="ctr"/>
                </a:tc>
                <a:tc>
                  <a:txBody>
                    <a:bodyPr/>
                    <a:lstStyle/>
                    <a:p>
                      <a:r>
                        <a:rPr lang="en-US" sz="1800" b="1" dirty="0">
                          <a:solidFill>
                            <a:srgbClr val="00FFFF"/>
                          </a:solidFill>
                          <a:latin typeface="Comic Sans MS" panose="030F0702030302020204" pitchFamily="66" charset="0"/>
                        </a:rPr>
                        <a:t>Asia</a:t>
                      </a:r>
                      <a:r>
                        <a:rPr lang="en-US" sz="1800" dirty="0">
                          <a:solidFill>
                            <a:srgbClr val="00FFFF"/>
                          </a:solidFill>
                          <a:latin typeface="Comic Sans MS" panose="030F0702030302020204" pitchFamily="66" charset="0"/>
                        </a:rPr>
                        <a:t> has the </a:t>
                      </a:r>
                      <a:r>
                        <a:rPr lang="en-US" sz="1800" b="1" dirty="0">
                          <a:solidFill>
                            <a:srgbClr val="00FFFF"/>
                          </a:solidFill>
                          <a:latin typeface="Comic Sans MS" panose="030F0702030302020204" pitchFamily="66" charset="0"/>
                        </a:rPr>
                        <a:t>highest number of total infant deaths</a:t>
                      </a:r>
                      <a:r>
                        <a:rPr lang="en-US" sz="1800" dirty="0">
                          <a:solidFill>
                            <a:srgbClr val="00FFFF"/>
                          </a:solidFill>
                          <a:latin typeface="Comic Sans MS" panose="030F0702030302020204" pitchFamily="66" charset="0"/>
                        </a:rPr>
                        <a:t> (</a:t>
                      </a:r>
                      <a:r>
                        <a:rPr lang="en-US" sz="1800" b="1" dirty="0">
                          <a:solidFill>
                            <a:srgbClr val="00FFFF"/>
                          </a:solidFill>
                          <a:latin typeface="Comic Sans MS" panose="030F0702030302020204" pitchFamily="66" charset="0"/>
                        </a:rPr>
                        <a:t>45,778</a:t>
                      </a:r>
                      <a:r>
                        <a:rPr lang="en-US" sz="1800" dirty="0">
                          <a:solidFill>
                            <a:srgbClr val="00FFFF"/>
                          </a:solidFill>
                          <a:latin typeface="Comic Sans MS" panose="030F0702030302020204" pitchFamily="66" charset="0"/>
                        </a:rPr>
                        <a:t>), followed by </a:t>
                      </a:r>
                      <a:r>
                        <a:rPr lang="en-US" sz="1800" b="1" dirty="0">
                          <a:solidFill>
                            <a:srgbClr val="00FFFF"/>
                          </a:solidFill>
                          <a:latin typeface="Comic Sans MS" panose="030F0702030302020204" pitchFamily="66" charset="0"/>
                        </a:rPr>
                        <a:t>Africa (38,229)</a:t>
                      </a:r>
                      <a:r>
                        <a:rPr lang="en-US" sz="1800" dirty="0">
                          <a:solidFill>
                            <a:srgbClr val="00FFFF"/>
                          </a:solidFill>
                          <a:latin typeface="Comic Sans MS" panose="030F0702030302020204" pitchFamily="66" charset="0"/>
                        </a:rPr>
                        <a:t> and </a:t>
                      </a:r>
                      <a:r>
                        <a:rPr lang="en-US" sz="1800" b="1" dirty="0">
                          <a:solidFill>
                            <a:srgbClr val="00FFFF"/>
                          </a:solidFill>
                          <a:latin typeface="Comic Sans MS" panose="030F0702030302020204" pitchFamily="66" charset="0"/>
                        </a:rPr>
                        <a:t>South America (2,206)</a:t>
                      </a:r>
                      <a:r>
                        <a:rPr lang="en-US" sz="1800" dirty="0">
                          <a:solidFill>
                            <a:srgbClr val="00FFFF"/>
                          </a:solidFill>
                          <a:latin typeface="Comic Sans MS" panose="030F0702030302020204" pitchFamily="66" charset="0"/>
                        </a:rPr>
                        <a:t>.</a:t>
                      </a:r>
                    </a:p>
                  </a:txBody>
                  <a:tcPr marL="81756" marR="81756" marT="40878" marB="40878" anchor="ctr"/>
                </a:tc>
                <a:extLst>
                  <a:ext uri="{0D108BD9-81ED-4DB2-BD59-A6C34878D82A}">
                    <a16:rowId xmlns:a16="http://schemas.microsoft.com/office/drawing/2014/main" val="3763623941"/>
                  </a:ext>
                </a:extLst>
              </a:tr>
              <a:tr h="697247">
                <a:tc>
                  <a:txBody>
                    <a:bodyPr/>
                    <a:lstStyle/>
                    <a:p>
                      <a:pPr algn="r"/>
                      <a:r>
                        <a:rPr lang="en-IN" sz="1800">
                          <a:solidFill>
                            <a:srgbClr val="00FFFF"/>
                          </a:solidFill>
                          <a:latin typeface="Comic Sans MS" panose="030F0702030302020204" pitchFamily="66" charset="0"/>
                        </a:rPr>
                        <a:t>2</a:t>
                      </a:r>
                    </a:p>
                  </a:txBody>
                  <a:tcPr marL="81756" marR="81756" marT="40878" marB="40878" anchor="ctr"/>
                </a:tc>
                <a:tc>
                  <a:txBody>
                    <a:bodyPr/>
                    <a:lstStyle/>
                    <a:p>
                      <a:r>
                        <a:rPr lang="en-US" sz="1800" b="1">
                          <a:solidFill>
                            <a:srgbClr val="00FFFF"/>
                          </a:solidFill>
                          <a:latin typeface="Comic Sans MS" panose="030F0702030302020204" pitchFamily="66" charset="0"/>
                        </a:rPr>
                        <a:t>Oceania</a:t>
                      </a:r>
                      <a:r>
                        <a:rPr lang="en-US" sz="1800">
                          <a:solidFill>
                            <a:srgbClr val="00FFFF"/>
                          </a:solidFill>
                          <a:latin typeface="Comic Sans MS" panose="030F0702030302020204" pitchFamily="66" charset="0"/>
                        </a:rPr>
                        <a:t> has the </a:t>
                      </a:r>
                      <a:r>
                        <a:rPr lang="en-US" sz="1800" b="1">
                          <a:solidFill>
                            <a:srgbClr val="00FFFF"/>
                          </a:solidFill>
                          <a:latin typeface="Comic Sans MS" panose="030F0702030302020204" pitchFamily="66" charset="0"/>
                        </a:rPr>
                        <a:t>lowest number of total infant deaths</a:t>
                      </a:r>
                      <a:r>
                        <a:rPr lang="en-US" sz="1800">
                          <a:solidFill>
                            <a:srgbClr val="00FFFF"/>
                          </a:solidFill>
                          <a:latin typeface="Comic Sans MS" panose="030F0702030302020204" pitchFamily="66" charset="0"/>
                        </a:rPr>
                        <a:t> among all continents.</a:t>
                      </a:r>
                    </a:p>
                  </a:txBody>
                  <a:tcPr marL="81756" marR="81756" marT="40878" marB="40878" anchor="ctr"/>
                </a:tc>
                <a:extLst>
                  <a:ext uri="{0D108BD9-81ED-4DB2-BD59-A6C34878D82A}">
                    <a16:rowId xmlns:a16="http://schemas.microsoft.com/office/drawing/2014/main" val="1735471377"/>
                  </a:ext>
                </a:extLst>
              </a:tr>
              <a:tr h="1014103">
                <a:tc>
                  <a:txBody>
                    <a:bodyPr/>
                    <a:lstStyle/>
                    <a:p>
                      <a:pPr algn="r"/>
                      <a:r>
                        <a:rPr lang="en-IN" sz="1800" dirty="0">
                          <a:solidFill>
                            <a:srgbClr val="00FFFF"/>
                          </a:solidFill>
                          <a:latin typeface="Comic Sans MS" panose="030F0702030302020204" pitchFamily="66" charset="0"/>
                        </a:rPr>
                        <a:t>3</a:t>
                      </a:r>
                    </a:p>
                  </a:txBody>
                  <a:tcPr marL="81756" marR="81756" marT="40878" marB="40878" anchor="ctr"/>
                </a:tc>
                <a:tc>
                  <a:txBody>
                    <a:bodyPr/>
                    <a:lstStyle/>
                    <a:p>
                      <a:r>
                        <a:rPr lang="en-US" sz="1800" dirty="0">
                          <a:solidFill>
                            <a:srgbClr val="00FFFF"/>
                          </a:solidFill>
                          <a:latin typeface="Comic Sans MS" panose="030F0702030302020204" pitchFamily="66" charset="0"/>
                        </a:rPr>
                        <a:t>The </a:t>
                      </a:r>
                      <a:r>
                        <a:rPr lang="en-US" sz="1800" b="1" dirty="0">
                          <a:solidFill>
                            <a:srgbClr val="00FFFF"/>
                          </a:solidFill>
                          <a:latin typeface="Comic Sans MS" panose="030F0702030302020204" pitchFamily="66" charset="0"/>
                        </a:rPr>
                        <a:t>countries with the highest total infant deaths</a:t>
                      </a:r>
                      <a:r>
                        <a:rPr lang="en-US" sz="1800" dirty="0">
                          <a:solidFill>
                            <a:srgbClr val="00FFFF"/>
                          </a:solidFill>
                          <a:latin typeface="Comic Sans MS" panose="030F0702030302020204" pitchFamily="66" charset="0"/>
                        </a:rPr>
                        <a:t> are: </a:t>
                      </a:r>
                      <a:r>
                        <a:rPr lang="en-US" sz="1800" b="1" dirty="0">
                          <a:solidFill>
                            <a:srgbClr val="00FFFF"/>
                          </a:solidFill>
                          <a:latin typeface="Comic Sans MS" panose="030F0702030302020204" pitchFamily="66" charset="0"/>
                        </a:rPr>
                        <a:t>India (21,867)</a:t>
                      </a:r>
                      <a:r>
                        <a:rPr lang="en-US" sz="1800" dirty="0">
                          <a:solidFill>
                            <a:srgbClr val="00FFFF"/>
                          </a:solidFill>
                          <a:latin typeface="Comic Sans MS" panose="030F0702030302020204" pitchFamily="66" charset="0"/>
                        </a:rPr>
                        <a:t>, </a:t>
                      </a:r>
                      <a:r>
                        <a:rPr lang="en-US" sz="1800" b="1" dirty="0">
                          <a:solidFill>
                            <a:srgbClr val="00FFFF"/>
                          </a:solidFill>
                          <a:latin typeface="Comic Sans MS" panose="030F0702030302020204" pitchFamily="66" charset="0"/>
                        </a:rPr>
                        <a:t>Nigeria (8,571)</a:t>
                      </a:r>
                      <a:r>
                        <a:rPr lang="en-US" sz="1800" dirty="0">
                          <a:solidFill>
                            <a:srgbClr val="00FFFF"/>
                          </a:solidFill>
                          <a:latin typeface="Comic Sans MS" panose="030F0702030302020204" pitchFamily="66" charset="0"/>
                        </a:rPr>
                        <a:t>, and </a:t>
                      </a:r>
                      <a:r>
                        <a:rPr lang="en-US" sz="1800" b="1" dirty="0">
                          <a:solidFill>
                            <a:srgbClr val="00FFFF"/>
                          </a:solidFill>
                          <a:latin typeface="Comic Sans MS" panose="030F0702030302020204" pitchFamily="66" charset="0"/>
                        </a:rPr>
                        <a:t>Pakistan (5,887)</a:t>
                      </a:r>
                      <a:r>
                        <a:rPr lang="en-US" sz="1800" dirty="0">
                          <a:solidFill>
                            <a:srgbClr val="00FFFF"/>
                          </a:solidFill>
                          <a:latin typeface="Comic Sans MS" panose="030F0702030302020204" pitchFamily="66" charset="0"/>
                        </a:rPr>
                        <a:t>.</a:t>
                      </a:r>
                    </a:p>
                  </a:txBody>
                  <a:tcPr marL="81756" marR="81756" marT="40878" marB="40878" anchor="ctr"/>
                </a:tc>
                <a:extLst>
                  <a:ext uri="{0D108BD9-81ED-4DB2-BD59-A6C34878D82A}">
                    <a16:rowId xmlns:a16="http://schemas.microsoft.com/office/drawing/2014/main" val="14749448"/>
                  </a:ext>
                </a:extLst>
              </a:tr>
              <a:tr h="1014103">
                <a:tc>
                  <a:txBody>
                    <a:bodyPr/>
                    <a:lstStyle/>
                    <a:p>
                      <a:pPr algn="r"/>
                      <a:r>
                        <a:rPr lang="en-IN" sz="1800">
                          <a:solidFill>
                            <a:srgbClr val="00FFFF"/>
                          </a:solidFill>
                          <a:latin typeface="Comic Sans MS" panose="030F0702030302020204" pitchFamily="66" charset="0"/>
                        </a:rPr>
                        <a:t>4</a:t>
                      </a:r>
                    </a:p>
                  </a:txBody>
                  <a:tcPr marL="81756" marR="81756" marT="40878" marB="40878" anchor="ctr"/>
                </a:tc>
                <a:tc>
                  <a:txBody>
                    <a:bodyPr/>
                    <a:lstStyle/>
                    <a:p>
                      <a:r>
                        <a:rPr lang="en-US" sz="1800">
                          <a:solidFill>
                            <a:srgbClr val="00FFFF"/>
                          </a:solidFill>
                          <a:latin typeface="Comic Sans MS" panose="030F0702030302020204" pitchFamily="66" charset="0"/>
                        </a:rPr>
                        <a:t>In the </a:t>
                      </a:r>
                      <a:r>
                        <a:rPr lang="en-US" sz="1800" b="1">
                          <a:solidFill>
                            <a:srgbClr val="00FFFF"/>
                          </a:solidFill>
                          <a:latin typeface="Comic Sans MS" panose="030F0702030302020204" pitchFamily="66" charset="0"/>
                        </a:rPr>
                        <a:t>year 2015</a:t>
                      </a:r>
                      <a:r>
                        <a:rPr lang="en-US" sz="1800">
                          <a:solidFill>
                            <a:srgbClr val="00FFFF"/>
                          </a:solidFill>
                          <a:latin typeface="Comic Sans MS" panose="030F0702030302020204" pitchFamily="66" charset="0"/>
                        </a:rPr>
                        <a:t>, the countries with the highest infant deaths were: </a:t>
                      </a:r>
                      <a:r>
                        <a:rPr lang="en-US" sz="1800" b="1">
                          <a:solidFill>
                            <a:srgbClr val="00FFFF"/>
                          </a:solidFill>
                          <a:latin typeface="Comic Sans MS" panose="030F0702030302020204" pitchFamily="66" charset="0"/>
                        </a:rPr>
                        <a:t>India (910)</a:t>
                      </a:r>
                      <a:r>
                        <a:rPr lang="en-US" sz="1800">
                          <a:solidFill>
                            <a:srgbClr val="00FFFF"/>
                          </a:solidFill>
                          <a:latin typeface="Comic Sans MS" panose="030F0702030302020204" pitchFamily="66" charset="0"/>
                        </a:rPr>
                        <a:t>, </a:t>
                      </a:r>
                      <a:r>
                        <a:rPr lang="en-US" sz="1800" b="1">
                          <a:solidFill>
                            <a:srgbClr val="00FFFF"/>
                          </a:solidFill>
                          <a:latin typeface="Comic Sans MS" panose="030F0702030302020204" pitchFamily="66" charset="0"/>
                        </a:rPr>
                        <a:t>Nigeria (483)</a:t>
                      </a:r>
                      <a:r>
                        <a:rPr lang="en-US" sz="1800">
                          <a:solidFill>
                            <a:srgbClr val="00FFFF"/>
                          </a:solidFill>
                          <a:latin typeface="Comic Sans MS" panose="030F0702030302020204" pitchFamily="66" charset="0"/>
                        </a:rPr>
                        <a:t>, and </a:t>
                      </a:r>
                      <a:r>
                        <a:rPr lang="en-US" sz="1800" b="1">
                          <a:solidFill>
                            <a:srgbClr val="00FFFF"/>
                          </a:solidFill>
                          <a:latin typeface="Comic Sans MS" panose="030F0702030302020204" pitchFamily="66" charset="0"/>
                        </a:rPr>
                        <a:t>Pakistan (352)</a:t>
                      </a:r>
                      <a:r>
                        <a:rPr lang="en-US" sz="1800">
                          <a:solidFill>
                            <a:srgbClr val="00FFFF"/>
                          </a:solidFill>
                          <a:latin typeface="Comic Sans MS" panose="030F0702030302020204" pitchFamily="66" charset="0"/>
                        </a:rPr>
                        <a:t>.</a:t>
                      </a:r>
                    </a:p>
                  </a:txBody>
                  <a:tcPr marL="81756" marR="81756" marT="40878" marB="40878" anchor="ctr"/>
                </a:tc>
                <a:extLst>
                  <a:ext uri="{0D108BD9-81ED-4DB2-BD59-A6C34878D82A}">
                    <a16:rowId xmlns:a16="http://schemas.microsoft.com/office/drawing/2014/main" val="3860337387"/>
                  </a:ext>
                </a:extLst>
              </a:tr>
              <a:tr h="709872">
                <a:tc>
                  <a:txBody>
                    <a:bodyPr/>
                    <a:lstStyle/>
                    <a:p>
                      <a:pPr algn="r"/>
                      <a:r>
                        <a:rPr lang="en-IN" sz="1800">
                          <a:solidFill>
                            <a:srgbClr val="00FFFF"/>
                          </a:solidFill>
                          <a:latin typeface="Comic Sans MS" panose="030F0702030302020204" pitchFamily="66" charset="0"/>
                        </a:rPr>
                        <a:t>5</a:t>
                      </a:r>
                    </a:p>
                  </a:txBody>
                  <a:tcPr marL="81756" marR="81756" marT="40878" marB="40878" anchor="ctr"/>
                </a:tc>
                <a:tc>
                  <a:txBody>
                    <a:bodyPr/>
                    <a:lstStyle/>
                    <a:p>
                      <a:r>
                        <a:rPr lang="en-US" sz="1800">
                          <a:solidFill>
                            <a:srgbClr val="00FFFF"/>
                          </a:solidFill>
                          <a:latin typeface="Comic Sans MS" panose="030F0702030302020204" pitchFamily="66" charset="0"/>
                        </a:rPr>
                        <a:t>There were a total of </a:t>
                      </a:r>
                      <a:r>
                        <a:rPr lang="en-US" sz="1800" b="1">
                          <a:solidFill>
                            <a:srgbClr val="00FFFF"/>
                          </a:solidFill>
                          <a:latin typeface="Comic Sans MS" panose="030F0702030302020204" pitchFamily="66" charset="0"/>
                        </a:rPr>
                        <a:t>59 countries</a:t>
                      </a:r>
                      <a:r>
                        <a:rPr lang="en-US" sz="1800">
                          <a:solidFill>
                            <a:srgbClr val="00FFFF"/>
                          </a:solidFill>
                          <a:latin typeface="Comic Sans MS" panose="030F0702030302020204" pitchFamily="66" charset="0"/>
                        </a:rPr>
                        <a:t> with </a:t>
                      </a:r>
                      <a:r>
                        <a:rPr lang="en-US" sz="1800" b="1">
                          <a:solidFill>
                            <a:srgbClr val="00FFFF"/>
                          </a:solidFill>
                          <a:latin typeface="Comic Sans MS" panose="030F0702030302020204" pitchFamily="66" charset="0"/>
                        </a:rPr>
                        <a:t>0 infant deaths</a:t>
                      </a:r>
                      <a:r>
                        <a:rPr lang="en-US" sz="1800">
                          <a:solidFill>
                            <a:srgbClr val="00FFFF"/>
                          </a:solidFill>
                          <a:latin typeface="Comic Sans MS" panose="030F0702030302020204" pitchFamily="66" charset="0"/>
                        </a:rPr>
                        <a:t> recorded in </a:t>
                      </a:r>
                      <a:r>
                        <a:rPr lang="en-US" sz="1800" b="1">
                          <a:solidFill>
                            <a:srgbClr val="00FFFF"/>
                          </a:solidFill>
                          <a:latin typeface="Comic Sans MS" panose="030F0702030302020204" pitchFamily="66" charset="0"/>
                        </a:rPr>
                        <a:t>2015</a:t>
                      </a:r>
                      <a:r>
                        <a:rPr lang="en-US" sz="1800">
                          <a:solidFill>
                            <a:srgbClr val="00FFFF"/>
                          </a:solidFill>
                          <a:latin typeface="Comic Sans MS" panose="030F0702030302020204" pitchFamily="66" charset="0"/>
                        </a:rPr>
                        <a:t>.</a:t>
                      </a:r>
                    </a:p>
                  </a:txBody>
                  <a:tcPr marL="81756" marR="81756" marT="40878" marB="40878" anchor="ctr"/>
                </a:tc>
                <a:extLst>
                  <a:ext uri="{0D108BD9-81ED-4DB2-BD59-A6C34878D82A}">
                    <a16:rowId xmlns:a16="http://schemas.microsoft.com/office/drawing/2014/main" val="3132506693"/>
                  </a:ext>
                </a:extLst>
              </a:tr>
              <a:tr h="897145">
                <a:tc>
                  <a:txBody>
                    <a:bodyPr/>
                    <a:lstStyle/>
                    <a:p>
                      <a:pPr algn="r"/>
                      <a:r>
                        <a:rPr lang="en-IN" sz="1800">
                          <a:solidFill>
                            <a:srgbClr val="00FFFF"/>
                          </a:solidFill>
                          <a:latin typeface="Comic Sans MS" panose="030F0702030302020204" pitchFamily="66" charset="0"/>
                        </a:rPr>
                        <a:t>6</a:t>
                      </a:r>
                    </a:p>
                  </a:txBody>
                  <a:tcPr marL="81756" marR="81756" marT="40878" marB="40878" anchor="ctr"/>
                </a:tc>
                <a:tc>
                  <a:txBody>
                    <a:bodyPr/>
                    <a:lstStyle/>
                    <a:p>
                      <a:r>
                        <a:rPr lang="en-US" sz="1800" dirty="0">
                          <a:solidFill>
                            <a:srgbClr val="00FFFF"/>
                          </a:solidFill>
                          <a:latin typeface="Comic Sans MS" panose="030F0702030302020204" pitchFamily="66" charset="0"/>
                        </a:rPr>
                        <a:t>Among those, </a:t>
                      </a:r>
                      <a:r>
                        <a:rPr lang="en-US" sz="1800" b="1" dirty="0">
                          <a:solidFill>
                            <a:srgbClr val="00FFFF"/>
                          </a:solidFill>
                          <a:latin typeface="Comic Sans MS" panose="030F0702030302020204" pitchFamily="66" charset="0"/>
                        </a:rPr>
                        <a:t>Europe</a:t>
                      </a:r>
                      <a:r>
                        <a:rPr lang="en-US" sz="1800" dirty="0">
                          <a:solidFill>
                            <a:srgbClr val="00FFFF"/>
                          </a:solidFill>
                          <a:latin typeface="Comic Sans MS" panose="030F0702030302020204" pitchFamily="66" charset="0"/>
                        </a:rPr>
                        <a:t> had the highest count with </a:t>
                      </a:r>
                      <a:r>
                        <a:rPr lang="en-US" sz="1800" b="1" dirty="0">
                          <a:solidFill>
                            <a:srgbClr val="00FFFF"/>
                          </a:solidFill>
                          <a:latin typeface="Comic Sans MS" panose="030F0702030302020204" pitchFamily="66" charset="0"/>
                        </a:rPr>
                        <a:t>27 countries</a:t>
                      </a:r>
                      <a:r>
                        <a:rPr lang="en-US" sz="1800" dirty="0">
                          <a:solidFill>
                            <a:srgbClr val="00FFFF"/>
                          </a:solidFill>
                          <a:latin typeface="Comic Sans MS" panose="030F0702030302020204" pitchFamily="66" charset="0"/>
                        </a:rPr>
                        <a:t>, followed by </a:t>
                      </a:r>
                      <a:r>
                        <a:rPr lang="en-US" sz="1800" b="1" dirty="0">
                          <a:solidFill>
                            <a:srgbClr val="00FFFF"/>
                          </a:solidFill>
                          <a:latin typeface="Comic Sans MS" panose="030F0702030302020204" pitchFamily="66" charset="0"/>
                        </a:rPr>
                        <a:t>Asia (9)</a:t>
                      </a:r>
                      <a:r>
                        <a:rPr lang="en-US" sz="1800" dirty="0">
                          <a:solidFill>
                            <a:srgbClr val="00FFFF"/>
                          </a:solidFill>
                          <a:latin typeface="Comic Sans MS" panose="030F0702030302020204" pitchFamily="66" charset="0"/>
                        </a:rPr>
                        <a:t>, </a:t>
                      </a:r>
                      <a:r>
                        <a:rPr lang="en-US" sz="1800" b="1" dirty="0">
                          <a:solidFill>
                            <a:srgbClr val="00FFFF"/>
                          </a:solidFill>
                          <a:latin typeface="Comic Sans MS" panose="030F0702030302020204" pitchFamily="66" charset="0"/>
                        </a:rPr>
                        <a:t>North America (8)</a:t>
                      </a:r>
                      <a:r>
                        <a:rPr lang="en-US" sz="1800" dirty="0">
                          <a:solidFill>
                            <a:srgbClr val="00FFFF"/>
                          </a:solidFill>
                          <a:latin typeface="Comic Sans MS" panose="030F0702030302020204" pitchFamily="66" charset="0"/>
                        </a:rPr>
                        <a:t>, </a:t>
                      </a:r>
                      <a:r>
                        <a:rPr lang="en-US" sz="1800" b="1" dirty="0">
                          <a:solidFill>
                            <a:srgbClr val="00FFFF"/>
                          </a:solidFill>
                          <a:latin typeface="Comic Sans MS" panose="030F0702030302020204" pitchFamily="66" charset="0"/>
                        </a:rPr>
                        <a:t>Oceania (8)</a:t>
                      </a:r>
                      <a:r>
                        <a:rPr lang="en-US" sz="1800" dirty="0">
                          <a:solidFill>
                            <a:srgbClr val="00FFFF"/>
                          </a:solidFill>
                          <a:latin typeface="Comic Sans MS" panose="030F0702030302020204" pitchFamily="66" charset="0"/>
                        </a:rPr>
                        <a:t>, </a:t>
                      </a:r>
                      <a:r>
                        <a:rPr lang="en-US" sz="1800" b="1" dirty="0">
                          <a:solidFill>
                            <a:srgbClr val="00FFFF"/>
                          </a:solidFill>
                          <a:latin typeface="Comic Sans MS" panose="030F0702030302020204" pitchFamily="66" charset="0"/>
                        </a:rPr>
                        <a:t>Africa (4)</a:t>
                      </a:r>
                      <a:r>
                        <a:rPr lang="en-US" sz="1800" dirty="0">
                          <a:solidFill>
                            <a:srgbClr val="00FFFF"/>
                          </a:solidFill>
                          <a:latin typeface="Comic Sans MS" panose="030F0702030302020204" pitchFamily="66" charset="0"/>
                        </a:rPr>
                        <a:t>, and </a:t>
                      </a:r>
                      <a:r>
                        <a:rPr lang="en-US" sz="1800" b="1" dirty="0">
                          <a:solidFill>
                            <a:srgbClr val="00FFFF"/>
                          </a:solidFill>
                          <a:latin typeface="Comic Sans MS" panose="030F0702030302020204" pitchFamily="66" charset="0"/>
                        </a:rPr>
                        <a:t>South America (3)</a:t>
                      </a:r>
                      <a:r>
                        <a:rPr lang="en-US" sz="1800" dirty="0">
                          <a:solidFill>
                            <a:srgbClr val="00FFFF"/>
                          </a:solidFill>
                          <a:latin typeface="Comic Sans MS" panose="030F0702030302020204" pitchFamily="66" charset="0"/>
                        </a:rPr>
                        <a:t>.</a:t>
                      </a:r>
                    </a:p>
                  </a:txBody>
                  <a:tcPr marL="81756" marR="81756" marT="40878" marB="40878" anchor="ctr"/>
                </a:tc>
                <a:extLst>
                  <a:ext uri="{0D108BD9-81ED-4DB2-BD59-A6C34878D82A}">
                    <a16:rowId xmlns:a16="http://schemas.microsoft.com/office/drawing/2014/main" val="2323677492"/>
                  </a:ext>
                </a:extLst>
              </a:tr>
            </a:tbl>
          </a:graphicData>
        </a:graphic>
      </p:graphicFrame>
    </p:spTree>
    <p:extLst>
      <p:ext uri="{BB962C8B-B14F-4D97-AF65-F5344CB8AC3E}">
        <p14:creationId xmlns:p14="http://schemas.microsoft.com/office/powerpoint/2010/main" val="236202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4CE28-A406-F230-1594-40B6D372F0BC}"/>
              </a:ext>
            </a:extLst>
          </p:cNvPr>
          <p:cNvSpPr>
            <a:spLocks noGrp="1"/>
          </p:cNvSpPr>
          <p:nvPr>
            <p:ph type="title"/>
          </p:nvPr>
        </p:nvSpPr>
        <p:spPr>
          <a:xfrm>
            <a:off x="287080" y="365125"/>
            <a:ext cx="4423144" cy="900149"/>
          </a:xfrm>
        </p:spPr>
        <p:txBody>
          <a:bodyPr/>
          <a:lstStyle/>
          <a:p>
            <a:r>
              <a:rPr lang="en-US" b="1" dirty="0">
                <a:latin typeface="+mn-lt"/>
              </a:rPr>
              <a:t>5.Alcohol</a:t>
            </a:r>
            <a:endParaRPr lang="en-IN" b="1" dirty="0">
              <a:latin typeface="+mn-lt"/>
            </a:endParaRPr>
          </a:p>
        </p:txBody>
      </p:sp>
      <p:pic>
        <p:nvPicPr>
          <p:cNvPr id="6" name="Content Placeholder 5">
            <a:extLst>
              <a:ext uri="{FF2B5EF4-FFF2-40B4-BE49-F238E27FC236}">
                <a16:creationId xmlns:a16="http://schemas.microsoft.com/office/drawing/2014/main" id="{87E2AA3F-BFD3-516E-FD8C-DC66DC12F1D5}"/>
              </a:ext>
            </a:extLst>
          </p:cNvPr>
          <p:cNvPicPr>
            <a:picLocks noGrp="1" noChangeAspect="1"/>
          </p:cNvPicPr>
          <p:nvPr>
            <p:ph sz="half" idx="1"/>
          </p:nvPr>
        </p:nvPicPr>
        <p:blipFill>
          <a:blip r:embed="rId2"/>
          <a:stretch>
            <a:fillRect/>
          </a:stretch>
        </p:blipFill>
        <p:spPr>
          <a:xfrm>
            <a:off x="201613" y="1488558"/>
            <a:ext cx="5763252" cy="5004317"/>
          </a:xfrm>
        </p:spPr>
      </p:pic>
      <p:sp>
        <p:nvSpPr>
          <p:cNvPr id="4" name="Content Placeholder 3">
            <a:extLst>
              <a:ext uri="{FF2B5EF4-FFF2-40B4-BE49-F238E27FC236}">
                <a16:creationId xmlns:a16="http://schemas.microsoft.com/office/drawing/2014/main" id="{8EA7EC7E-4B8B-EE9C-1DE1-B610F4292347}"/>
              </a:ext>
            </a:extLst>
          </p:cNvPr>
          <p:cNvSpPr>
            <a:spLocks noGrp="1"/>
          </p:cNvSpPr>
          <p:nvPr>
            <p:ph sz="half" idx="2"/>
          </p:nvPr>
        </p:nvSpPr>
        <p:spPr>
          <a:xfrm>
            <a:off x="6096001" y="365124"/>
            <a:ext cx="5894386" cy="6269591"/>
          </a:xfrm>
        </p:spPr>
        <p:txBody>
          <a:bodyPr>
            <a:normAutofit fontScale="62500" lnSpcReduction="20000"/>
          </a:bodyPr>
          <a:lstStyle/>
          <a:p>
            <a:r>
              <a:rPr lang="en-US" sz="3800" b="1" dirty="0">
                <a:solidFill>
                  <a:srgbClr val="FF0000"/>
                </a:solidFill>
                <a:latin typeface="Comic Sans MS" panose="030F0702030302020204" pitchFamily="66" charset="0"/>
              </a:rPr>
              <a:t>Insight</a:t>
            </a:r>
            <a:r>
              <a:rPr lang="en-US" sz="3800" b="1" dirty="0">
                <a:solidFill>
                  <a:srgbClr val="00FFFF"/>
                </a:solidFill>
                <a:latin typeface="Comic Sans MS" panose="030F0702030302020204" pitchFamily="66" charset="0"/>
              </a:rPr>
              <a:t>:</a:t>
            </a:r>
          </a:p>
          <a:p>
            <a:endParaRPr lang="en-US" dirty="0">
              <a:solidFill>
                <a:srgbClr val="00FFFF"/>
              </a:solidFill>
              <a:latin typeface="Comic Sans MS" panose="030F0702030302020204" pitchFamily="66" charset="0"/>
            </a:endParaRPr>
          </a:p>
          <a:p>
            <a:r>
              <a:rPr lang="it-IT" dirty="0">
                <a:solidFill>
                  <a:srgbClr val="FFFF00"/>
                </a:solidFill>
                <a:latin typeface="Comic Sans MS" panose="030F0702030302020204" pitchFamily="66" charset="0"/>
              </a:rPr>
              <a:t>Alcohol = Per capita alcohol consumption (in litres of pure alcohol) per year.</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1.Alcohol consumption is </a:t>
            </a:r>
            <a:r>
              <a:rPr lang="en-US" b="1" dirty="0">
                <a:solidFill>
                  <a:srgbClr val="FF0000"/>
                </a:solidFill>
                <a:latin typeface="Comic Sans MS" panose="030F0702030302020204" pitchFamily="66" charset="0"/>
              </a:rPr>
              <a:t>not strongly correlated</a:t>
            </a:r>
            <a:r>
              <a:rPr lang="en-US" dirty="0">
                <a:solidFill>
                  <a:srgbClr val="FF0000"/>
                </a:solidFill>
                <a:latin typeface="Comic Sans MS" panose="030F0702030302020204" pitchFamily="66" charset="0"/>
              </a:rPr>
              <a:t> with life expectancy. </a:t>
            </a:r>
            <a:r>
              <a:rPr lang="en-US" dirty="0">
                <a:solidFill>
                  <a:srgbClr val="00FFFF"/>
                </a:solidFill>
                <a:latin typeface="Comic Sans MS" panose="030F0702030302020204" pitchFamily="66" charset="0"/>
              </a:rPr>
              <a:t>In fact, the relationship appears to be weak or inconsistent across different regions.</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2.There are several </a:t>
            </a:r>
            <a:r>
              <a:rPr lang="en-US" b="1" dirty="0">
                <a:solidFill>
                  <a:srgbClr val="FF0000"/>
                </a:solidFill>
                <a:latin typeface="Comic Sans MS" panose="030F0702030302020204" pitchFamily="66" charset="0"/>
              </a:rPr>
              <a:t>European countries</a:t>
            </a:r>
            <a:r>
              <a:rPr lang="en-US" dirty="0">
                <a:solidFill>
                  <a:srgbClr val="FF0000"/>
                </a:solidFill>
                <a:latin typeface="Comic Sans MS" panose="030F0702030302020204" pitchFamily="66" charset="0"/>
              </a:rPr>
              <a:t> where </a:t>
            </a:r>
            <a:r>
              <a:rPr lang="en-US" b="1" dirty="0">
                <a:solidFill>
                  <a:srgbClr val="FF0000"/>
                </a:solidFill>
                <a:latin typeface="Comic Sans MS" panose="030F0702030302020204" pitchFamily="66" charset="0"/>
              </a:rPr>
              <a:t>alcohol consumption is relatively high</a:t>
            </a:r>
            <a:r>
              <a:rPr lang="en-US" dirty="0">
                <a:solidFill>
                  <a:srgbClr val="FF0000"/>
                </a:solidFill>
                <a:latin typeface="Comic Sans MS" panose="030F0702030302020204" pitchFamily="66" charset="0"/>
              </a:rPr>
              <a:t>, yet </a:t>
            </a:r>
            <a:r>
              <a:rPr lang="en-US" b="1" dirty="0">
                <a:solidFill>
                  <a:srgbClr val="FF0000"/>
                </a:solidFill>
                <a:latin typeface="Comic Sans MS" panose="030F0702030302020204" pitchFamily="66" charset="0"/>
              </a:rPr>
              <a:t>life expectancy is also high</a:t>
            </a:r>
            <a:r>
              <a:rPr lang="en-US" dirty="0">
                <a:solidFill>
                  <a:srgbClr val="FF0000"/>
                </a:solidFill>
                <a:latin typeface="Comic Sans MS" panose="030F0702030302020204" pitchFamily="66" charset="0"/>
              </a:rPr>
              <a:t> </a:t>
            </a:r>
            <a:r>
              <a:rPr lang="en-US" dirty="0">
                <a:solidFill>
                  <a:srgbClr val="00FFFF"/>
                </a:solidFill>
                <a:latin typeface="Comic Sans MS" panose="030F0702030302020204" pitchFamily="66" charset="0"/>
              </a:rPr>
              <a:t>— suggesting that high alcohol intake does not necessarily lead to lower life expectancy in those regions.</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3.On the other hand, </a:t>
            </a:r>
            <a:r>
              <a:rPr lang="en-US" dirty="0">
                <a:solidFill>
                  <a:srgbClr val="FF0000"/>
                </a:solidFill>
                <a:latin typeface="Comic Sans MS" panose="030F0702030302020204" pitchFamily="66" charset="0"/>
              </a:rPr>
              <a:t>many </a:t>
            </a:r>
            <a:r>
              <a:rPr lang="en-US" b="1" dirty="0">
                <a:solidFill>
                  <a:srgbClr val="FF0000"/>
                </a:solidFill>
                <a:latin typeface="Comic Sans MS" panose="030F0702030302020204" pitchFamily="66" charset="0"/>
              </a:rPr>
              <a:t>African countries</a:t>
            </a:r>
            <a:r>
              <a:rPr lang="en-US" dirty="0">
                <a:solidFill>
                  <a:srgbClr val="FF0000"/>
                </a:solidFill>
                <a:latin typeface="Comic Sans MS" panose="030F0702030302020204" pitchFamily="66" charset="0"/>
              </a:rPr>
              <a:t> have </a:t>
            </a:r>
            <a:r>
              <a:rPr lang="en-US" b="1" dirty="0">
                <a:solidFill>
                  <a:srgbClr val="FF0000"/>
                </a:solidFill>
                <a:latin typeface="Comic Sans MS" panose="030F0702030302020204" pitchFamily="66" charset="0"/>
              </a:rPr>
              <a:t>very low levels of alcohol consumption</a:t>
            </a:r>
            <a:r>
              <a:rPr lang="en-US" dirty="0">
                <a:solidFill>
                  <a:srgbClr val="FF0000"/>
                </a:solidFill>
                <a:latin typeface="Comic Sans MS" panose="030F0702030302020204" pitchFamily="66" charset="0"/>
              </a:rPr>
              <a:t>, but still suffer from </a:t>
            </a:r>
            <a:r>
              <a:rPr lang="en-US" b="1" dirty="0">
                <a:solidFill>
                  <a:srgbClr val="FF0000"/>
                </a:solidFill>
                <a:latin typeface="Comic Sans MS" panose="030F0702030302020204" pitchFamily="66" charset="0"/>
              </a:rPr>
              <a:t>low life expectancy</a:t>
            </a:r>
            <a:r>
              <a:rPr lang="en-US" dirty="0">
                <a:solidFill>
                  <a:srgbClr val="00FFFF"/>
                </a:solidFill>
                <a:latin typeface="Comic Sans MS" panose="030F0702030302020204" pitchFamily="66" charset="0"/>
              </a:rPr>
              <a:t>. This indicates that other factors, such as healthcare access, disease burden, or economic conditions, play a much more significant role in influencing life expectancy than alcohol alone.</a:t>
            </a:r>
          </a:p>
          <a:p>
            <a:endParaRPr lang="en-IN" dirty="0">
              <a:solidFill>
                <a:srgbClr val="00FFFF"/>
              </a:solidFill>
              <a:latin typeface="Comic Sans MS" panose="030F0702030302020204" pitchFamily="66" charset="0"/>
            </a:endParaRPr>
          </a:p>
        </p:txBody>
      </p:sp>
    </p:spTree>
    <p:extLst>
      <p:ext uri="{BB962C8B-B14F-4D97-AF65-F5344CB8AC3E}">
        <p14:creationId xmlns:p14="http://schemas.microsoft.com/office/powerpoint/2010/main" val="444311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F1EE-7206-EFFB-CFD5-4208C49005B1}"/>
              </a:ext>
            </a:extLst>
          </p:cNvPr>
          <p:cNvSpPr>
            <a:spLocks noGrp="1"/>
          </p:cNvSpPr>
          <p:nvPr>
            <p:ph type="title"/>
          </p:nvPr>
        </p:nvSpPr>
        <p:spPr>
          <a:xfrm>
            <a:off x="191386" y="278809"/>
            <a:ext cx="11162414" cy="582428"/>
          </a:xfrm>
        </p:spPr>
        <p:txBody>
          <a:bodyPr>
            <a:normAutofit fontScale="90000"/>
          </a:bodyPr>
          <a:lstStyle/>
          <a:p>
            <a:r>
              <a:rPr lang="en-US" b="1" dirty="0">
                <a:latin typeface="+mn-lt"/>
              </a:rPr>
              <a:t>Key Insight:</a:t>
            </a:r>
            <a:endParaRPr lang="en-IN" b="1" dirty="0">
              <a:latin typeface="+mn-lt"/>
            </a:endParaRPr>
          </a:p>
        </p:txBody>
      </p:sp>
      <p:graphicFrame>
        <p:nvGraphicFramePr>
          <p:cNvPr id="4" name="Content Placeholder 3">
            <a:extLst>
              <a:ext uri="{FF2B5EF4-FFF2-40B4-BE49-F238E27FC236}">
                <a16:creationId xmlns:a16="http://schemas.microsoft.com/office/drawing/2014/main" id="{7182910A-6E6B-D3E8-51C1-8013740E2A20}"/>
              </a:ext>
            </a:extLst>
          </p:cNvPr>
          <p:cNvGraphicFramePr>
            <a:graphicFrameLocks noGrp="1"/>
          </p:cNvGraphicFramePr>
          <p:nvPr>
            <p:ph idx="1"/>
            <p:extLst>
              <p:ext uri="{D42A27DB-BD31-4B8C-83A1-F6EECF244321}">
                <p14:modId xmlns:p14="http://schemas.microsoft.com/office/powerpoint/2010/main" val="522370047"/>
              </p:ext>
            </p:extLst>
          </p:nvPr>
        </p:nvGraphicFramePr>
        <p:xfrm>
          <a:off x="74428" y="1083265"/>
          <a:ext cx="11926186" cy="5712940"/>
        </p:xfrm>
        <a:graphic>
          <a:graphicData uri="http://schemas.openxmlformats.org/drawingml/2006/table">
            <a:tbl>
              <a:tblPr>
                <a:tableStyleId>{616DA210-FB5B-4158-B5E0-FEB733F419BA}</a:tableStyleId>
              </a:tblPr>
              <a:tblGrid>
                <a:gridCol w="5963093">
                  <a:extLst>
                    <a:ext uri="{9D8B030D-6E8A-4147-A177-3AD203B41FA5}">
                      <a16:colId xmlns:a16="http://schemas.microsoft.com/office/drawing/2014/main" val="1725807753"/>
                    </a:ext>
                  </a:extLst>
                </a:gridCol>
                <a:gridCol w="5963093">
                  <a:extLst>
                    <a:ext uri="{9D8B030D-6E8A-4147-A177-3AD203B41FA5}">
                      <a16:colId xmlns:a16="http://schemas.microsoft.com/office/drawing/2014/main" val="2173550493"/>
                    </a:ext>
                  </a:extLst>
                </a:gridCol>
              </a:tblGrid>
              <a:tr h="563652">
                <a:tc>
                  <a:txBody>
                    <a:bodyPr/>
                    <a:lstStyle/>
                    <a:p>
                      <a:r>
                        <a:rPr lang="en-IN" b="1" dirty="0">
                          <a:solidFill>
                            <a:schemeClr val="tx1"/>
                          </a:solidFill>
                          <a:latin typeface="Comic Sans MS" panose="030F0702030302020204" pitchFamily="66" charset="0"/>
                        </a:rPr>
                        <a:t>Category</a:t>
                      </a:r>
                      <a:endParaRPr lang="en-IN" dirty="0">
                        <a:solidFill>
                          <a:schemeClr val="tx1"/>
                        </a:solidFill>
                        <a:latin typeface="Comic Sans MS" panose="030F0702030302020204" pitchFamily="66" charset="0"/>
                      </a:endParaRPr>
                    </a:p>
                  </a:txBody>
                  <a:tcPr anchor="ctr"/>
                </a:tc>
                <a:tc>
                  <a:txBody>
                    <a:bodyPr/>
                    <a:lstStyle/>
                    <a:p>
                      <a:r>
                        <a:rPr lang="en-IN" b="1">
                          <a:solidFill>
                            <a:srgbClr val="FFFF00"/>
                          </a:solidFill>
                          <a:latin typeface="Comic Sans MS" panose="030F0702030302020204" pitchFamily="66" charset="0"/>
                        </a:rPr>
                        <a:t>Details</a:t>
                      </a:r>
                      <a:endParaRPr lang="en-IN">
                        <a:solidFill>
                          <a:srgbClr val="FFFF00"/>
                        </a:solidFill>
                        <a:latin typeface="Comic Sans MS" panose="030F0702030302020204" pitchFamily="66" charset="0"/>
                      </a:endParaRPr>
                    </a:p>
                  </a:txBody>
                  <a:tcPr anchor="ctr"/>
                </a:tc>
                <a:extLst>
                  <a:ext uri="{0D108BD9-81ED-4DB2-BD59-A6C34878D82A}">
                    <a16:rowId xmlns:a16="http://schemas.microsoft.com/office/drawing/2014/main" val="498701786"/>
                  </a:ext>
                </a:extLst>
              </a:tr>
              <a:tr h="563652">
                <a:tc>
                  <a:txBody>
                    <a:bodyPr/>
                    <a:lstStyle/>
                    <a:p>
                      <a:r>
                        <a:rPr lang="en-US" b="1">
                          <a:solidFill>
                            <a:schemeClr val="tx1"/>
                          </a:solidFill>
                          <a:latin typeface="Comic Sans MS" panose="030F0702030302020204" pitchFamily="66" charset="0"/>
                        </a:rPr>
                        <a:t>Highest Avg. Alcohol Consumption by Continent</a:t>
                      </a:r>
                      <a:endParaRPr lang="en-US">
                        <a:solidFill>
                          <a:schemeClr val="tx1"/>
                        </a:solidFill>
                        <a:latin typeface="Comic Sans MS" panose="030F0702030302020204" pitchFamily="66" charset="0"/>
                      </a:endParaRPr>
                    </a:p>
                  </a:txBody>
                  <a:tcPr anchor="ctr"/>
                </a:tc>
                <a:tc>
                  <a:txBody>
                    <a:bodyPr/>
                    <a:lstStyle/>
                    <a:p>
                      <a:r>
                        <a:rPr lang="en-US" b="1" dirty="0">
                          <a:solidFill>
                            <a:srgbClr val="FFFF00"/>
                          </a:solidFill>
                          <a:latin typeface="Comic Sans MS" panose="030F0702030302020204" pitchFamily="66" charset="0"/>
                        </a:rPr>
                        <a:t>Europe</a:t>
                      </a:r>
                      <a:r>
                        <a:rPr lang="en-US" dirty="0">
                          <a:solidFill>
                            <a:srgbClr val="FFFF00"/>
                          </a:solidFill>
                          <a:latin typeface="Comic Sans MS" panose="030F0702030302020204" pitchFamily="66" charset="0"/>
                        </a:rPr>
                        <a:t> — 9.4 liters per person per year (on average)</a:t>
                      </a:r>
                    </a:p>
                  </a:txBody>
                  <a:tcPr anchor="ctr"/>
                </a:tc>
                <a:extLst>
                  <a:ext uri="{0D108BD9-81ED-4DB2-BD59-A6C34878D82A}">
                    <a16:rowId xmlns:a16="http://schemas.microsoft.com/office/drawing/2014/main" val="2191951762"/>
                  </a:ext>
                </a:extLst>
              </a:tr>
              <a:tr h="986389">
                <a:tc>
                  <a:txBody>
                    <a:bodyPr/>
                    <a:lstStyle/>
                    <a:p>
                      <a:r>
                        <a:rPr lang="en-US" b="1">
                          <a:solidFill>
                            <a:schemeClr val="tx1"/>
                          </a:solidFill>
                          <a:latin typeface="Comic Sans MS" panose="030F0702030302020204" pitchFamily="66" charset="0"/>
                        </a:rPr>
                        <a:t>Top 5 Countries by Avg. Alcohol Consumption (All Years)</a:t>
                      </a:r>
                      <a:endParaRPr lang="en-US">
                        <a:solidFill>
                          <a:schemeClr val="tx1"/>
                        </a:solidFill>
                        <a:latin typeface="Comic Sans MS" panose="030F0702030302020204" pitchFamily="66" charset="0"/>
                      </a:endParaRPr>
                    </a:p>
                  </a:txBody>
                  <a:tcPr anchor="ctr"/>
                </a:tc>
                <a:tc>
                  <a:txBody>
                    <a:bodyPr/>
                    <a:lstStyle/>
                    <a:p>
                      <a:r>
                        <a:rPr lang="en-IN">
                          <a:solidFill>
                            <a:srgbClr val="FFFF00"/>
                          </a:solidFill>
                          <a:latin typeface="Comic Sans MS" panose="030F0702030302020204" pitchFamily="66" charset="0"/>
                        </a:rPr>
                        <a:t>1. </a:t>
                      </a:r>
                      <a:r>
                        <a:rPr lang="en-IN" b="1">
                          <a:solidFill>
                            <a:srgbClr val="FFFF00"/>
                          </a:solidFill>
                          <a:latin typeface="Comic Sans MS" panose="030F0702030302020204" pitchFamily="66" charset="0"/>
                        </a:rPr>
                        <a:t>Belarus</a:t>
                      </a:r>
                      <a:r>
                        <a:rPr lang="en-IN">
                          <a:solidFill>
                            <a:srgbClr val="FFFF00"/>
                          </a:solidFill>
                          <a:latin typeface="Comic Sans MS" panose="030F0702030302020204" pitchFamily="66" charset="0"/>
                        </a:rPr>
                        <a:t> (13.5) 2. </a:t>
                      </a:r>
                      <a:r>
                        <a:rPr lang="en-IN" b="1">
                          <a:solidFill>
                            <a:srgbClr val="FFFF00"/>
                          </a:solidFill>
                          <a:latin typeface="Comic Sans MS" panose="030F0702030302020204" pitchFamily="66" charset="0"/>
                        </a:rPr>
                        <a:t>Czechia</a:t>
                      </a:r>
                      <a:r>
                        <a:rPr lang="en-IN">
                          <a:solidFill>
                            <a:srgbClr val="FFFF00"/>
                          </a:solidFill>
                          <a:latin typeface="Comic Sans MS" panose="030F0702030302020204" pitchFamily="66" charset="0"/>
                        </a:rPr>
                        <a:t> (13.0) 3. </a:t>
                      </a:r>
                      <a:r>
                        <a:rPr lang="en-IN" b="1">
                          <a:solidFill>
                            <a:srgbClr val="FFFF00"/>
                          </a:solidFill>
                          <a:latin typeface="Comic Sans MS" panose="030F0702030302020204" pitchFamily="66" charset="0"/>
                        </a:rPr>
                        <a:t>Lithuania</a:t>
                      </a:r>
                      <a:r>
                        <a:rPr lang="en-IN">
                          <a:solidFill>
                            <a:srgbClr val="FFFF00"/>
                          </a:solidFill>
                          <a:latin typeface="Comic Sans MS" panose="030F0702030302020204" pitchFamily="66" charset="0"/>
                        </a:rPr>
                        <a:t> (12.7) 4. </a:t>
                      </a:r>
                      <a:r>
                        <a:rPr lang="en-IN" b="1">
                          <a:solidFill>
                            <a:srgbClr val="FFFF00"/>
                          </a:solidFill>
                          <a:latin typeface="Comic Sans MS" panose="030F0702030302020204" pitchFamily="66" charset="0"/>
                        </a:rPr>
                        <a:t>Ireland</a:t>
                      </a:r>
                      <a:r>
                        <a:rPr lang="en-IN">
                          <a:solidFill>
                            <a:srgbClr val="FFFF00"/>
                          </a:solidFill>
                          <a:latin typeface="Comic Sans MS" panose="030F0702030302020204" pitchFamily="66" charset="0"/>
                        </a:rPr>
                        <a:t> (12.5) 5. </a:t>
                      </a:r>
                      <a:r>
                        <a:rPr lang="en-IN" b="1">
                          <a:solidFill>
                            <a:srgbClr val="FFFF00"/>
                          </a:solidFill>
                          <a:latin typeface="Comic Sans MS" panose="030F0702030302020204" pitchFamily="66" charset="0"/>
                        </a:rPr>
                        <a:t>Croatia</a:t>
                      </a:r>
                      <a:r>
                        <a:rPr lang="en-IN">
                          <a:solidFill>
                            <a:srgbClr val="FFFF00"/>
                          </a:solidFill>
                          <a:latin typeface="Comic Sans MS" panose="030F0702030302020204" pitchFamily="66" charset="0"/>
                        </a:rPr>
                        <a:t> (12.4) All from Europe</a:t>
                      </a:r>
                    </a:p>
                  </a:txBody>
                  <a:tcPr anchor="ctr"/>
                </a:tc>
                <a:extLst>
                  <a:ext uri="{0D108BD9-81ED-4DB2-BD59-A6C34878D82A}">
                    <a16:rowId xmlns:a16="http://schemas.microsoft.com/office/drawing/2014/main" val="1746653976"/>
                  </a:ext>
                </a:extLst>
              </a:tr>
              <a:tr h="986389">
                <a:tc>
                  <a:txBody>
                    <a:bodyPr/>
                    <a:lstStyle/>
                    <a:p>
                      <a:r>
                        <a:rPr lang="en-US" b="1">
                          <a:solidFill>
                            <a:schemeClr val="tx1"/>
                          </a:solidFill>
                          <a:latin typeface="Comic Sans MS" panose="030F0702030302020204" pitchFamily="66" charset="0"/>
                        </a:rPr>
                        <a:t>Top 5 Countries by Highest Alcohol Consumption in a Single Year</a:t>
                      </a:r>
                      <a:endParaRPr lang="en-US">
                        <a:solidFill>
                          <a:schemeClr val="tx1"/>
                        </a:solidFill>
                        <a:latin typeface="Comic Sans MS" panose="030F0702030302020204" pitchFamily="66" charset="0"/>
                      </a:endParaRPr>
                    </a:p>
                  </a:txBody>
                  <a:tcPr anchor="ctr"/>
                </a:tc>
                <a:tc>
                  <a:txBody>
                    <a:bodyPr/>
                    <a:lstStyle/>
                    <a:p>
                      <a:r>
                        <a:rPr lang="pt-BR">
                          <a:solidFill>
                            <a:srgbClr val="FFFF00"/>
                          </a:solidFill>
                          <a:latin typeface="Comic Sans MS" panose="030F0702030302020204" pitchFamily="66" charset="0"/>
                        </a:rPr>
                        <a:t>1. </a:t>
                      </a:r>
                      <a:r>
                        <a:rPr lang="pt-BR" b="1">
                          <a:solidFill>
                            <a:srgbClr val="FFFF00"/>
                          </a:solidFill>
                          <a:latin typeface="Comic Sans MS" panose="030F0702030302020204" pitchFamily="66" charset="0"/>
                        </a:rPr>
                        <a:t>Estonia</a:t>
                      </a:r>
                      <a:r>
                        <a:rPr lang="pt-BR">
                          <a:solidFill>
                            <a:srgbClr val="FFFF00"/>
                          </a:solidFill>
                          <a:latin typeface="Comic Sans MS" panose="030F0702030302020204" pitchFamily="66" charset="0"/>
                        </a:rPr>
                        <a:t> (17.87) 2. </a:t>
                      </a:r>
                      <a:r>
                        <a:rPr lang="pt-BR" b="1">
                          <a:solidFill>
                            <a:srgbClr val="FFFF00"/>
                          </a:solidFill>
                          <a:latin typeface="Comic Sans MS" panose="030F0702030302020204" pitchFamily="66" charset="0"/>
                        </a:rPr>
                        <a:t>Belarus</a:t>
                      </a:r>
                      <a:r>
                        <a:rPr lang="pt-BR">
                          <a:solidFill>
                            <a:srgbClr val="FFFF00"/>
                          </a:solidFill>
                          <a:latin typeface="Comic Sans MS" panose="030F0702030302020204" pitchFamily="66" charset="0"/>
                        </a:rPr>
                        <a:t> (17.31) 3. </a:t>
                      </a:r>
                      <a:r>
                        <a:rPr lang="pt-BR" b="1">
                          <a:solidFill>
                            <a:srgbClr val="FFFF00"/>
                          </a:solidFill>
                          <a:latin typeface="Comic Sans MS" panose="030F0702030302020204" pitchFamily="66" charset="0"/>
                        </a:rPr>
                        <a:t>Lithuania</a:t>
                      </a:r>
                      <a:r>
                        <a:rPr lang="pt-BR">
                          <a:solidFill>
                            <a:srgbClr val="FFFF00"/>
                          </a:solidFill>
                          <a:latin typeface="Comic Sans MS" panose="030F0702030302020204" pitchFamily="66" charset="0"/>
                        </a:rPr>
                        <a:t> (15.19) 4. </a:t>
                      </a:r>
                      <a:r>
                        <a:rPr lang="pt-BR" b="1">
                          <a:solidFill>
                            <a:srgbClr val="FFFF00"/>
                          </a:solidFill>
                          <a:latin typeface="Comic Sans MS" panose="030F0702030302020204" pitchFamily="66" charset="0"/>
                        </a:rPr>
                        <a:t>Ireland</a:t>
                      </a:r>
                      <a:r>
                        <a:rPr lang="pt-BR">
                          <a:solidFill>
                            <a:srgbClr val="FFFF00"/>
                          </a:solidFill>
                          <a:latin typeface="Comic Sans MS" panose="030F0702030302020204" pitchFamily="66" charset="0"/>
                        </a:rPr>
                        <a:t> (14.27) 5. </a:t>
                      </a:r>
                      <a:r>
                        <a:rPr lang="pt-BR" b="1">
                          <a:solidFill>
                            <a:srgbClr val="FFFF00"/>
                          </a:solidFill>
                          <a:latin typeface="Comic Sans MS" panose="030F0702030302020204" pitchFamily="66" charset="0"/>
                        </a:rPr>
                        <a:t>Portugal</a:t>
                      </a:r>
                      <a:r>
                        <a:rPr lang="pt-BR">
                          <a:solidFill>
                            <a:srgbClr val="FFFF00"/>
                          </a:solidFill>
                          <a:latin typeface="Comic Sans MS" panose="030F0702030302020204" pitchFamily="66" charset="0"/>
                        </a:rPr>
                        <a:t> (14.21)</a:t>
                      </a:r>
                    </a:p>
                  </a:txBody>
                  <a:tcPr anchor="ctr"/>
                </a:tc>
                <a:extLst>
                  <a:ext uri="{0D108BD9-81ED-4DB2-BD59-A6C34878D82A}">
                    <a16:rowId xmlns:a16="http://schemas.microsoft.com/office/drawing/2014/main" val="331254333"/>
                  </a:ext>
                </a:extLst>
              </a:tr>
              <a:tr h="986389">
                <a:tc>
                  <a:txBody>
                    <a:bodyPr/>
                    <a:lstStyle/>
                    <a:p>
                      <a:r>
                        <a:rPr lang="en-US" b="1">
                          <a:solidFill>
                            <a:schemeClr val="tx1"/>
                          </a:solidFill>
                          <a:latin typeface="Comic Sans MS" panose="030F0702030302020204" pitchFamily="66" charset="0"/>
                        </a:rPr>
                        <a:t>Top 5 Countries by Alcohol Consumption in 2015</a:t>
                      </a:r>
                      <a:endParaRPr lang="en-US">
                        <a:solidFill>
                          <a:schemeClr val="tx1"/>
                        </a:solidFill>
                        <a:latin typeface="Comic Sans MS" panose="030F0702030302020204" pitchFamily="66" charset="0"/>
                      </a:endParaRPr>
                    </a:p>
                  </a:txBody>
                  <a:tcPr anchor="ctr"/>
                </a:tc>
                <a:tc>
                  <a:txBody>
                    <a:bodyPr/>
                    <a:lstStyle/>
                    <a:p>
                      <a:r>
                        <a:rPr lang="en-IN">
                          <a:solidFill>
                            <a:srgbClr val="FFFF00"/>
                          </a:solidFill>
                          <a:latin typeface="Comic Sans MS" panose="030F0702030302020204" pitchFamily="66" charset="0"/>
                        </a:rPr>
                        <a:t>1. </a:t>
                      </a:r>
                      <a:r>
                        <a:rPr lang="en-IN" b="1">
                          <a:solidFill>
                            <a:srgbClr val="FFFF00"/>
                          </a:solidFill>
                          <a:latin typeface="Comic Sans MS" panose="030F0702030302020204" pitchFamily="66" charset="0"/>
                        </a:rPr>
                        <a:t>Lithuania</a:t>
                      </a:r>
                      <a:r>
                        <a:rPr lang="en-IN">
                          <a:solidFill>
                            <a:srgbClr val="FFFF00"/>
                          </a:solidFill>
                          <a:latin typeface="Comic Sans MS" panose="030F0702030302020204" pitchFamily="66" charset="0"/>
                        </a:rPr>
                        <a:t> (15.29) 2. </a:t>
                      </a:r>
                      <a:r>
                        <a:rPr lang="en-IN" b="1">
                          <a:solidFill>
                            <a:srgbClr val="FFFF00"/>
                          </a:solidFill>
                          <a:latin typeface="Comic Sans MS" panose="030F0702030302020204" pitchFamily="66" charset="0"/>
                        </a:rPr>
                        <a:t>Belarus</a:t>
                      </a:r>
                      <a:r>
                        <a:rPr lang="en-IN">
                          <a:solidFill>
                            <a:srgbClr val="FFFF00"/>
                          </a:solidFill>
                          <a:latin typeface="Comic Sans MS" panose="030F0702030302020204" pitchFamily="66" charset="0"/>
                        </a:rPr>
                        <a:t> (13.94) 3. </a:t>
                      </a:r>
                      <a:r>
                        <a:rPr lang="en-IN" b="1">
                          <a:solidFill>
                            <a:srgbClr val="FFFF00"/>
                          </a:solidFill>
                          <a:latin typeface="Comic Sans MS" panose="030F0702030302020204" pitchFamily="66" charset="0"/>
                        </a:rPr>
                        <a:t>Czechia</a:t>
                      </a:r>
                      <a:r>
                        <a:rPr lang="en-IN">
                          <a:solidFill>
                            <a:srgbClr val="FFFF00"/>
                          </a:solidFill>
                          <a:latin typeface="Comic Sans MS" panose="030F0702030302020204" pitchFamily="66" charset="0"/>
                        </a:rPr>
                        <a:t> (12.68) 4. </a:t>
                      </a:r>
                      <a:r>
                        <a:rPr lang="en-IN" b="1">
                          <a:solidFill>
                            <a:srgbClr val="FFFF00"/>
                          </a:solidFill>
                          <a:latin typeface="Comic Sans MS" panose="030F0702030302020204" pitchFamily="66" charset="0"/>
                        </a:rPr>
                        <a:t>Belgium</a:t>
                      </a:r>
                      <a:r>
                        <a:rPr lang="en-IN">
                          <a:solidFill>
                            <a:srgbClr val="FFFF00"/>
                          </a:solidFill>
                          <a:latin typeface="Comic Sans MS" panose="030F0702030302020204" pitchFamily="66" charset="0"/>
                        </a:rPr>
                        <a:t> (12.60) 5. </a:t>
                      </a:r>
                      <a:r>
                        <a:rPr lang="en-IN" b="1">
                          <a:solidFill>
                            <a:srgbClr val="FFFF00"/>
                          </a:solidFill>
                          <a:latin typeface="Comic Sans MS" panose="030F0702030302020204" pitchFamily="66" charset="0"/>
                        </a:rPr>
                        <a:t>Austria</a:t>
                      </a:r>
                      <a:r>
                        <a:rPr lang="en-IN">
                          <a:solidFill>
                            <a:srgbClr val="FFFF00"/>
                          </a:solidFill>
                          <a:latin typeface="Comic Sans MS" panose="030F0702030302020204" pitchFamily="66" charset="0"/>
                        </a:rPr>
                        <a:t> (12.32)</a:t>
                      </a:r>
                    </a:p>
                  </a:txBody>
                  <a:tcPr anchor="ctr"/>
                </a:tc>
                <a:extLst>
                  <a:ext uri="{0D108BD9-81ED-4DB2-BD59-A6C34878D82A}">
                    <a16:rowId xmlns:a16="http://schemas.microsoft.com/office/drawing/2014/main" val="1456723741"/>
                  </a:ext>
                </a:extLst>
              </a:tr>
              <a:tr h="563652">
                <a:tc>
                  <a:txBody>
                    <a:bodyPr/>
                    <a:lstStyle/>
                    <a:p>
                      <a:r>
                        <a:rPr lang="en-US" b="1" dirty="0">
                          <a:solidFill>
                            <a:schemeClr val="tx1"/>
                          </a:solidFill>
                          <a:latin typeface="Comic Sans MS" panose="030F0702030302020204" pitchFamily="66" charset="0"/>
                        </a:rPr>
                        <a:t>Countries with Notable alcohol  Increase in 2015 vs 2014</a:t>
                      </a:r>
                      <a:endParaRPr lang="en-US" dirty="0">
                        <a:solidFill>
                          <a:schemeClr val="tx1"/>
                        </a:solidFill>
                        <a:latin typeface="Comic Sans MS" panose="030F0702030302020204" pitchFamily="66" charset="0"/>
                      </a:endParaRPr>
                    </a:p>
                  </a:txBody>
                  <a:tcPr anchor="ctr"/>
                </a:tc>
                <a:tc>
                  <a:txBody>
                    <a:bodyPr/>
                    <a:lstStyle/>
                    <a:p>
                      <a:r>
                        <a:rPr lang="en-IN">
                          <a:solidFill>
                            <a:srgbClr val="FFFF00"/>
                          </a:solidFill>
                          <a:latin typeface="Comic Sans MS" panose="030F0702030302020204" pitchFamily="66" charset="0"/>
                        </a:rPr>
                        <a:t>- </a:t>
                      </a:r>
                      <a:r>
                        <a:rPr lang="en-IN" b="1">
                          <a:solidFill>
                            <a:srgbClr val="FFFF00"/>
                          </a:solidFill>
                          <a:latin typeface="Comic Sans MS" panose="030F0702030302020204" pitchFamily="66" charset="0"/>
                        </a:rPr>
                        <a:t>UK</a:t>
                      </a:r>
                      <a:r>
                        <a:rPr lang="en-IN">
                          <a:solidFill>
                            <a:srgbClr val="FFFF00"/>
                          </a:solidFill>
                          <a:latin typeface="Comic Sans MS" panose="030F0702030302020204" pitchFamily="66" charset="0"/>
                        </a:rPr>
                        <a:t>: +0.29 - </a:t>
                      </a:r>
                      <a:r>
                        <a:rPr lang="en-IN" b="1">
                          <a:solidFill>
                            <a:srgbClr val="FFFF00"/>
                          </a:solidFill>
                          <a:latin typeface="Comic Sans MS" panose="030F0702030302020204" pitchFamily="66" charset="0"/>
                        </a:rPr>
                        <a:t>Albania</a:t>
                      </a:r>
                      <a:r>
                        <a:rPr lang="en-IN">
                          <a:solidFill>
                            <a:srgbClr val="FFFF00"/>
                          </a:solidFill>
                          <a:latin typeface="Comic Sans MS" panose="030F0702030302020204" pitchFamily="66" charset="0"/>
                        </a:rPr>
                        <a:t>: +0.09</a:t>
                      </a:r>
                    </a:p>
                  </a:txBody>
                  <a:tcPr anchor="ctr"/>
                </a:tc>
                <a:extLst>
                  <a:ext uri="{0D108BD9-81ED-4DB2-BD59-A6C34878D82A}">
                    <a16:rowId xmlns:a16="http://schemas.microsoft.com/office/drawing/2014/main" val="2919149835"/>
                  </a:ext>
                </a:extLst>
              </a:tr>
              <a:tr h="986389">
                <a:tc>
                  <a:txBody>
                    <a:bodyPr/>
                    <a:lstStyle/>
                    <a:p>
                      <a:r>
                        <a:rPr lang="en-US" b="1" dirty="0">
                          <a:solidFill>
                            <a:schemeClr val="tx1"/>
                          </a:solidFill>
                          <a:latin typeface="Comic Sans MS" panose="030F0702030302020204" pitchFamily="66" charset="0"/>
                        </a:rPr>
                        <a:t>Countries with Highest Decrease in 2015 vs 2014</a:t>
                      </a:r>
                      <a:endParaRPr lang="en-US" dirty="0">
                        <a:solidFill>
                          <a:schemeClr val="tx1"/>
                        </a:solidFill>
                        <a:latin typeface="Comic Sans MS" panose="030F0702030302020204" pitchFamily="66" charset="0"/>
                      </a:endParaRPr>
                    </a:p>
                  </a:txBody>
                  <a:tcPr anchor="ctr"/>
                </a:tc>
                <a:tc>
                  <a:txBody>
                    <a:bodyPr/>
                    <a:lstStyle/>
                    <a:p>
                      <a:r>
                        <a:rPr lang="en-IN" dirty="0">
                          <a:solidFill>
                            <a:srgbClr val="FFFF00"/>
                          </a:solidFill>
                          <a:latin typeface="Comic Sans MS" panose="030F0702030302020204" pitchFamily="66" charset="0"/>
                        </a:rPr>
                        <a:t>- </a:t>
                      </a:r>
                      <a:r>
                        <a:rPr lang="en-IN" b="1" dirty="0">
                          <a:solidFill>
                            <a:srgbClr val="FFFF00"/>
                          </a:solidFill>
                          <a:latin typeface="Comic Sans MS" panose="030F0702030302020204" pitchFamily="66" charset="0"/>
                        </a:rPr>
                        <a:t>New Zealand</a:t>
                      </a:r>
                      <a:r>
                        <a:rPr lang="en-IN" dirty="0">
                          <a:solidFill>
                            <a:srgbClr val="FFFF00"/>
                          </a:solidFill>
                          <a:latin typeface="Comic Sans MS" panose="030F0702030302020204" pitchFamily="66" charset="0"/>
                        </a:rPr>
                        <a:t>: −0.37 - </a:t>
                      </a:r>
                      <a:r>
                        <a:rPr lang="en-IN" b="1" dirty="0">
                          <a:solidFill>
                            <a:srgbClr val="FFFF00"/>
                          </a:solidFill>
                          <a:latin typeface="Comic Sans MS" panose="030F0702030302020204" pitchFamily="66" charset="0"/>
                        </a:rPr>
                        <a:t>Norway</a:t>
                      </a:r>
                      <a:r>
                        <a:rPr lang="en-IN" dirty="0">
                          <a:solidFill>
                            <a:srgbClr val="FFFF00"/>
                          </a:solidFill>
                          <a:latin typeface="Comic Sans MS" panose="030F0702030302020204" pitchFamily="66" charset="0"/>
                        </a:rPr>
                        <a:t>: −0.09 - </a:t>
                      </a:r>
                      <a:r>
                        <a:rPr lang="en-IN" b="1" dirty="0">
                          <a:solidFill>
                            <a:srgbClr val="FFFF00"/>
                          </a:solidFill>
                          <a:latin typeface="Comic Sans MS" panose="030F0702030302020204" pitchFamily="66" charset="0"/>
                        </a:rPr>
                        <a:t>Singapore</a:t>
                      </a:r>
                      <a:r>
                        <a:rPr lang="en-IN" dirty="0">
                          <a:solidFill>
                            <a:srgbClr val="FFFF00"/>
                          </a:solidFill>
                          <a:latin typeface="Comic Sans MS" panose="030F0702030302020204" pitchFamily="66" charset="0"/>
                        </a:rPr>
                        <a:t>: −0.04</a:t>
                      </a:r>
                    </a:p>
                  </a:txBody>
                  <a:tcPr anchor="ctr"/>
                </a:tc>
                <a:extLst>
                  <a:ext uri="{0D108BD9-81ED-4DB2-BD59-A6C34878D82A}">
                    <a16:rowId xmlns:a16="http://schemas.microsoft.com/office/drawing/2014/main" val="935164030"/>
                  </a:ext>
                </a:extLst>
              </a:tr>
            </a:tbl>
          </a:graphicData>
        </a:graphic>
      </p:graphicFrame>
    </p:spTree>
    <p:extLst>
      <p:ext uri="{BB962C8B-B14F-4D97-AF65-F5344CB8AC3E}">
        <p14:creationId xmlns:p14="http://schemas.microsoft.com/office/powerpoint/2010/main" val="2433809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55416-2F05-D81B-927A-DB736E17A953}"/>
              </a:ext>
            </a:extLst>
          </p:cNvPr>
          <p:cNvSpPr>
            <a:spLocks noGrp="1"/>
          </p:cNvSpPr>
          <p:nvPr>
            <p:ph type="title"/>
          </p:nvPr>
        </p:nvSpPr>
        <p:spPr>
          <a:xfrm>
            <a:off x="223284" y="106326"/>
            <a:ext cx="6019800" cy="1095153"/>
          </a:xfrm>
        </p:spPr>
        <p:txBody>
          <a:bodyPr>
            <a:normAutofit/>
          </a:bodyPr>
          <a:lstStyle/>
          <a:p>
            <a:r>
              <a:rPr lang="en-IN" sz="4000" b="1" dirty="0">
                <a:latin typeface="+mn-lt"/>
              </a:rPr>
              <a:t>6. Percentage Expenditure:</a:t>
            </a:r>
          </a:p>
        </p:txBody>
      </p:sp>
      <p:pic>
        <p:nvPicPr>
          <p:cNvPr id="6" name="Content Placeholder 5">
            <a:extLst>
              <a:ext uri="{FF2B5EF4-FFF2-40B4-BE49-F238E27FC236}">
                <a16:creationId xmlns:a16="http://schemas.microsoft.com/office/drawing/2014/main" id="{399BA73E-388A-BC48-14F0-CE5508AEF2A4}"/>
              </a:ext>
            </a:extLst>
          </p:cNvPr>
          <p:cNvPicPr>
            <a:picLocks noGrp="1" noChangeAspect="1"/>
          </p:cNvPicPr>
          <p:nvPr>
            <p:ph sz="half" idx="1"/>
          </p:nvPr>
        </p:nvPicPr>
        <p:blipFill>
          <a:blip r:embed="rId2"/>
          <a:stretch>
            <a:fillRect/>
          </a:stretch>
        </p:blipFill>
        <p:spPr>
          <a:xfrm>
            <a:off x="148856" y="1414130"/>
            <a:ext cx="6094228" cy="5178056"/>
          </a:xfrm>
        </p:spPr>
      </p:pic>
      <p:sp>
        <p:nvSpPr>
          <p:cNvPr id="4" name="Content Placeholder 3">
            <a:extLst>
              <a:ext uri="{FF2B5EF4-FFF2-40B4-BE49-F238E27FC236}">
                <a16:creationId xmlns:a16="http://schemas.microsoft.com/office/drawing/2014/main" id="{729BC2E3-B016-B423-C8B5-0F1160A8EBCD}"/>
              </a:ext>
            </a:extLst>
          </p:cNvPr>
          <p:cNvSpPr>
            <a:spLocks noGrp="1"/>
          </p:cNvSpPr>
          <p:nvPr>
            <p:ph sz="half" idx="2"/>
          </p:nvPr>
        </p:nvSpPr>
        <p:spPr>
          <a:xfrm>
            <a:off x="6411433" y="106326"/>
            <a:ext cx="5631711" cy="6379534"/>
          </a:xfrm>
        </p:spPr>
        <p:txBody>
          <a:bodyPr>
            <a:normAutofit fontScale="85000" lnSpcReduction="20000"/>
          </a:bodyPr>
          <a:lstStyle/>
          <a:p>
            <a:r>
              <a:rPr lang="en-US" sz="3800" dirty="0">
                <a:solidFill>
                  <a:srgbClr val="FF0000"/>
                </a:solidFill>
                <a:latin typeface="Comic Sans MS" panose="030F0702030302020204" pitchFamily="66" charset="0"/>
              </a:rPr>
              <a:t>Insight:</a:t>
            </a:r>
          </a:p>
          <a:p>
            <a:endParaRPr lang="en-US" dirty="0">
              <a:latin typeface="Comic Sans MS" panose="030F0702030302020204" pitchFamily="66" charset="0"/>
            </a:endParaRPr>
          </a:p>
          <a:p>
            <a:r>
              <a:rPr lang="en-US" dirty="0">
                <a:solidFill>
                  <a:srgbClr val="FFFF00"/>
                </a:solidFill>
                <a:latin typeface="Comic Sans MS" panose="030F0702030302020204" pitchFamily="66" charset="0"/>
              </a:rPr>
              <a:t>percentage expenditure = Total expenditure on health as a percentage of GDP.</a:t>
            </a:r>
          </a:p>
          <a:p>
            <a:endParaRPr lang="en-US" dirty="0">
              <a:latin typeface="Comic Sans MS" panose="030F0702030302020204" pitchFamily="66" charset="0"/>
            </a:endParaRPr>
          </a:p>
          <a:p>
            <a:r>
              <a:rPr lang="en-US" dirty="0">
                <a:solidFill>
                  <a:srgbClr val="FF0000"/>
                </a:solidFill>
                <a:latin typeface="Comic Sans MS" panose="030F0702030302020204" pitchFamily="66" charset="0"/>
              </a:rPr>
              <a:t>As percentage expenditure on health increases, life expectancy also tends to increase</a:t>
            </a:r>
            <a:r>
              <a:rPr lang="en-US" dirty="0">
                <a:latin typeface="Comic Sans MS" panose="030F0702030302020204" pitchFamily="66" charset="0"/>
              </a:rPr>
              <a:t>.</a:t>
            </a:r>
          </a:p>
          <a:p>
            <a:endParaRPr lang="en-US" dirty="0">
              <a:latin typeface="Comic Sans MS" panose="030F0702030302020204" pitchFamily="66" charset="0"/>
            </a:endParaRPr>
          </a:p>
          <a:p>
            <a:r>
              <a:rPr lang="en-US" dirty="0">
                <a:solidFill>
                  <a:srgbClr val="FF0000"/>
                </a:solidFill>
                <a:latin typeface="Comic Sans MS" panose="030F0702030302020204" pitchFamily="66" charset="0"/>
              </a:rPr>
              <a:t>European countries </a:t>
            </a:r>
            <a:r>
              <a:rPr lang="en-US" dirty="0">
                <a:latin typeface="Comic Sans MS" panose="030F0702030302020204" pitchFamily="66" charset="0"/>
              </a:rPr>
              <a:t>generally have </a:t>
            </a:r>
            <a:r>
              <a:rPr lang="en-US" dirty="0">
                <a:solidFill>
                  <a:srgbClr val="FF0000"/>
                </a:solidFill>
                <a:latin typeface="Comic Sans MS" panose="030F0702030302020204" pitchFamily="66" charset="0"/>
              </a:rPr>
              <a:t>higher health expenditure </a:t>
            </a:r>
            <a:r>
              <a:rPr lang="en-US" dirty="0">
                <a:latin typeface="Comic Sans MS" panose="030F0702030302020204" pitchFamily="66" charset="0"/>
              </a:rPr>
              <a:t>percentages, which contributes to their </a:t>
            </a:r>
            <a:r>
              <a:rPr lang="en-US" dirty="0">
                <a:solidFill>
                  <a:srgbClr val="FF0000"/>
                </a:solidFill>
                <a:latin typeface="Comic Sans MS" panose="030F0702030302020204" pitchFamily="66" charset="0"/>
              </a:rPr>
              <a:t>higher life expectancy</a:t>
            </a:r>
            <a:r>
              <a:rPr lang="en-US" dirty="0">
                <a:latin typeface="Comic Sans MS" panose="030F0702030302020204" pitchFamily="66" charset="0"/>
              </a:rPr>
              <a:t>.</a:t>
            </a:r>
          </a:p>
          <a:p>
            <a:endParaRPr lang="en-US" dirty="0">
              <a:latin typeface="Comic Sans MS" panose="030F0702030302020204" pitchFamily="66" charset="0"/>
            </a:endParaRPr>
          </a:p>
          <a:p>
            <a:r>
              <a:rPr lang="en-US" dirty="0">
                <a:latin typeface="Comic Sans MS" panose="030F0702030302020204" pitchFamily="66" charset="0"/>
              </a:rPr>
              <a:t>On the other hand, </a:t>
            </a:r>
            <a:r>
              <a:rPr lang="en-US" dirty="0">
                <a:solidFill>
                  <a:srgbClr val="FF0000"/>
                </a:solidFill>
                <a:latin typeface="Comic Sans MS" panose="030F0702030302020204" pitchFamily="66" charset="0"/>
              </a:rPr>
              <a:t>African countries show lower health expenditure,</a:t>
            </a:r>
            <a:r>
              <a:rPr lang="en-US" dirty="0">
                <a:latin typeface="Comic Sans MS" panose="030F0702030302020204" pitchFamily="66" charset="0"/>
              </a:rPr>
              <a:t> which correlates with </a:t>
            </a:r>
            <a:r>
              <a:rPr lang="en-US" dirty="0">
                <a:solidFill>
                  <a:srgbClr val="FF0000"/>
                </a:solidFill>
                <a:latin typeface="Comic Sans MS" panose="030F0702030302020204" pitchFamily="66" charset="0"/>
              </a:rPr>
              <a:t>lower life expectancy over the years.</a:t>
            </a:r>
            <a:endParaRPr lang="en-IN"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689494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CB471-54CF-DEC8-D112-86F3989B3E4A}"/>
              </a:ext>
            </a:extLst>
          </p:cNvPr>
          <p:cNvSpPr>
            <a:spLocks noGrp="1"/>
          </p:cNvSpPr>
          <p:nvPr>
            <p:ph type="title"/>
          </p:nvPr>
        </p:nvSpPr>
        <p:spPr>
          <a:xfrm>
            <a:off x="287079" y="202020"/>
            <a:ext cx="11066721" cy="882502"/>
          </a:xfrm>
        </p:spPr>
        <p:txBody>
          <a:bodyPr/>
          <a:lstStyle/>
          <a:p>
            <a:r>
              <a:rPr lang="en-US" b="1" dirty="0">
                <a:latin typeface="+mn-lt"/>
              </a:rPr>
              <a:t>Key Insights:</a:t>
            </a:r>
            <a:endParaRPr lang="en-IN" b="1" dirty="0">
              <a:latin typeface="+mn-lt"/>
            </a:endParaRPr>
          </a:p>
        </p:txBody>
      </p:sp>
      <p:graphicFrame>
        <p:nvGraphicFramePr>
          <p:cNvPr id="4" name="Content Placeholder 3">
            <a:extLst>
              <a:ext uri="{FF2B5EF4-FFF2-40B4-BE49-F238E27FC236}">
                <a16:creationId xmlns:a16="http://schemas.microsoft.com/office/drawing/2014/main" id="{D25805CC-54D4-D4E6-E394-BD800FB8E20D}"/>
              </a:ext>
            </a:extLst>
          </p:cNvPr>
          <p:cNvGraphicFramePr>
            <a:graphicFrameLocks noGrp="1"/>
          </p:cNvGraphicFramePr>
          <p:nvPr>
            <p:ph idx="1"/>
            <p:extLst>
              <p:ext uri="{D42A27DB-BD31-4B8C-83A1-F6EECF244321}">
                <p14:modId xmlns:p14="http://schemas.microsoft.com/office/powerpoint/2010/main" val="4284043628"/>
              </p:ext>
            </p:extLst>
          </p:nvPr>
        </p:nvGraphicFramePr>
        <p:xfrm>
          <a:off x="191386" y="1010094"/>
          <a:ext cx="11812772" cy="5847905"/>
        </p:xfrm>
        <a:graphic>
          <a:graphicData uri="http://schemas.openxmlformats.org/drawingml/2006/table">
            <a:tbl>
              <a:tblPr>
                <a:tableStyleId>{616DA210-FB5B-4158-B5E0-FEB733F419BA}</a:tableStyleId>
              </a:tblPr>
              <a:tblGrid>
                <a:gridCol w="5906386">
                  <a:extLst>
                    <a:ext uri="{9D8B030D-6E8A-4147-A177-3AD203B41FA5}">
                      <a16:colId xmlns:a16="http://schemas.microsoft.com/office/drawing/2014/main" val="1971079611"/>
                    </a:ext>
                  </a:extLst>
                </a:gridCol>
                <a:gridCol w="5906386">
                  <a:extLst>
                    <a:ext uri="{9D8B030D-6E8A-4147-A177-3AD203B41FA5}">
                      <a16:colId xmlns:a16="http://schemas.microsoft.com/office/drawing/2014/main" val="3310625145"/>
                    </a:ext>
                  </a:extLst>
                </a:gridCol>
              </a:tblGrid>
              <a:tr h="599785">
                <a:tc>
                  <a:txBody>
                    <a:bodyPr/>
                    <a:lstStyle/>
                    <a:p>
                      <a:r>
                        <a:rPr lang="en-IN" b="1">
                          <a:solidFill>
                            <a:schemeClr val="tx1"/>
                          </a:solidFill>
                          <a:latin typeface="Comic Sans MS" panose="030F0702030302020204" pitchFamily="66" charset="0"/>
                        </a:rPr>
                        <a:t>Insight</a:t>
                      </a:r>
                      <a:endParaRPr lang="en-IN">
                        <a:solidFill>
                          <a:schemeClr val="tx1"/>
                        </a:solidFill>
                        <a:latin typeface="Comic Sans MS" panose="030F0702030302020204" pitchFamily="66" charset="0"/>
                      </a:endParaRPr>
                    </a:p>
                  </a:txBody>
                  <a:tcPr anchor="ctr"/>
                </a:tc>
                <a:tc>
                  <a:txBody>
                    <a:bodyPr/>
                    <a:lstStyle/>
                    <a:p>
                      <a:r>
                        <a:rPr lang="en-IN" b="1">
                          <a:solidFill>
                            <a:srgbClr val="FFFF00"/>
                          </a:solidFill>
                          <a:latin typeface="Comic Sans MS" panose="030F0702030302020204" pitchFamily="66" charset="0"/>
                        </a:rPr>
                        <a:t>Details</a:t>
                      </a:r>
                      <a:endParaRPr lang="en-IN">
                        <a:solidFill>
                          <a:srgbClr val="FFFF00"/>
                        </a:solidFill>
                        <a:latin typeface="Comic Sans MS" panose="030F0702030302020204" pitchFamily="66" charset="0"/>
                      </a:endParaRPr>
                    </a:p>
                  </a:txBody>
                  <a:tcPr anchor="ctr"/>
                </a:tc>
                <a:extLst>
                  <a:ext uri="{0D108BD9-81ED-4DB2-BD59-A6C34878D82A}">
                    <a16:rowId xmlns:a16="http://schemas.microsoft.com/office/drawing/2014/main" val="1988292333"/>
                  </a:ext>
                </a:extLst>
              </a:tr>
              <a:tr h="1049624">
                <a:tc>
                  <a:txBody>
                    <a:bodyPr/>
                    <a:lstStyle/>
                    <a:p>
                      <a:r>
                        <a:rPr lang="en-US" dirty="0">
                          <a:solidFill>
                            <a:schemeClr val="tx1"/>
                          </a:solidFill>
                          <a:latin typeface="Comic Sans MS" panose="030F0702030302020204" pitchFamily="66" charset="0"/>
                        </a:rPr>
                        <a:t> </a:t>
                      </a:r>
                      <a:r>
                        <a:rPr lang="en-US" b="1" dirty="0">
                          <a:solidFill>
                            <a:schemeClr val="tx1"/>
                          </a:solidFill>
                          <a:latin typeface="Comic Sans MS" panose="030F0702030302020204" pitchFamily="66" charset="0"/>
                        </a:rPr>
                        <a:t>Continent with Highest Avg. % Expenditure</a:t>
                      </a:r>
                      <a:endParaRPr lang="en-US" dirty="0">
                        <a:solidFill>
                          <a:schemeClr val="tx1"/>
                        </a:solidFill>
                        <a:latin typeface="Comic Sans MS" panose="030F0702030302020204" pitchFamily="66" charset="0"/>
                      </a:endParaRPr>
                    </a:p>
                  </a:txBody>
                  <a:tcPr anchor="ctr"/>
                </a:tc>
                <a:tc>
                  <a:txBody>
                    <a:bodyPr/>
                    <a:lstStyle/>
                    <a:p>
                      <a:r>
                        <a:rPr lang="en-US" b="1">
                          <a:solidFill>
                            <a:srgbClr val="FFFF00"/>
                          </a:solidFill>
                          <a:latin typeface="Comic Sans MS" panose="030F0702030302020204" pitchFamily="66" charset="0"/>
                        </a:rPr>
                        <a:t>Europe</a:t>
                      </a:r>
                      <a:r>
                        <a:rPr lang="en-US">
                          <a:solidFill>
                            <a:srgbClr val="FFFF00"/>
                          </a:solidFill>
                          <a:latin typeface="Comic Sans MS" panose="030F0702030302020204" pitchFamily="66" charset="0"/>
                        </a:rPr>
                        <a:t> has the highest average percentage expenditure on health over the years.</a:t>
                      </a:r>
                    </a:p>
                  </a:txBody>
                  <a:tcPr anchor="ctr"/>
                </a:tc>
                <a:extLst>
                  <a:ext uri="{0D108BD9-81ED-4DB2-BD59-A6C34878D82A}">
                    <a16:rowId xmlns:a16="http://schemas.microsoft.com/office/drawing/2014/main" val="2161964055"/>
                  </a:ext>
                </a:extLst>
              </a:tr>
              <a:tr h="1049624">
                <a:tc>
                  <a:txBody>
                    <a:bodyPr/>
                    <a:lstStyle/>
                    <a:p>
                      <a:r>
                        <a:rPr lang="en-US" dirty="0">
                          <a:solidFill>
                            <a:schemeClr val="tx1"/>
                          </a:solidFill>
                          <a:latin typeface="Comic Sans MS" panose="030F0702030302020204" pitchFamily="66" charset="0"/>
                        </a:rPr>
                        <a:t> </a:t>
                      </a:r>
                      <a:r>
                        <a:rPr lang="en-US" b="1" dirty="0">
                          <a:solidFill>
                            <a:schemeClr val="tx1"/>
                          </a:solidFill>
                          <a:latin typeface="Comic Sans MS" panose="030F0702030302020204" pitchFamily="66" charset="0"/>
                        </a:rPr>
                        <a:t>Continent with Lowest Avg. % Expenditure</a:t>
                      </a:r>
                      <a:endParaRPr lang="en-US" dirty="0">
                        <a:solidFill>
                          <a:schemeClr val="tx1"/>
                        </a:solidFill>
                        <a:latin typeface="Comic Sans MS" panose="030F0702030302020204" pitchFamily="66" charset="0"/>
                      </a:endParaRPr>
                    </a:p>
                  </a:txBody>
                  <a:tcPr anchor="ctr"/>
                </a:tc>
                <a:tc>
                  <a:txBody>
                    <a:bodyPr/>
                    <a:lstStyle/>
                    <a:p>
                      <a:r>
                        <a:rPr lang="en-US" b="1">
                          <a:solidFill>
                            <a:srgbClr val="FFFF00"/>
                          </a:solidFill>
                          <a:latin typeface="Comic Sans MS" panose="030F0702030302020204" pitchFamily="66" charset="0"/>
                        </a:rPr>
                        <a:t>Africa</a:t>
                      </a:r>
                      <a:r>
                        <a:rPr lang="en-US">
                          <a:solidFill>
                            <a:srgbClr val="FFFF00"/>
                          </a:solidFill>
                          <a:latin typeface="Comic Sans MS" panose="030F0702030302020204" pitchFamily="66" charset="0"/>
                        </a:rPr>
                        <a:t> has the lowest average percentage expenditure on health over the years.</a:t>
                      </a:r>
                    </a:p>
                  </a:txBody>
                  <a:tcPr anchor="ctr"/>
                </a:tc>
                <a:extLst>
                  <a:ext uri="{0D108BD9-81ED-4DB2-BD59-A6C34878D82A}">
                    <a16:rowId xmlns:a16="http://schemas.microsoft.com/office/drawing/2014/main" val="4099161001"/>
                  </a:ext>
                </a:extLst>
              </a:tr>
              <a:tr h="1049624">
                <a:tc>
                  <a:txBody>
                    <a:bodyPr/>
                    <a:lstStyle/>
                    <a:p>
                      <a:r>
                        <a:rPr lang="en-US" dirty="0">
                          <a:solidFill>
                            <a:schemeClr val="tx1"/>
                          </a:solidFill>
                          <a:latin typeface="Comic Sans MS" panose="030F0702030302020204" pitchFamily="66" charset="0"/>
                        </a:rPr>
                        <a:t> </a:t>
                      </a:r>
                      <a:r>
                        <a:rPr lang="en-US" b="1" dirty="0">
                          <a:solidFill>
                            <a:schemeClr val="tx1"/>
                          </a:solidFill>
                          <a:latin typeface="Comic Sans MS" panose="030F0702030302020204" pitchFamily="66" charset="0"/>
                        </a:rPr>
                        <a:t>Country with Highest Mean % Expenditure</a:t>
                      </a:r>
                      <a:endParaRPr lang="en-US" dirty="0">
                        <a:solidFill>
                          <a:schemeClr val="tx1"/>
                        </a:solidFill>
                        <a:latin typeface="Comic Sans MS" panose="030F0702030302020204" pitchFamily="66" charset="0"/>
                      </a:endParaRPr>
                    </a:p>
                  </a:txBody>
                  <a:tcPr anchor="ctr"/>
                </a:tc>
                <a:tc>
                  <a:txBody>
                    <a:bodyPr/>
                    <a:lstStyle/>
                    <a:p>
                      <a:r>
                        <a:rPr lang="en-US" b="1">
                          <a:solidFill>
                            <a:srgbClr val="FFFF00"/>
                          </a:solidFill>
                          <a:latin typeface="Comic Sans MS" panose="030F0702030302020204" pitchFamily="66" charset="0"/>
                        </a:rPr>
                        <a:t>Switzerland (Europe)</a:t>
                      </a:r>
                      <a:r>
                        <a:rPr lang="en-US">
                          <a:solidFill>
                            <a:srgbClr val="FFFF00"/>
                          </a:solidFill>
                          <a:latin typeface="Comic Sans MS" panose="030F0702030302020204" pitchFamily="66" charset="0"/>
                        </a:rPr>
                        <a:t> has the highest </a:t>
                      </a:r>
                      <a:r>
                        <a:rPr lang="en-US" b="1">
                          <a:solidFill>
                            <a:srgbClr val="FFFF00"/>
                          </a:solidFill>
                          <a:latin typeface="Comic Sans MS" panose="030F0702030302020204" pitchFamily="66" charset="0"/>
                        </a:rPr>
                        <a:t>mean</a:t>
                      </a:r>
                      <a:r>
                        <a:rPr lang="en-US">
                          <a:solidFill>
                            <a:srgbClr val="FFFF00"/>
                          </a:solidFill>
                          <a:latin typeface="Comic Sans MS" panose="030F0702030302020204" pitchFamily="66" charset="0"/>
                        </a:rPr>
                        <a:t> percentage expenditure: </a:t>
                      </a:r>
                      <a:r>
                        <a:rPr lang="en-US" b="1">
                          <a:solidFill>
                            <a:srgbClr val="FFFF00"/>
                          </a:solidFill>
                          <a:latin typeface="Comic Sans MS" panose="030F0702030302020204" pitchFamily="66" charset="0"/>
                        </a:rPr>
                        <a:t>9801</a:t>
                      </a:r>
                      <a:r>
                        <a:rPr lang="en-US">
                          <a:solidFill>
                            <a:srgbClr val="FFFF00"/>
                          </a:solidFill>
                          <a:latin typeface="Comic Sans MS" panose="030F0702030302020204" pitchFamily="66" charset="0"/>
                        </a:rPr>
                        <a:t>.</a:t>
                      </a:r>
                    </a:p>
                  </a:txBody>
                  <a:tcPr anchor="ctr"/>
                </a:tc>
                <a:extLst>
                  <a:ext uri="{0D108BD9-81ED-4DB2-BD59-A6C34878D82A}">
                    <a16:rowId xmlns:a16="http://schemas.microsoft.com/office/drawing/2014/main" val="981878512"/>
                  </a:ext>
                </a:extLst>
              </a:tr>
              <a:tr h="1049624">
                <a:tc>
                  <a:txBody>
                    <a:bodyPr/>
                    <a:lstStyle/>
                    <a:p>
                      <a:r>
                        <a:rPr lang="en-US" dirty="0">
                          <a:solidFill>
                            <a:schemeClr val="tx1"/>
                          </a:solidFill>
                          <a:latin typeface="Comic Sans MS" panose="030F0702030302020204" pitchFamily="66" charset="0"/>
                        </a:rPr>
                        <a:t> </a:t>
                      </a:r>
                      <a:r>
                        <a:rPr lang="en-US" b="1" dirty="0">
                          <a:solidFill>
                            <a:schemeClr val="tx1"/>
                          </a:solidFill>
                          <a:latin typeface="Comic Sans MS" panose="030F0702030302020204" pitchFamily="66" charset="0"/>
                        </a:rPr>
                        <a:t>Highest % Expenditure in a Single Year (All Years)</a:t>
                      </a:r>
                      <a:endParaRPr lang="en-US" dirty="0">
                        <a:solidFill>
                          <a:schemeClr val="tx1"/>
                        </a:solidFill>
                        <a:latin typeface="Comic Sans MS" panose="030F0702030302020204" pitchFamily="66" charset="0"/>
                      </a:endParaRPr>
                    </a:p>
                  </a:txBody>
                  <a:tcPr anchor="ctr"/>
                </a:tc>
                <a:tc>
                  <a:txBody>
                    <a:bodyPr/>
                    <a:lstStyle/>
                    <a:p>
                      <a:r>
                        <a:rPr lang="en-US" b="1">
                          <a:solidFill>
                            <a:srgbClr val="FFFF00"/>
                          </a:solidFill>
                          <a:latin typeface="Comic Sans MS" panose="030F0702030302020204" pitchFamily="66" charset="0"/>
                        </a:rPr>
                        <a:t>Switzerland</a:t>
                      </a:r>
                      <a:r>
                        <a:rPr lang="en-US">
                          <a:solidFill>
                            <a:srgbClr val="FFFF00"/>
                          </a:solidFill>
                          <a:latin typeface="Comic Sans MS" panose="030F0702030302020204" pitchFamily="66" charset="0"/>
                        </a:rPr>
                        <a:t> again leads with the highest recorded value of </a:t>
                      </a:r>
                      <a:r>
                        <a:rPr lang="en-US" b="1">
                          <a:solidFill>
                            <a:srgbClr val="FFFF00"/>
                          </a:solidFill>
                          <a:latin typeface="Comic Sans MS" panose="030F0702030302020204" pitchFamily="66" charset="0"/>
                        </a:rPr>
                        <a:t>19479</a:t>
                      </a:r>
                      <a:r>
                        <a:rPr lang="en-US">
                          <a:solidFill>
                            <a:srgbClr val="FFFF00"/>
                          </a:solidFill>
                          <a:latin typeface="Comic Sans MS" panose="030F0702030302020204" pitchFamily="66" charset="0"/>
                        </a:rPr>
                        <a:t> in a single year.</a:t>
                      </a:r>
                    </a:p>
                  </a:txBody>
                  <a:tcPr anchor="ctr"/>
                </a:tc>
                <a:extLst>
                  <a:ext uri="{0D108BD9-81ED-4DB2-BD59-A6C34878D82A}">
                    <a16:rowId xmlns:a16="http://schemas.microsoft.com/office/drawing/2014/main" val="3966520744"/>
                  </a:ext>
                </a:extLst>
              </a:tr>
              <a:tr h="1049624">
                <a:tc>
                  <a:txBody>
                    <a:bodyPr/>
                    <a:lstStyle/>
                    <a:p>
                      <a:r>
                        <a:rPr lang="en-US" b="1" dirty="0">
                          <a:solidFill>
                            <a:schemeClr val="tx1"/>
                          </a:solidFill>
                          <a:latin typeface="Comic Sans MS" panose="030F0702030302020204" pitchFamily="66" charset="0"/>
                        </a:rPr>
                        <a:t>Country with Highest % Expenditure in 2015</a:t>
                      </a:r>
                      <a:endParaRPr lang="en-US" dirty="0">
                        <a:solidFill>
                          <a:schemeClr val="tx1"/>
                        </a:solidFill>
                        <a:latin typeface="Comic Sans MS" panose="030F0702030302020204" pitchFamily="66" charset="0"/>
                      </a:endParaRPr>
                    </a:p>
                  </a:txBody>
                  <a:tcPr anchor="ctr"/>
                </a:tc>
                <a:tc>
                  <a:txBody>
                    <a:bodyPr/>
                    <a:lstStyle/>
                    <a:p>
                      <a:r>
                        <a:rPr lang="en-US" b="1" dirty="0">
                          <a:solidFill>
                            <a:srgbClr val="FFFF00"/>
                          </a:solidFill>
                          <a:latin typeface="Comic Sans MS" panose="030F0702030302020204" pitchFamily="66" charset="0"/>
                        </a:rPr>
                        <a:t>Albania (Europe)</a:t>
                      </a:r>
                      <a:r>
                        <a:rPr lang="en-US" dirty="0">
                          <a:solidFill>
                            <a:srgbClr val="FFFF00"/>
                          </a:solidFill>
                          <a:latin typeface="Comic Sans MS" panose="030F0702030302020204" pitchFamily="66" charset="0"/>
                        </a:rPr>
                        <a:t> had the highest health percentage expenditure in </a:t>
                      </a:r>
                      <a:r>
                        <a:rPr lang="en-US" b="1" dirty="0">
                          <a:solidFill>
                            <a:srgbClr val="FFFF00"/>
                          </a:solidFill>
                          <a:latin typeface="Comic Sans MS" panose="030F0702030302020204" pitchFamily="66" charset="0"/>
                        </a:rPr>
                        <a:t>2015</a:t>
                      </a:r>
                      <a:r>
                        <a:rPr lang="en-US" dirty="0">
                          <a:solidFill>
                            <a:srgbClr val="FFFF00"/>
                          </a:solidFill>
                          <a:latin typeface="Comic Sans MS" panose="030F0702030302020204" pitchFamily="66" charset="0"/>
                        </a:rPr>
                        <a:t>: </a:t>
                      </a:r>
                      <a:r>
                        <a:rPr lang="en-US" b="1" dirty="0">
                          <a:solidFill>
                            <a:srgbClr val="FFFF00"/>
                          </a:solidFill>
                          <a:latin typeface="Comic Sans MS" panose="030F0702030302020204" pitchFamily="66" charset="0"/>
                        </a:rPr>
                        <a:t>364.97</a:t>
                      </a:r>
                      <a:r>
                        <a:rPr lang="en-US" dirty="0">
                          <a:solidFill>
                            <a:srgbClr val="FFFF00"/>
                          </a:solidFill>
                          <a:latin typeface="Comic Sans MS" panose="030F0702030302020204" pitchFamily="66" charset="0"/>
                        </a:rPr>
                        <a:t>.</a:t>
                      </a:r>
                    </a:p>
                  </a:txBody>
                  <a:tcPr anchor="ctr"/>
                </a:tc>
                <a:extLst>
                  <a:ext uri="{0D108BD9-81ED-4DB2-BD59-A6C34878D82A}">
                    <a16:rowId xmlns:a16="http://schemas.microsoft.com/office/drawing/2014/main" val="2801368731"/>
                  </a:ext>
                </a:extLst>
              </a:tr>
            </a:tbl>
          </a:graphicData>
        </a:graphic>
      </p:graphicFrame>
    </p:spTree>
    <p:extLst>
      <p:ext uri="{BB962C8B-B14F-4D97-AF65-F5344CB8AC3E}">
        <p14:creationId xmlns:p14="http://schemas.microsoft.com/office/powerpoint/2010/main" val="3370456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06FBF-5B79-D310-D2DB-7C2264B9E447}"/>
              </a:ext>
            </a:extLst>
          </p:cNvPr>
          <p:cNvSpPr>
            <a:spLocks noGrp="1"/>
          </p:cNvSpPr>
          <p:nvPr>
            <p:ph type="title"/>
          </p:nvPr>
        </p:nvSpPr>
        <p:spPr>
          <a:xfrm>
            <a:off x="198438" y="202019"/>
            <a:ext cx="5234799" cy="946297"/>
          </a:xfrm>
        </p:spPr>
        <p:txBody>
          <a:bodyPr/>
          <a:lstStyle/>
          <a:p>
            <a:r>
              <a:rPr lang="en-US" b="1" dirty="0">
                <a:latin typeface="+mn-lt"/>
              </a:rPr>
              <a:t>7.Hepatitis B:</a:t>
            </a:r>
            <a:endParaRPr lang="en-IN" b="1" dirty="0">
              <a:latin typeface="+mn-lt"/>
            </a:endParaRPr>
          </a:p>
        </p:txBody>
      </p:sp>
      <p:pic>
        <p:nvPicPr>
          <p:cNvPr id="6" name="Content Placeholder 5">
            <a:extLst>
              <a:ext uri="{FF2B5EF4-FFF2-40B4-BE49-F238E27FC236}">
                <a16:creationId xmlns:a16="http://schemas.microsoft.com/office/drawing/2014/main" id="{C3F18704-D70C-D323-41E1-D18D74F077AA}"/>
              </a:ext>
            </a:extLst>
          </p:cNvPr>
          <p:cNvPicPr>
            <a:picLocks noGrp="1" noChangeAspect="1"/>
          </p:cNvPicPr>
          <p:nvPr>
            <p:ph sz="half" idx="1"/>
          </p:nvPr>
        </p:nvPicPr>
        <p:blipFill>
          <a:blip r:embed="rId2"/>
          <a:stretch>
            <a:fillRect/>
          </a:stretch>
        </p:blipFill>
        <p:spPr>
          <a:xfrm>
            <a:off x="85060" y="1222744"/>
            <a:ext cx="6326374" cy="5433237"/>
          </a:xfrm>
        </p:spPr>
      </p:pic>
      <p:sp>
        <p:nvSpPr>
          <p:cNvPr id="4" name="Content Placeholder 3">
            <a:extLst>
              <a:ext uri="{FF2B5EF4-FFF2-40B4-BE49-F238E27FC236}">
                <a16:creationId xmlns:a16="http://schemas.microsoft.com/office/drawing/2014/main" id="{15D0CD0D-DF6D-2807-6FBA-8D5E805E83A5}"/>
              </a:ext>
            </a:extLst>
          </p:cNvPr>
          <p:cNvSpPr>
            <a:spLocks noGrp="1"/>
          </p:cNvSpPr>
          <p:nvPr>
            <p:ph sz="half" idx="2"/>
          </p:nvPr>
        </p:nvSpPr>
        <p:spPr>
          <a:xfrm>
            <a:off x="6539023" y="202019"/>
            <a:ext cx="5454502" cy="6528390"/>
          </a:xfrm>
        </p:spPr>
        <p:txBody>
          <a:bodyPr>
            <a:normAutofit fontScale="70000" lnSpcReduction="20000"/>
          </a:bodyPr>
          <a:lstStyle/>
          <a:p>
            <a:r>
              <a:rPr lang="en-US" sz="4000" b="1" dirty="0">
                <a:solidFill>
                  <a:srgbClr val="FF0000"/>
                </a:solidFill>
                <a:latin typeface="Comic Sans MS" panose="030F0702030302020204" pitchFamily="66" charset="0"/>
              </a:rPr>
              <a:t>Insight:</a:t>
            </a:r>
          </a:p>
          <a:p>
            <a:endParaRPr lang="en-US" dirty="0">
              <a:solidFill>
                <a:srgbClr val="00FFFF"/>
              </a:solidFill>
              <a:latin typeface="Comic Sans MS" panose="030F0702030302020204" pitchFamily="66" charset="0"/>
            </a:endParaRPr>
          </a:p>
          <a:p>
            <a:r>
              <a:rPr lang="en-US" dirty="0">
                <a:solidFill>
                  <a:srgbClr val="FFFF00"/>
                </a:solidFill>
                <a:latin typeface="Comic Sans MS" panose="030F0702030302020204" pitchFamily="66" charset="0"/>
              </a:rPr>
              <a:t>Hepatitis B is a viral infection that affects the liver and can cause both acute and chronic disease</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As Hepatitis B vaccination coverage increases over the years, there is a noticeable rise in life expectancy across various continents.</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 This suggests a positive relationship between immunization and overall health outcomes.</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However, life expectancy tends to be significantly higher in European ,Asian,</a:t>
            </a:r>
          </a:p>
          <a:p>
            <a:r>
              <a:rPr lang="en-US" dirty="0">
                <a:solidFill>
                  <a:srgbClr val="00FFFF"/>
                </a:solidFill>
                <a:latin typeface="Comic Sans MS" panose="030F0702030302020204" pitchFamily="66" charset="0"/>
              </a:rPr>
              <a:t>North American, South American and </a:t>
            </a:r>
            <a:r>
              <a:rPr lang="en-US" dirty="0" err="1">
                <a:solidFill>
                  <a:srgbClr val="00FFFF"/>
                </a:solidFill>
                <a:latin typeface="Comic Sans MS" panose="030F0702030302020204" pitchFamily="66" charset="0"/>
              </a:rPr>
              <a:t>oceania</a:t>
            </a:r>
            <a:r>
              <a:rPr lang="en-US" dirty="0">
                <a:solidFill>
                  <a:srgbClr val="00FFFF"/>
                </a:solidFill>
                <a:latin typeface="Comic Sans MS" panose="030F0702030302020204" pitchFamily="66" charset="0"/>
              </a:rPr>
              <a:t> countries  as compared to other African countries indicating that these continents not only have better vaccination rates but also more robust healthcare systems and living conditions.</a:t>
            </a:r>
            <a:endParaRPr lang="en-IN" dirty="0">
              <a:solidFill>
                <a:srgbClr val="00FFFF"/>
              </a:solidFill>
              <a:latin typeface="Comic Sans MS" panose="030F0702030302020204" pitchFamily="66" charset="0"/>
            </a:endParaRPr>
          </a:p>
        </p:txBody>
      </p:sp>
    </p:spTree>
    <p:extLst>
      <p:ext uri="{BB962C8B-B14F-4D97-AF65-F5344CB8AC3E}">
        <p14:creationId xmlns:p14="http://schemas.microsoft.com/office/powerpoint/2010/main" val="3864496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680B4-E92B-B1B1-FD95-B6CFE21D431C}"/>
              </a:ext>
            </a:extLst>
          </p:cNvPr>
          <p:cNvSpPr>
            <a:spLocks noGrp="1"/>
          </p:cNvSpPr>
          <p:nvPr>
            <p:ph type="title"/>
          </p:nvPr>
        </p:nvSpPr>
        <p:spPr>
          <a:xfrm>
            <a:off x="265814" y="212651"/>
            <a:ext cx="4646428" cy="967563"/>
          </a:xfrm>
        </p:spPr>
        <p:txBody>
          <a:bodyPr>
            <a:normAutofit/>
          </a:bodyPr>
          <a:lstStyle/>
          <a:p>
            <a:r>
              <a:rPr lang="en-US" b="1" dirty="0"/>
              <a:t>Key Insights:</a:t>
            </a:r>
            <a:endParaRPr lang="en-IN" b="1" dirty="0"/>
          </a:p>
        </p:txBody>
      </p:sp>
      <p:graphicFrame>
        <p:nvGraphicFramePr>
          <p:cNvPr id="4" name="Content Placeholder 3">
            <a:extLst>
              <a:ext uri="{FF2B5EF4-FFF2-40B4-BE49-F238E27FC236}">
                <a16:creationId xmlns:a16="http://schemas.microsoft.com/office/drawing/2014/main" id="{2C42F50D-F20D-B7BF-2967-A3AC3C83B5A8}"/>
              </a:ext>
            </a:extLst>
          </p:cNvPr>
          <p:cNvGraphicFramePr>
            <a:graphicFrameLocks noGrp="1"/>
          </p:cNvGraphicFramePr>
          <p:nvPr>
            <p:ph idx="1"/>
            <p:extLst>
              <p:ext uri="{D42A27DB-BD31-4B8C-83A1-F6EECF244321}">
                <p14:modId xmlns:p14="http://schemas.microsoft.com/office/powerpoint/2010/main" val="3881081657"/>
              </p:ext>
            </p:extLst>
          </p:nvPr>
        </p:nvGraphicFramePr>
        <p:xfrm>
          <a:off x="350874" y="1180215"/>
          <a:ext cx="11451266" cy="5465138"/>
        </p:xfrm>
        <a:graphic>
          <a:graphicData uri="http://schemas.openxmlformats.org/drawingml/2006/table">
            <a:tbl>
              <a:tblPr>
                <a:tableStyleId>{616DA210-FB5B-4158-B5E0-FEB733F419BA}</a:tableStyleId>
              </a:tblPr>
              <a:tblGrid>
                <a:gridCol w="5725633">
                  <a:extLst>
                    <a:ext uri="{9D8B030D-6E8A-4147-A177-3AD203B41FA5}">
                      <a16:colId xmlns:a16="http://schemas.microsoft.com/office/drawing/2014/main" val="3948197312"/>
                    </a:ext>
                  </a:extLst>
                </a:gridCol>
                <a:gridCol w="5725633">
                  <a:extLst>
                    <a:ext uri="{9D8B030D-6E8A-4147-A177-3AD203B41FA5}">
                      <a16:colId xmlns:a16="http://schemas.microsoft.com/office/drawing/2014/main" val="2052204255"/>
                    </a:ext>
                  </a:extLst>
                </a:gridCol>
              </a:tblGrid>
              <a:tr h="683142">
                <a:tc>
                  <a:txBody>
                    <a:bodyPr/>
                    <a:lstStyle/>
                    <a:p>
                      <a:r>
                        <a:rPr lang="en-IN" b="1">
                          <a:latin typeface="Comic Sans MS" panose="030F0702030302020204" pitchFamily="66" charset="0"/>
                        </a:rPr>
                        <a:t>Category</a:t>
                      </a:r>
                      <a:endParaRPr lang="en-IN">
                        <a:latin typeface="Comic Sans MS" panose="030F0702030302020204" pitchFamily="66" charset="0"/>
                      </a:endParaRPr>
                    </a:p>
                  </a:txBody>
                  <a:tcPr anchor="ctr"/>
                </a:tc>
                <a:tc>
                  <a:txBody>
                    <a:bodyPr/>
                    <a:lstStyle/>
                    <a:p>
                      <a:r>
                        <a:rPr lang="en-IN" b="1">
                          <a:latin typeface="Comic Sans MS" panose="030F0702030302020204" pitchFamily="66" charset="0"/>
                        </a:rPr>
                        <a:t>Details</a:t>
                      </a:r>
                      <a:endParaRPr lang="en-IN">
                        <a:latin typeface="Comic Sans MS" panose="030F0702030302020204" pitchFamily="66" charset="0"/>
                      </a:endParaRPr>
                    </a:p>
                  </a:txBody>
                  <a:tcPr anchor="ctr"/>
                </a:tc>
                <a:extLst>
                  <a:ext uri="{0D108BD9-81ED-4DB2-BD59-A6C34878D82A}">
                    <a16:rowId xmlns:a16="http://schemas.microsoft.com/office/drawing/2014/main" val="2767912803"/>
                  </a:ext>
                </a:extLst>
              </a:tr>
              <a:tr h="1195499">
                <a:tc>
                  <a:txBody>
                    <a:bodyPr/>
                    <a:lstStyle/>
                    <a:p>
                      <a:r>
                        <a:rPr lang="en-US" b="1">
                          <a:latin typeface="Comic Sans MS" panose="030F0702030302020204" pitchFamily="66" charset="0"/>
                        </a:rPr>
                        <a:t>Continent with Highest Avg. Hepatitis B</a:t>
                      </a:r>
                      <a:endParaRPr lang="en-US">
                        <a:latin typeface="Comic Sans MS" panose="030F0702030302020204" pitchFamily="66" charset="0"/>
                      </a:endParaRPr>
                    </a:p>
                  </a:txBody>
                  <a:tcPr anchor="ctr"/>
                </a:tc>
                <a:tc>
                  <a:txBody>
                    <a:bodyPr/>
                    <a:lstStyle/>
                    <a:p>
                      <a:r>
                        <a:rPr lang="en-US" b="1">
                          <a:solidFill>
                            <a:srgbClr val="FFFF00"/>
                          </a:solidFill>
                          <a:latin typeface="Comic Sans MS" panose="030F0702030302020204" pitchFamily="66" charset="0"/>
                        </a:rPr>
                        <a:t>Europe</a:t>
                      </a:r>
                      <a:r>
                        <a:rPr lang="en-US">
                          <a:solidFill>
                            <a:srgbClr val="FFFF00"/>
                          </a:solidFill>
                          <a:latin typeface="Comic Sans MS" panose="030F0702030302020204" pitchFamily="66" charset="0"/>
                        </a:rPr>
                        <a:t> — Average vaccination rate is </a:t>
                      </a:r>
                      <a:r>
                        <a:rPr lang="en-US" b="1">
                          <a:solidFill>
                            <a:srgbClr val="FFFF00"/>
                          </a:solidFill>
                          <a:latin typeface="Comic Sans MS" panose="030F0702030302020204" pitchFamily="66" charset="0"/>
                        </a:rPr>
                        <a:t>84.84%</a:t>
                      </a:r>
                      <a:r>
                        <a:rPr lang="en-US">
                          <a:solidFill>
                            <a:srgbClr val="FFFF00"/>
                          </a:solidFill>
                          <a:latin typeface="Comic Sans MS" panose="030F0702030302020204" pitchFamily="66" charset="0"/>
                        </a:rPr>
                        <a:t>, meaning ~85 children are vaccinated yearly.</a:t>
                      </a:r>
                    </a:p>
                  </a:txBody>
                  <a:tcPr anchor="ctr"/>
                </a:tc>
                <a:extLst>
                  <a:ext uri="{0D108BD9-81ED-4DB2-BD59-A6C34878D82A}">
                    <a16:rowId xmlns:a16="http://schemas.microsoft.com/office/drawing/2014/main" val="49793403"/>
                  </a:ext>
                </a:extLst>
              </a:tr>
              <a:tr h="1195499">
                <a:tc>
                  <a:txBody>
                    <a:bodyPr/>
                    <a:lstStyle/>
                    <a:p>
                      <a:r>
                        <a:rPr lang="en-US" b="1">
                          <a:latin typeface="Comic Sans MS" panose="030F0702030302020204" pitchFamily="66" charset="0"/>
                        </a:rPr>
                        <a:t>Top 3 Countries with Highest Avg. Rate</a:t>
                      </a:r>
                      <a:endParaRPr lang="en-US">
                        <a:latin typeface="Comic Sans MS" panose="030F0702030302020204" pitchFamily="66" charset="0"/>
                      </a:endParaRPr>
                    </a:p>
                  </a:txBody>
                  <a:tcPr anchor="ctr"/>
                </a:tc>
                <a:tc>
                  <a:txBody>
                    <a:bodyPr/>
                    <a:lstStyle/>
                    <a:p>
                      <a:r>
                        <a:rPr lang="en-US" b="1">
                          <a:solidFill>
                            <a:srgbClr val="FFFF00"/>
                          </a:solidFill>
                          <a:latin typeface="Comic Sans MS" panose="030F0702030302020204" pitchFamily="66" charset="0"/>
                        </a:rPr>
                        <a:t>Monaco (99%)</a:t>
                      </a:r>
                      <a:r>
                        <a:rPr lang="en-US">
                          <a:solidFill>
                            <a:srgbClr val="FFFF00"/>
                          </a:solidFill>
                          <a:latin typeface="Comic Sans MS" panose="030F0702030302020204" pitchFamily="66" charset="0"/>
                        </a:rPr>
                        <a:t>, </a:t>
                      </a:r>
                      <a:r>
                        <a:rPr lang="en-US" b="1">
                          <a:solidFill>
                            <a:srgbClr val="FFFF00"/>
                          </a:solidFill>
                          <a:latin typeface="Comic Sans MS" panose="030F0702030302020204" pitchFamily="66" charset="0"/>
                        </a:rPr>
                        <a:t>Niue (99%)</a:t>
                      </a:r>
                      <a:r>
                        <a:rPr lang="en-US">
                          <a:solidFill>
                            <a:srgbClr val="FFFF00"/>
                          </a:solidFill>
                          <a:latin typeface="Comic Sans MS" panose="030F0702030302020204" pitchFamily="66" charset="0"/>
                        </a:rPr>
                        <a:t>, </a:t>
                      </a:r>
                      <a:r>
                        <a:rPr lang="en-US" b="1">
                          <a:solidFill>
                            <a:srgbClr val="FFFF00"/>
                          </a:solidFill>
                          <a:latin typeface="Comic Sans MS" panose="030F0702030302020204" pitchFamily="66" charset="0"/>
                        </a:rPr>
                        <a:t>Palau (99%)</a:t>
                      </a:r>
                      <a:r>
                        <a:rPr lang="en-US">
                          <a:solidFill>
                            <a:srgbClr val="FFFF00"/>
                          </a:solidFill>
                          <a:latin typeface="Comic Sans MS" panose="030F0702030302020204" pitchFamily="66" charset="0"/>
                        </a:rPr>
                        <a:t> — Highest consistent vaccination over the years.</a:t>
                      </a:r>
                    </a:p>
                  </a:txBody>
                  <a:tcPr anchor="ctr"/>
                </a:tc>
                <a:extLst>
                  <a:ext uri="{0D108BD9-81ED-4DB2-BD59-A6C34878D82A}">
                    <a16:rowId xmlns:a16="http://schemas.microsoft.com/office/drawing/2014/main" val="4038537988"/>
                  </a:ext>
                </a:extLst>
              </a:tr>
              <a:tr h="1195499">
                <a:tc>
                  <a:txBody>
                    <a:bodyPr/>
                    <a:lstStyle/>
                    <a:p>
                      <a:r>
                        <a:rPr lang="en-US" b="1" dirty="0">
                          <a:latin typeface="Comic Sans MS" panose="030F0702030302020204" pitchFamily="66" charset="0"/>
                        </a:rPr>
                        <a:t>Lowest Recorded Hepatitis B Rate</a:t>
                      </a:r>
                      <a:endParaRPr lang="en-US" dirty="0">
                        <a:latin typeface="Comic Sans MS" panose="030F0702030302020204" pitchFamily="66" charset="0"/>
                      </a:endParaRPr>
                    </a:p>
                  </a:txBody>
                  <a:tcPr anchor="ctr"/>
                </a:tc>
                <a:tc>
                  <a:txBody>
                    <a:bodyPr/>
                    <a:lstStyle/>
                    <a:p>
                      <a:r>
                        <a:rPr lang="en-US" b="1">
                          <a:solidFill>
                            <a:srgbClr val="FFFF00"/>
                          </a:solidFill>
                          <a:latin typeface="Comic Sans MS" panose="030F0702030302020204" pitchFamily="66" charset="0"/>
                        </a:rPr>
                        <a:t>Côte d'Ivoire (1.0%)</a:t>
                      </a:r>
                      <a:r>
                        <a:rPr lang="en-US">
                          <a:solidFill>
                            <a:srgbClr val="FFFF00"/>
                          </a:solidFill>
                          <a:latin typeface="Comic Sans MS" panose="030F0702030302020204" pitchFamily="66" charset="0"/>
                        </a:rPr>
                        <a:t> in </a:t>
                      </a:r>
                      <a:r>
                        <a:rPr lang="en-US" b="1">
                          <a:solidFill>
                            <a:srgbClr val="FFFF00"/>
                          </a:solidFill>
                          <a:latin typeface="Comic Sans MS" panose="030F0702030302020204" pitchFamily="66" charset="0"/>
                        </a:rPr>
                        <a:t>2001</a:t>
                      </a:r>
                      <a:r>
                        <a:rPr lang="en-US">
                          <a:solidFill>
                            <a:srgbClr val="FFFF00"/>
                          </a:solidFill>
                          <a:latin typeface="Comic Sans MS" panose="030F0702030302020204" pitchFamily="66" charset="0"/>
                        </a:rPr>
                        <a:t> — the lowest ever recorded in the dataset.</a:t>
                      </a:r>
                    </a:p>
                  </a:txBody>
                  <a:tcPr anchor="ctr"/>
                </a:tc>
                <a:extLst>
                  <a:ext uri="{0D108BD9-81ED-4DB2-BD59-A6C34878D82A}">
                    <a16:rowId xmlns:a16="http://schemas.microsoft.com/office/drawing/2014/main" val="2426471682"/>
                  </a:ext>
                </a:extLst>
              </a:tr>
              <a:tr h="1195499">
                <a:tc>
                  <a:txBody>
                    <a:bodyPr/>
                    <a:lstStyle/>
                    <a:p>
                      <a:r>
                        <a:rPr lang="en-US" b="1">
                          <a:latin typeface="Comic Sans MS" panose="030F0702030302020204" pitchFamily="66" charset="0"/>
                        </a:rPr>
                        <a:t>Lowest in Recent Year (2015)</a:t>
                      </a:r>
                      <a:endParaRPr lang="en-US">
                        <a:latin typeface="Comic Sans MS" panose="030F0702030302020204" pitchFamily="66" charset="0"/>
                      </a:endParaRPr>
                    </a:p>
                  </a:txBody>
                  <a:tcPr anchor="ctr"/>
                </a:tc>
                <a:tc>
                  <a:txBody>
                    <a:bodyPr/>
                    <a:lstStyle/>
                    <a:p>
                      <a:r>
                        <a:rPr lang="en-US" b="1" dirty="0">
                          <a:solidFill>
                            <a:srgbClr val="FFFF00"/>
                          </a:solidFill>
                          <a:latin typeface="Comic Sans MS" panose="030F0702030302020204" pitchFamily="66" charset="0"/>
                        </a:rPr>
                        <a:t>Haiti (6%)</a:t>
                      </a:r>
                      <a:r>
                        <a:rPr lang="en-US" dirty="0">
                          <a:solidFill>
                            <a:srgbClr val="FFFF00"/>
                          </a:solidFill>
                          <a:latin typeface="Comic Sans MS" panose="030F0702030302020204" pitchFamily="66" charset="0"/>
                        </a:rPr>
                        <a:t> and </a:t>
                      </a:r>
                      <a:r>
                        <a:rPr lang="en-US" b="1" dirty="0">
                          <a:solidFill>
                            <a:srgbClr val="FFFF00"/>
                          </a:solidFill>
                          <a:latin typeface="Comic Sans MS" panose="030F0702030302020204" pitchFamily="66" charset="0"/>
                        </a:rPr>
                        <a:t>Philippines (6%)</a:t>
                      </a:r>
                      <a:r>
                        <a:rPr lang="en-US" dirty="0">
                          <a:solidFill>
                            <a:srgbClr val="FFFF00"/>
                          </a:solidFill>
                          <a:latin typeface="Comic Sans MS" panose="030F0702030302020204" pitchFamily="66" charset="0"/>
                        </a:rPr>
                        <a:t> — extremely low coverage in the most recent year.</a:t>
                      </a:r>
                    </a:p>
                  </a:txBody>
                  <a:tcPr anchor="ctr"/>
                </a:tc>
                <a:extLst>
                  <a:ext uri="{0D108BD9-81ED-4DB2-BD59-A6C34878D82A}">
                    <a16:rowId xmlns:a16="http://schemas.microsoft.com/office/drawing/2014/main" val="1776243805"/>
                  </a:ext>
                </a:extLst>
              </a:tr>
            </a:tbl>
          </a:graphicData>
        </a:graphic>
      </p:graphicFrame>
    </p:spTree>
    <p:extLst>
      <p:ext uri="{BB962C8B-B14F-4D97-AF65-F5344CB8AC3E}">
        <p14:creationId xmlns:p14="http://schemas.microsoft.com/office/powerpoint/2010/main" val="267587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AB52A-8BE2-EAB3-F2E7-EF194CA44F34}"/>
              </a:ext>
            </a:extLst>
          </p:cNvPr>
          <p:cNvSpPr>
            <a:spLocks noGrp="1"/>
          </p:cNvSpPr>
          <p:nvPr>
            <p:ph type="title"/>
          </p:nvPr>
        </p:nvSpPr>
        <p:spPr>
          <a:xfrm>
            <a:off x="212652" y="255181"/>
            <a:ext cx="2902688" cy="659219"/>
          </a:xfrm>
        </p:spPr>
        <p:txBody>
          <a:bodyPr>
            <a:normAutofit fontScale="90000"/>
          </a:bodyPr>
          <a:lstStyle/>
          <a:p>
            <a:r>
              <a:rPr lang="en-US" dirty="0">
                <a:latin typeface="+mn-lt"/>
              </a:rPr>
              <a:t>8 </a:t>
            </a:r>
            <a:r>
              <a:rPr lang="en-US" b="1" dirty="0">
                <a:latin typeface="+mn-lt"/>
              </a:rPr>
              <a:t>Measles</a:t>
            </a:r>
            <a:r>
              <a:rPr lang="en-US" dirty="0">
                <a:latin typeface="+mn-lt"/>
              </a:rPr>
              <a:t>:</a:t>
            </a:r>
            <a:endParaRPr lang="en-IN" dirty="0">
              <a:latin typeface="+mn-lt"/>
            </a:endParaRPr>
          </a:p>
        </p:txBody>
      </p:sp>
      <p:pic>
        <p:nvPicPr>
          <p:cNvPr id="6" name="Content Placeholder 5">
            <a:extLst>
              <a:ext uri="{FF2B5EF4-FFF2-40B4-BE49-F238E27FC236}">
                <a16:creationId xmlns:a16="http://schemas.microsoft.com/office/drawing/2014/main" id="{C7F34D3C-7B82-DC83-C7E8-119DDC246583}"/>
              </a:ext>
            </a:extLst>
          </p:cNvPr>
          <p:cNvPicPr>
            <a:picLocks noGrp="1" noChangeAspect="1"/>
          </p:cNvPicPr>
          <p:nvPr>
            <p:ph sz="half" idx="1"/>
          </p:nvPr>
        </p:nvPicPr>
        <p:blipFill>
          <a:blip r:embed="rId2"/>
          <a:stretch>
            <a:fillRect/>
          </a:stretch>
        </p:blipFill>
        <p:spPr>
          <a:xfrm>
            <a:off x="95693" y="1201479"/>
            <a:ext cx="6166884" cy="5401340"/>
          </a:xfrm>
        </p:spPr>
      </p:pic>
      <p:sp>
        <p:nvSpPr>
          <p:cNvPr id="4" name="Content Placeholder 3">
            <a:extLst>
              <a:ext uri="{FF2B5EF4-FFF2-40B4-BE49-F238E27FC236}">
                <a16:creationId xmlns:a16="http://schemas.microsoft.com/office/drawing/2014/main" id="{9273F6AB-FD0A-B7E1-1371-29F3A1D470FE}"/>
              </a:ext>
            </a:extLst>
          </p:cNvPr>
          <p:cNvSpPr>
            <a:spLocks noGrp="1"/>
          </p:cNvSpPr>
          <p:nvPr>
            <p:ph sz="half" idx="2"/>
          </p:nvPr>
        </p:nvSpPr>
        <p:spPr>
          <a:xfrm>
            <a:off x="6581553" y="138223"/>
            <a:ext cx="5397795" cy="6464595"/>
          </a:xfrm>
        </p:spPr>
        <p:txBody>
          <a:bodyPr>
            <a:normAutofit fontScale="92500" lnSpcReduction="20000"/>
          </a:bodyPr>
          <a:lstStyle/>
          <a:p>
            <a:r>
              <a:rPr lang="en-US" sz="3800" b="1" dirty="0">
                <a:solidFill>
                  <a:srgbClr val="FF0000"/>
                </a:solidFill>
              </a:rPr>
              <a:t>Insight:</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As the number of measles cases increases, </a:t>
            </a:r>
            <a:r>
              <a:rPr lang="en-US" b="1" dirty="0">
                <a:solidFill>
                  <a:srgbClr val="FFFF00"/>
                </a:solidFill>
                <a:latin typeface="Comic Sans MS" panose="030F0702030302020204" pitchFamily="66" charset="0"/>
              </a:rPr>
              <a:t>life expectancy tends to decrease</a:t>
            </a:r>
            <a:r>
              <a:rPr lang="en-US" dirty="0">
                <a:solidFill>
                  <a:srgbClr val="FFFF00"/>
                </a:solidFill>
                <a:latin typeface="Comic Sans MS" panose="030F0702030302020204" pitchFamily="66" charset="0"/>
              </a:rPr>
              <a:t>.</a:t>
            </a:r>
          </a:p>
          <a:p>
            <a:br>
              <a:rPr lang="en-US" dirty="0">
                <a:solidFill>
                  <a:srgbClr val="00FFFF"/>
                </a:solidFill>
                <a:latin typeface="Comic Sans MS" panose="030F0702030302020204" pitchFamily="66" charset="0"/>
              </a:rPr>
            </a:br>
            <a:r>
              <a:rPr lang="en-US" dirty="0">
                <a:solidFill>
                  <a:srgbClr val="00FFFF"/>
                </a:solidFill>
                <a:latin typeface="Comic Sans MS" panose="030F0702030302020204" pitchFamily="66" charset="0"/>
              </a:rPr>
              <a:t>This </a:t>
            </a:r>
            <a:r>
              <a:rPr lang="en-US" dirty="0">
                <a:solidFill>
                  <a:srgbClr val="FFFF00"/>
                </a:solidFill>
                <a:latin typeface="Comic Sans MS" panose="030F0702030302020204" pitchFamily="66" charset="0"/>
              </a:rPr>
              <a:t>negative relationship is especially evident in </a:t>
            </a:r>
            <a:r>
              <a:rPr lang="en-US" b="1" dirty="0">
                <a:solidFill>
                  <a:srgbClr val="FFFF00"/>
                </a:solidFill>
                <a:latin typeface="Comic Sans MS" panose="030F0702030302020204" pitchFamily="66" charset="0"/>
              </a:rPr>
              <a:t>African and Asian countries</a:t>
            </a:r>
            <a:r>
              <a:rPr lang="en-US" dirty="0">
                <a:solidFill>
                  <a:srgbClr val="00FFFF"/>
                </a:solidFill>
                <a:latin typeface="Comic Sans MS" panose="030F0702030302020204" pitchFamily="66" charset="0"/>
              </a:rPr>
              <a:t>, where a </a:t>
            </a:r>
            <a:r>
              <a:rPr lang="en-US" b="1" dirty="0">
                <a:solidFill>
                  <a:srgbClr val="00FFFF"/>
                </a:solidFill>
                <a:latin typeface="Comic Sans MS" panose="030F0702030302020204" pitchFamily="66" charset="0"/>
              </a:rPr>
              <a:t>higher incidence of measles over the years</a:t>
            </a:r>
            <a:r>
              <a:rPr lang="en-US" dirty="0">
                <a:solidFill>
                  <a:srgbClr val="00FFFF"/>
                </a:solidFill>
                <a:latin typeface="Comic Sans MS" panose="030F0702030302020204" pitchFamily="66" charset="0"/>
              </a:rPr>
              <a:t> has contributed to </a:t>
            </a:r>
            <a:r>
              <a:rPr lang="en-US" b="1" dirty="0">
                <a:solidFill>
                  <a:srgbClr val="00FFFF"/>
                </a:solidFill>
                <a:latin typeface="Comic Sans MS" panose="030F0702030302020204" pitchFamily="66" charset="0"/>
              </a:rPr>
              <a:t>lower life expectancy</a:t>
            </a:r>
            <a:r>
              <a:rPr lang="en-US" dirty="0">
                <a:solidFill>
                  <a:srgbClr val="00FFFF"/>
                </a:solidFill>
                <a:latin typeface="Comic Sans MS" panose="030F0702030302020204" pitchFamily="66" charset="0"/>
              </a:rPr>
              <a:t>.</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In contrast, countries with </a:t>
            </a:r>
            <a:r>
              <a:rPr lang="en-US" b="1" dirty="0">
                <a:solidFill>
                  <a:srgbClr val="FFFF00"/>
                </a:solidFill>
                <a:latin typeface="Comic Sans MS" panose="030F0702030302020204" pitchFamily="66" charset="0"/>
              </a:rPr>
              <a:t>better vaccination coverage</a:t>
            </a:r>
            <a:r>
              <a:rPr lang="en-US" dirty="0">
                <a:solidFill>
                  <a:srgbClr val="FFFF00"/>
                </a:solidFill>
                <a:latin typeface="Comic Sans MS" panose="030F0702030302020204" pitchFamily="66" charset="0"/>
              </a:rPr>
              <a:t> and </a:t>
            </a:r>
            <a:r>
              <a:rPr lang="en-US" b="1" dirty="0">
                <a:solidFill>
                  <a:srgbClr val="FFFF00"/>
                </a:solidFill>
                <a:latin typeface="Comic Sans MS" panose="030F0702030302020204" pitchFamily="66" charset="0"/>
              </a:rPr>
              <a:t>fewer measles cases</a:t>
            </a:r>
            <a:r>
              <a:rPr lang="en-US" dirty="0">
                <a:solidFill>
                  <a:srgbClr val="FFFF00"/>
                </a:solidFill>
                <a:latin typeface="Comic Sans MS" panose="030F0702030302020204" pitchFamily="66" charset="0"/>
              </a:rPr>
              <a:t>, often in </a:t>
            </a:r>
            <a:r>
              <a:rPr lang="en-US" b="1" dirty="0">
                <a:solidFill>
                  <a:srgbClr val="FFFF00"/>
                </a:solidFill>
                <a:latin typeface="Comic Sans MS" panose="030F0702030302020204" pitchFamily="66" charset="0"/>
              </a:rPr>
              <a:t>Europe and Oceania</a:t>
            </a:r>
            <a:r>
              <a:rPr lang="en-US" dirty="0">
                <a:solidFill>
                  <a:srgbClr val="00FFFF"/>
                </a:solidFill>
                <a:latin typeface="Comic Sans MS" panose="030F0702030302020204" pitchFamily="66" charset="0"/>
              </a:rPr>
              <a:t>, tend to maintain </a:t>
            </a:r>
            <a:r>
              <a:rPr lang="en-US" b="1" dirty="0">
                <a:solidFill>
                  <a:srgbClr val="FFFF00"/>
                </a:solidFill>
                <a:latin typeface="Comic Sans MS" panose="030F0702030302020204" pitchFamily="66" charset="0"/>
              </a:rPr>
              <a:t>higher life expectancy levels</a:t>
            </a:r>
            <a:r>
              <a:rPr lang="en-US" dirty="0">
                <a:solidFill>
                  <a:srgbClr val="FFFF00"/>
                </a:solidFill>
              </a:rPr>
              <a:t>.</a:t>
            </a:r>
          </a:p>
          <a:p>
            <a:endParaRPr lang="en-IN" dirty="0"/>
          </a:p>
        </p:txBody>
      </p:sp>
    </p:spTree>
    <p:extLst>
      <p:ext uri="{BB962C8B-B14F-4D97-AF65-F5344CB8AC3E}">
        <p14:creationId xmlns:p14="http://schemas.microsoft.com/office/powerpoint/2010/main" val="975913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369DE-26B4-EBD8-AF93-8ADB0233A50D}"/>
              </a:ext>
            </a:extLst>
          </p:cNvPr>
          <p:cNvSpPr>
            <a:spLocks noGrp="1"/>
          </p:cNvSpPr>
          <p:nvPr>
            <p:ph type="title"/>
          </p:nvPr>
        </p:nvSpPr>
        <p:spPr>
          <a:xfrm>
            <a:off x="265814" y="170121"/>
            <a:ext cx="3498112" cy="1116419"/>
          </a:xfrm>
        </p:spPr>
        <p:txBody>
          <a:bodyPr>
            <a:normAutofit/>
          </a:bodyPr>
          <a:lstStyle/>
          <a:p>
            <a:r>
              <a:rPr lang="en-US" b="1" dirty="0"/>
              <a:t>Key Insights:</a:t>
            </a:r>
            <a:endParaRPr lang="en-IN" b="1" dirty="0"/>
          </a:p>
        </p:txBody>
      </p:sp>
      <p:graphicFrame>
        <p:nvGraphicFramePr>
          <p:cNvPr id="4" name="Content Placeholder 3">
            <a:extLst>
              <a:ext uri="{FF2B5EF4-FFF2-40B4-BE49-F238E27FC236}">
                <a16:creationId xmlns:a16="http://schemas.microsoft.com/office/drawing/2014/main" id="{102B4B0E-2139-454A-0C2D-E7E759A516F4}"/>
              </a:ext>
            </a:extLst>
          </p:cNvPr>
          <p:cNvGraphicFramePr>
            <a:graphicFrameLocks noGrp="1"/>
          </p:cNvGraphicFramePr>
          <p:nvPr>
            <p:ph idx="1"/>
            <p:extLst>
              <p:ext uri="{D42A27DB-BD31-4B8C-83A1-F6EECF244321}">
                <p14:modId xmlns:p14="http://schemas.microsoft.com/office/powerpoint/2010/main" val="888319707"/>
              </p:ext>
            </p:extLst>
          </p:nvPr>
        </p:nvGraphicFramePr>
        <p:xfrm>
          <a:off x="265814" y="1148315"/>
          <a:ext cx="11536326" cy="5454502"/>
        </p:xfrm>
        <a:graphic>
          <a:graphicData uri="http://schemas.openxmlformats.org/drawingml/2006/table">
            <a:tbl>
              <a:tblPr>
                <a:tableStyleId>{616DA210-FB5B-4158-B5E0-FEB733F419BA}</a:tableStyleId>
              </a:tblPr>
              <a:tblGrid>
                <a:gridCol w="5768163">
                  <a:extLst>
                    <a:ext uri="{9D8B030D-6E8A-4147-A177-3AD203B41FA5}">
                      <a16:colId xmlns:a16="http://schemas.microsoft.com/office/drawing/2014/main" val="2362184575"/>
                    </a:ext>
                  </a:extLst>
                </a:gridCol>
                <a:gridCol w="5768163">
                  <a:extLst>
                    <a:ext uri="{9D8B030D-6E8A-4147-A177-3AD203B41FA5}">
                      <a16:colId xmlns:a16="http://schemas.microsoft.com/office/drawing/2014/main" val="941408696"/>
                    </a:ext>
                  </a:extLst>
                </a:gridCol>
              </a:tblGrid>
              <a:tr h="720473">
                <a:tc>
                  <a:txBody>
                    <a:bodyPr/>
                    <a:lstStyle/>
                    <a:p>
                      <a:r>
                        <a:rPr lang="en-IN" sz="2000" b="1">
                          <a:latin typeface="Comic Sans MS" panose="030F0702030302020204" pitchFamily="66" charset="0"/>
                        </a:rPr>
                        <a:t>Category</a:t>
                      </a:r>
                      <a:endParaRPr lang="en-IN" sz="2000">
                        <a:latin typeface="Comic Sans MS" panose="030F0702030302020204" pitchFamily="66" charset="0"/>
                      </a:endParaRPr>
                    </a:p>
                  </a:txBody>
                  <a:tcPr anchor="ctr"/>
                </a:tc>
                <a:tc>
                  <a:txBody>
                    <a:bodyPr/>
                    <a:lstStyle/>
                    <a:p>
                      <a:r>
                        <a:rPr lang="en-IN" sz="2000" b="1">
                          <a:solidFill>
                            <a:srgbClr val="FFFF00"/>
                          </a:solidFill>
                          <a:latin typeface="Comic Sans MS" panose="030F0702030302020204" pitchFamily="66" charset="0"/>
                        </a:rPr>
                        <a:t>Insight / Description</a:t>
                      </a:r>
                      <a:endParaRPr lang="en-IN" sz="2000">
                        <a:solidFill>
                          <a:srgbClr val="FFFF00"/>
                        </a:solidFill>
                        <a:latin typeface="Comic Sans MS" panose="030F0702030302020204" pitchFamily="66" charset="0"/>
                      </a:endParaRPr>
                    </a:p>
                  </a:txBody>
                  <a:tcPr anchor="ctr"/>
                </a:tc>
                <a:extLst>
                  <a:ext uri="{0D108BD9-81ED-4DB2-BD59-A6C34878D82A}">
                    <a16:rowId xmlns:a16="http://schemas.microsoft.com/office/drawing/2014/main" val="2623666676"/>
                  </a:ext>
                </a:extLst>
              </a:tr>
              <a:tr h="789005">
                <a:tc>
                  <a:txBody>
                    <a:bodyPr/>
                    <a:lstStyle/>
                    <a:p>
                      <a:r>
                        <a:rPr lang="en-IN" sz="2000" b="1">
                          <a:latin typeface="Comic Sans MS" panose="030F0702030302020204" pitchFamily="66" charset="0"/>
                        </a:rPr>
                        <a:t>Continent with Highest Cases</a:t>
                      </a:r>
                      <a:endParaRPr lang="en-IN" sz="2000">
                        <a:latin typeface="Comic Sans MS" panose="030F0702030302020204" pitchFamily="66" charset="0"/>
                      </a:endParaRPr>
                    </a:p>
                  </a:txBody>
                  <a:tcPr anchor="ctr"/>
                </a:tc>
                <a:tc>
                  <a:txBody>
                    <a:bodyPr/>
                    <a:lstStyle/>
                    <a:p>
                      <a:r>
                        <a:rPr lang="en-US" sz="2000" b="1">
                          <a:solidFill>
                            <a:srgbClr val="FFFF00"/>
                          </a:solidFill>
                          <a:latin typeface="Comic Sans MS" panose="030F0702030302020204" pitchFamily="66" charset="0"/>
                        </a:rPr>
                        <a:t>Africa</a:t>
                      </a:r>
                      <a:r>
                        <a:rPr lang="en-US" sz="2000">
                          <a:solidFill>
                            <a:srgbClr val="FFFF00"/>
                          </a:solidFill>
                          <a:latin typeface="Comic Sans MS" panose="030F0702030302020204" pitchFamily="66" charset="0"/>
                        </a:rPr>
                        <a:t> has the highest total number of measles cases: </a:t>
                      </a:r>
                      <a:r>
                        <a:rPr lang="en-US" sz="2000" b="1">
                          <a:solidFill>
                            <a:srgbClr val="FFFF00"/>
                          </a:solidFill>
                          <a:latin typeface="Comic Sans MS" panose="030F0702030302020204" pitchFamily="66" charset="0"/>
                        </a:rPr>
                        <a:t>3,544,150</a:t>
                      </a:r>
                      <a:endParaRPr lang="en-US" sz="2000">
                        <a:solidFill>
                          <a:srgbClr val="FFFF00"/>
                        </a:solidFill>
                        <a:latin typeface="Comic Sans MS" panose="030F0702030302020204" pitchFamily="66" charset="0"/>
                      </a:endParaRPr>
                    </a:p>
                  </a:txBody>
                  <a:tcPr anchor="ctr"/>
                </a:tc>
                <a:extLst>
                  <a:ext uri="{0D108BD9-81ED-4DB2-BD59-A6C34878D82A}">
                    <a16:rowId xmlns:a16="http://schemas.microsoft.com/office/drawing/2014/main" val="59569117"/>
                  </a:ext>
                </a:extLst>
              </a:tr>
              <a:tr h="789005">
                <a:tc>
                  <a:txBody>
                    <a:bodyPr/>
                    <a:lstStyle/>
                    <a:p>
                      <a:r>
                        <a:rPr lang="en-IN" sz="2000" b="1">
                          <a:latin typeface="Comic Sans MS" panose="030F0702030302020204" pitchFamily="66" charset="0"/>
                        </a:rPr>
                        <a:t>Next Highest Continents</a:t>
                      </a:r>
                      <a:endParaRPr lang="en-IN" sz="2000">
                        <a:latin typeface="Comic Sans MS" panose="030F0702030302020204" pitchFamily="66" charset="0"/>
                      </a:endParaRPr>
                    </a:p>
                  </a:txBody>
                  <a:tcPr anchor="ctr"/>
                </a:tc>
                <a:tc>
                  <a:txBody>
                    <a:bodyPr/>
                    <a:lstStyle/>
                    <a:p>
                      <a:r>
                        <a:rPr lang="en-US" sz="2000">
                          <a:solidFill>
                            <a:srgbClr val="FFFF00"/>
                          </a:solidFill>
                          <a:latin typeface="Comic Sans MS" panose="030F0702030302020204" pitchFamily="66" charset="0"/>
                        </a:rPr>
                        <a:t>Asia: </a:t>
                      </a:r>
                      <a:r>
                        <a:rPr lang="en-US" sz="2000" b="1">
                          <a:solidFill>
                            <a:srgbClr val="FFFF00"/>
                          </a:solidFill>
                          <a:latin typeface="Comic Sans MS" panose="030F0702030302020204" pitchFamily="66" charset="0"/>
                        </a:rPr>
                        <a:t>3,202,776</a:t>
                      </a:r>
                      <a:r>
                        <a:rPr lang="en-US" sz="2000">
                          <a:solidFill>
                            <a:srgbClr val="FFFF00"/>
                          </a:solidFill>
                          <a:latin typeface="Comic Sans MS" panose="030F0702030302020204" pitchFamily="66" charset="0"/>
                        </a:rPr>
                        <a:t>, Europe: </a:t>
                      </a:r>
                      <a:r>
                        <a:rPr lang="en-US" sz="2000" b="1">
                          <a:solidFill>
                            <a:srgbClr val="FFFF00"/>
                          </a:solidFill>
                          <a:latin typeface="Comic Sans MS" panose="030F0702030302020204" pitchFamily="66" charset="0"/>
                        </a:rPr>
                        <a:t>309,073</a:t>
                      </a:r>
                      <a:r>
                        <a:rPr lang="en-US" sz="2000">
                          <a:solidFill>
                            <a:srgbClr val="FFFF00"/>
                          </a:solidFill>
                          <a:latin typeface="Comic Sans MS" panose="030F0702030302020204" pitchFamily="66" charset="0"/>
                        </a:rPr>
                        <a:t>, Oceania: </a:t>
                      </a:r>
                      <a:r>
                        <a:rPr lang="en-US" sz="2000" b="1">
                          <a:solidFill>
                            <a:srgbClr val="FFFF00"/>
                          </a:solidFill>
                          <a:latin typeface="Comic Sans MS" panose="030F0702030302020204" pitchFamily="66" charset="0"/>
                        </a:rPr>
                        <a:t>42,067</a:t>
                      </a:r>
                      <a:r>
                        <a:rPr lang="en-US" sz="2000">
                          <a:solidFill>
                            <a:srgbClr val="FFFF00"/>
                          </a:solidFill>
                          <a:latin typeface="Comic Sans MS" panose="030F0702030302020204" pitchFamily="66" charset="0"/>
                        </a:rPr>
                        <a:t>, North America: </a:t>
                      </a:r>
                      <a:r>
                        <a:rPr lang="en-US" sz="2000" b="1">
                          <a:solidFill>
                            <a:srgbClr val="FFFF00"/>
                          </a:solidFill>
                          <a:latin typeface="Comic Sans MS" panose="030F0702030302020204" pitchFamily="66" charset="0"/>
                        </a:rPr>
                        <a:t>5,869</a:t>
                      </a:r>
                      <a:endParaRPr lang="en-US" sz="2000">
                        <a:solidFill>
                          <a:srgbClr val="FFFF00"/>
                        </a:solidFill>
                        <a:latin typeface="Comic Sans MS" panose="030F0702030302020204" pitchFamily="66" charset="0"/>
                      </a:endParaRPr>
                    </a:p>
                  </a:txBody>
                  <a:tcPr anchor="ctr"/>
                </a:tc>
                <a:extLst>
                  <a:ext uri="{0D108BD9-81ED-4DB2-BD59-A6C34878D82A}">
                    <a16:rowId xmlns:a16="http://schemas.microsoft.com/office/drawing/2014/main" val="917881843"/>
                  </a:ext>
                </a:extLst>
              </a:tr>
              <a:tr h="789005">
                <a:tc>
                  <a:txBody>
                    <a:bodyPr/>
                    <a:lstStyle/>
                    <a:p>
                      <a:r>
                        <a:rPr lang="en-IN" sz="2000" b="1">
                          <a:latin typeface="Comic Sans MS" panose="030F0702030302020204" pitchFamily="66" charset="0"/>
                        </a:rPr>
                        <a:t>Continent with Lowest Cases</a:t>
                      </a:r>
                      <a:endParaRPr lang="en-IN" sz="2000">
                        <a:latin typeface="Comic Sans MS" panose="030F0702030302020204" pitchFamily="66" charset="0"/>
                      </a:endParaRPr>
                    </a:p>
                  </a:txBody>
                  <a:tcPr anchor="ctr"/>
                </a:tc>
                <a:tc>
                  <a:txBody>
                    <a:bodyPr/>
                    <a:lstStyle/>
                    <a:p>
                      <a:r>
                        <a:rPr lang="en-US" sz="2000" b="1">
                          <a:solidFill>
                            <a:srgbClr val="FFFF00"/>
                          </a:solidFill>
                          <a:latin typeface="Comic Sans MS" panose="030F0702030302020204" pitchFamily="66" charset="0"/>
                        </a:rPr>
                        <a:t>South America</a:t>
                      </a:r>
                      <a:r>
                        <a:rPr lang="en-US" sz="2000">
                          <a:solidFill>
                            <a:srgbClr val="FFFF00"/>
                          </a:solidFill>
                          <a:latin typeface="Comic Sans MS" panose="030F0702030302020204" pitchFamily="66" charset="0"/>
                        </a:rPr>
                        <a:t> has the lowest total measles cases: </a:t>
                      </a:r>
                      <a:r>
                        <a:rPr lang="en-US" sz="2000" b="1">
                          <a:solidFill>
                            <a:srgbClr val="FFFF00"/>
                          </a:solidFill>
                          <a:latin typeface="Comic Sans MS" panose="030F0702030302020204" pitchFamily="66" charset="0"/>
                        </a:rPr>
                        <a:t>4,287</a:t>
                      </a:r>
                      <a:endParaRPr lang="en-US" sz="2000">
                        <a:solidFill>
                          <a:srgbClr val="FFFF00"/>
                        </a:solidFill>
                        <a:latin typeface="Comic Sans MS" panose="030F0702030302020204" pitchFamily="66" charset="0"/>
                      </a:endParaRPr>
                    </a:p>
                  </a:txBody>
                  <a:tcPr anchor="ctr"/>
                </a:tc>
                <a:extLst>
                  <a:ext uri="{0D108BD9-81ED-4DB2-BD59-A6C34878D82A}">
                    <a16:rowId xmlns:a16="http://schemas.microsoft.com/office/drawing/2014/main" val="470117555"/>
                  </a:ext>
                </a:extLst>
              </a:tr>
              <a:tr h="1127150">
                <a:tc>
                  <a:txBody>
                    <a:bodyPr/>
                    <a:lstStyle/>
                    <a:p>
                      <a:r>
                        <a:rPr lang="en-US" sz="2000" b="1">
                          <a:latin typeface="Comic Sans MS" panose="030F0702030302020204" pitchFamily="66" charset="0"/>
                        </a:rPr>
                        <a:t>Top 5 Countries (Overall Cases)</a:t>
                      </a:r>
                      <a:endParaRPr lang="en-US" sz="2000">
                        <a:latin typeface="Comic Sans MS" panose="030F0702030302020204" pitchFamily="66" charset="0"/>
                      </a:endParaRPr>
                    </a:p>
                  </a:txBody>
                  <a:tcPr anchor="ctr"/>
                </a:tc>
                <a:tc>
                  <a:txBody>
                    <a:bodyPr/>
                    <a:lstStyle/>
                    <a:p>
                      <a:r>
                        <a:rPr lang="it-IT" sz="2000">
                          <a:solidFill>
                            <a:srgbClr val="FFFF00"/>
                          </a:solidFill>
                          <a:latin typeface="Comic Sans MS" panose="030F0702030302020204" pitchFamily="66" charset="0"/>
                        </a:rPr>
                        <a:t>1. </a:t>
                      </a:r>
                      <a:r>
                        <a:rPr lang="it-IT" sz="2000" b="1">
                          <a:solidFill>
                            <a:srgbClr val="FFFF00"/>
                          </a:solidFill>
                          <a:latin typeface="Comic Sans MS" panose="030F0702030302020204" pitchFamily="66" charset="0"/>
                        </a:rPr>
                        <a:t>China</a:t>
                      </a:r>
                      <a:r>
                        <a:rPr lang="it-IT" sz="2000">
                          <a:solidFill>
                            <a:srgbClr val="FFFF00"/>
                          </a:solidFill>
                          <a:latin typeface="Comic Sans MS" panose="030F0702030302020204" pitchFamily="66" charset="0"/>
                        </a:rPr>
                        <a:t> (1,053,727), 2. </a:t>
                      </a:r>
                      <a:r>
                        <a:rPr lang="it-IT" sz="2000" b="1">
                          <a:solidFill>
                            <a:srgbClr val="FFFF00"/>
                          </a:solidFill>
                          <a:latin typeface="Comic Sans MS" panose="030F0702030302020204" pitchFamily="66" charset="0"/>
                        </a:rPr>
                        <a:t>Nigeria</a:t>
                      </a:r>
                      <a:r>
                        <a:rPr lang="it-IT" sz="2000">
                          <a:solidFill>
                            <a:srgbClr val="FFFF00"/>
                          </a:solidFill>
                          <a:latin typeface="Comic Sans MS" panose="030F0702030302020204" pitchFamily="66" charset="0"/>
                        </a:rPr>
                        <a:t> (826,463), 3. </a:t>
                      </a:r>
                      <a:r>
                        <a:rPr lang="it-IT" sz="2000" b="1">
                          <a:solidFill>
                            <a:srgbClr val="FFFF00"/>
                          </a:solidFill>
                          <a:latin typeface="Comic Sans MS" panose="030F0702030302020204" pitchFamily="66" charset="0"/>
                        </a:rPr>
                        <a:t>DR Congo</a:t>
                      </a:r>
                      <a:r>
                        <a:rPr lang="it-IT" sz="2000">
                          <a:solidFill>
                            <a:srgbClr val="FFFF00"/>
                          </a:solidFill>
                          <a:latin typeface="Comic Sans MS" panose="030F0702030302020204" pitchFamily="66" charset="0"/>
                        </a:rPr>
                        <a:t> (782,763),4. </a:t>
                      </a:r>
                      <a:r>
                        <a:rPr lang="it-IT" sz="2000" b="1">
                          <a:solidFill>
                            <a:srgbClr val="FFFF00"/>
                          </a:solidFill>
                          <a:latin typeface="Comic Sans MS" panose="030F0702030302020204" pitchFamily="66" charset="0"/>
                        </a:rPr>
                        <a:t>India</a:t>
                      </a:r>
                      <a:r>
                        <a:rPr lang="it-IT" sz="2000">
                          <a:solidFill>
                            <a:srgbClr val="FFFF00"/>
                          </a:solidFill>
                          <a:latin typeface="Comic Sans MS" panose="030F0702030302020204" pitchFamily="66" charset="0"/>
                        </a:rPr>
                        <a:t> (743,267), 5. </a:t>
                      </a:r>
                      <a:r>
                        <a:rPr lang="it-IT" sz="2000" b="1">
                          <a:solidFill>
                            <a:srgbClr val="FFFF00"/>
                          </a:solidFill>
                          <a:latin typeface="Comic Sans MS" panose="030F0702030302020204" pitchFamily="66" charset="0"/>
                        </a:rPr>
                        <a:t>Indonesia</a:t>
                      </a:r>
                      <a:r>
                        <a:rPr lang="it-IT" sz="2000">
                          <a:solidFill>
                            <a:srgbClr val="FFFF00"/>
                          </a:solidFill>
                          <a:latin typeface="Comic Sans MS" panose="030F0702030302020204" pitchFamily="66" charset="0"/>
                        </a:rPr>
                        <a:t> (259,919)</a:t>
                      </a:r>
                    </a:p>
                  </a:txBody>
                  <a:tcPr anchor="ctr"/>
                </a:tc>
                <a:extLst>
                  <a:ext uri="{0D108BD9-81ED-4DB2-BD59-A6C34878D82A}">
                    <a16:rowId xmlns:a16="http://schemas.microsoft.com/office/drawing/2014/main" val="3566207032"/>
                  </a:ext>
                </a:extLst>
              </a:tr>
              <a:tr h="789005">
                <a:tc>
                  <a:txBody>
                    <a:bodyPr/>
                    <a:lstStyle/>
                    <a:p>
                      <a:r>
                        <a:rPr lang="en-US" sz="2000" b="1">
                          <a:latin typeface="Comic Sans MS" panose="030F0702030302020204" pitchFamily="66" charset="0"/>
                        </a:rPr>
                        <a:t>Country with Most Cases in 2015</a:t>
                      </a:r>
                      <a:endParaRPr lang="en-US" sz="2000">
                        <a:latin typeface="Comic Sans MS" panose="030F0702030302020204" pitchFamily="66" charset="0"/>
                      </a:endParaRPr>
                    </a:p>
                  </a:txBody>
                  <a:tcPr anchor="ctr"/>
                </a:tc>
                <a:tc>
                  <a:txBody>
                    <a:bodyPr/>
                    <a:lstStyle/>
                    <a:p>
                      <a:r>
                        <a:rPr lang="en-US" sz="2000" b="1">
                          <a:solidFill>
                            <a:srgbClr val="FFFF00"/>
                          </a:solidFill>
                          <a:latin typeface="Comic Sans MS" panose="030F0702030302020204" pitchFamily="66" charset="0"/>
                        </a:rPr>
                        <a:t>India</a:t>
                      </a:r>
                      <a:r>
                        <a:rPr lang="en-US" sz="2000">
                          <a:solidFill>
                            <a:srgbClr val="FFFF00"/>
                          </a:solidFill>
                          <a:latin typeface="Comic Sans MS" panose="030F0702030302020204" pitchFamily="66" charset="0"/>
                        </a:rPr>
                        <a:t> reported the highest number of measles cases in 2015: </a:t>
                      </a:r>
                      <a:r>
                        <a:rPr lang="en-US" sz="2000" b="1">
                          <a:solidFill>
                            <a:srgbClr val="FFFF00"/>
                          </a:solidFill>
                          <a:latin typeface="Comic Sans MS" panose="030F0702030302020204" pitchFamily="66" charset="0"/>
                        </a:rPr>
                        <a:t>90,387</a:t>
                      </a:r>
                      <a:endParaRPr lang="en-US" sz="2000">
                        <a:solidFill>
                          <a:srgbClr val="FFFF00"/>
                        </a:solidFill>
                        <a:latin typeface="Comic Sans MS" panose="030F0702030302020204" pitchFamily="66" charset="0"/>
                      </a:endParaRPr>
                    </a:p>
                  </a:txBody>
                  <a:tcPr anchor="ctr"/>
                </a:tc>
                <a:extLst>
                  <a:ext uri="{0D108BD9-81ED-4DB2-BD59-A6C34878D82A}">
                    <a16:rowId xmlns:a16="http://schemas.microsoft.com/office/drawing/2014/main" val="1912803632"/>
                  </a:ext>
                </a:extLst>
              </a:tr>
              <a:tr h="450859">
                <a:tc>
                  <a:txBody>
                    <a:bodyPr/>
                    <a:lstStyle/>
                    <a:p>
                      <a:r>
                        <a:rPr lang="en-US" sz="2000" b="1">
                          <a:latin typeface="Comic Sans MS" panose="030F0702030302020204" pitchFamily="66" charset="0"/>
                        </a:rPr>
                        <a:t>Other Top Countries in 2015</a:t>
                      </a:r>
                      <a:endParaRPr lang="en-US" sz="2000">
                        <a:latin typeface="Comic Sans MS" panose="030F0702030302020204" pitchFamily="66" charset="0"/>
                      </a:endParaRPr>
                    </a:p>
                  </a:txBody>
                  <a:tcPr anchor="ctr"/>
                </a:tc>
                <a:tc>
                  <a:txBody>
                    <a:bodyPr/>
                    <a:lstStyle/>
                    <a:p>
                      <a:r>
                        <a:rPr lang="en-US" sz="2000" b="1" dirty="0">
                          <a:solidFill>
                            <a:srgbClr val="FFFF00"/>
                          </a:solidFill>
                          <a:latin typeface="Comic Sans MS" panose="030F0702030302020204" pitchFamily="66" charset="0"/>
                        </a:rPr>
                        <a:t>China</a:t>
                      </a:r>
                      <a:r>
                        <a:rPr lang="en-US" sz="2000" dirty="0">
                          <a:solidFill>
                            <a:srgbClr val="FFFF00"/>
                          </a:solidFill>
                          <a:latin typeface="Comic Sans MS" panose="030F0702030302020204" pitchFamily="66" charset="0"/>
                        </a:rPr>
                        <a:t> and </a:t>
                      </a:r>
                      <a:r>
                        <a:rPr lang="en-US" sz="2000" b="1" dirty="0">
                          <a:solidFill>
                            <a:srgbClr val="FFFF00"/>
                          </a:solidFill>
                          <a:latin typeface="Comic Sans MS" panose="030F0702030302020204" pitchFamily="66" charset="0"/>
                        </a:rPr>
                        <a:t>Mongolia</a:t>
                      </a:r>
                      <a:endParaRPr lang="en-US" sz="2000" dirty="0">
                        <a:solidFill>
                          <a:srgbClr val="FFFF00"/>
                        </a:solidFill>
                        <a:latin typeface="Comic Sans MS" panose="030F0702030302020204" pitchFamily="66" charset="0"/>
                      </a:endParaRPr>
                    </a:p>
                  </a:txBody>
                  <a:tcPr anchor="ctr"/>
                </a:tc>
                <a:extLst>
                  <a:ext uri="{0D108BD9-81ED-4DB2-BD59-A6C34878D82A}">
                    <a16:rowId xmlns:a16="http://schemas.microsoft.com/office/drawing/2014/main" val="1503483301"/>
                  </a:ext>
                </a:extLst>
              </a:tr>
            </a:tbl>
          </a:graphicData>
        </a:graphic>
      </p:graphicFrame>
    </p:spTree>
    <p:extLst>
      <p:ext uri="{BB962C8B-B14F-4D97-AF65-F5344CB8AC3E}">
        <p14:creationId xmlns:p14="http://schemas.microsoft.com/office/powerpoint/2010/main" val="1407000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0216-9382-833D-2DAF-AA05E31A9A6A}"/>
              </a:ext>
            </a:extLst>
          </p:cNvPr>
          <p:cNvSpPr>
            <a:spLocks noGrp="1"/>
          </p:cNvSpPr>
          <p:nvPr>
            <p:ph type="title"/>
          </p:nvPr>
        </p:nvSpPr>
        <p:spPr>
          <a:xfrm>
            <a:off x="244549" y="202019"/>
            <a:ext cx="2955851" cy="935665"/>
          </a:xfrm>
        </p:spPr>
        <p:txBody>
          <a:bodyPr/>
          <a:lstStyle/>
          <a:p>
            <a:r>
              <a:rPr lang="en-US" b="1" dirty="0">
                <a:latin typeface="+mn-lt"/>
              </a:rPr>
              <a:t>9.BMI</a:t>
            </a:r>
            <a:endParaRPr lang="en-IN" b="1" dirty="0">
              <a:latin typeface="+mn-lt"/>
            </a:endParaRPr>
          </a:p>
        </p:txBody>
      </p:sp>
      <p:pic>
        <p:nvPicPr>
          <p:cNvPr id="6" name="Content Placeholder 5">
            <a:extLst>
              <a:ext uri="{FF2B5EF4-FFF2-40B4-BE49-F238E27FC236}">
                <a16:creationId xmlns:a16="http://schemas.microsoft.com/office/drawing/2014/main" id="{1CF6C625-EFB2-ED2F-700E-5CFAA7BBB440}"/>
              </a:ext>
            </a:extLst>
          </p:cNvPr>
          <p:cNvPicPr>
            <a:picLocks noGrp="1" noChangeAspect="1"/>
          </p:cNvPicPr>
          <p:nvPr>
            <p:ph sz="half" idx="1"/>
          </p:nvPr>
        </p:nvPicPr>
        <p:blipFill>
          <a:blip r:embed="rId2"/>
          <a:stretch>
            <a:fillRect/>
          </a:stretch>
        </p:blipFill>
        <p:spPr>
          <a:xfrm>
            <a:off x="1" y="1286539"/>
            <a:ext cx="6453962" cy="5284382"/>
          </a:xfrm>
        </p:spPr>
      </p:pic>
      <p:sp>
        <p:nvSpPr>
          <p:cNvPr id="4" name="Content Placeholder 3">
            <a:extLst>
              <a:ext uri="{FF2B5EF4-FFF2-40B4-BE49-F238E27FC236}">
                <a16:creationId xmlns:a16="http://schemas.microsoft.com/office/drawing/2014/main" id="{FFF835D7-729F-8933-F096-F3932B7AB415}"/>
              </a:ext>
            </a:extLst>
          </p:cNvPr>
          <p:cNvSpPr>
            <a:spLocks noGrp="1"/>
          </p:cNvSpPr>
          <p:nvPr>
            <p:ph sz="half" idx="2"/>
          </p:nvPr>
        </p:nvSpPr>
        <p:spPr>
          <a:xfrm>
            <a:off x="6709144" y="329609"/>
            <a:ext cx="5238307" cy="6315740"/>
          </a:xfrm>
        </p:spPr>
        <p:txBody>
          <a:bodyPr>
            <a:normAutofit fontScale="70000" lnSpcReduction="20000"/>
          </a:bodyPr>
          <a:lstStyle/>
          <a:p>
            <a:r>
              <a:rPr lang="en-US" sz="3400" b="1" dirty="0">
                <a:latin typeface="Comic Sans MS" panose="030F0702030302020204" pitchFamily="66" charset="0"/>
              </a:rPr>
              <a:t>Insight</a:t>
            </a:r>
          </a:p>
          <a:p>
            <a:endParaRPr lang="en-US" b="1" dirty="0">
              <a:latin typeface="Comic Sans MS" panose="030F0702030302020204" pitchFamily="66" charset="0"/>
            </a:endParaRPr>
          </a:p>
          <a:p>
            <a:r>
              <a:rPr lang="en-US" b="1" dirty="0">
                <a:solidFill>
                  <a:srgbClr val="FFFF00"/>
                </a:solidFill>
                <a:latin typeface="Comic Sans MS" panose="030F0702030302020204" pitchFamily="66" charset="0"/>
              </a:rPr>
              <a:t>BMI (Body Mass Index)</a:t>
            </a:r>
            <a:r>
              <a:rPr lang="en-US" dirty="0">
                <a:solidFill>
                  <a:srgbClr val="FFFF00"/>
                </a:solidFill>
                <a:latin typeface="Comic Sans MS" panose="030F0702030302020204" pitchFamily="66" charset="0"/>
              </a:rPr>
              <a:t> is a numerical measure used to determine whether a person has a healthy weight for their height. It helps assess whether someone is underweight, normal weight, overweight, or obese.</a:t>
            </a:r>
          </a:p>
          <a:p>
            <a:endParaRPr lang="en-US" dirty="0">
              <a:latin typeface="Comic Sans MS" panose="030F0702030302020204" pitchFamily="66" charset="0"/>
            </a:endParaRPr>
          </a:p>
          <a:p>
            <a:r>
              <a:rPr lang="en-US" dirty="0">
                <a:latin typeface="Comic Sans MS" panose="030F0702030302020204" pitchFamily="66" charset="0"/>
              </a:rPr>
              <a:t>When analyzing life expectancy by BMI category and continent:</a:t>
            </a:r>
          </a:p>
          <a:p>
            <a:endParaRPr lang="en-US" dirty="0">
              <a:latin typeface="Comic Sans MS" panose="030F0702030302020204" pitchFamily="66" charset="0"/>
            </a:endParaRPr>
          </a:p>
          <a:p>
            <a:r>
              <a:rPr lang="en-US" b="1" dirty="0">
                <a:solidFill>
                  <a:srgbClr val="FFFF00"/>
                </a:solidFill>
                <a:latin typeface="Comic Sans MS" panose="030F0702030302020204" pitchFamily="66" charset="0"/>
              </a:rPr>
              <a:t>European countries</a:t>
            </a:r>
            <a:r>
              <a:rPr lang="en-US" dirty="0">
                <a:solidFill>
                  <a:srgbClr val="FFFF00"/>
                </a:solidFill>
                <a:latin typeface="Comic Sans MS" panose="030F0702030302020204" pitchFamily="66" charset="0"/>
              </a:rPr>
              <a:t> that fall under the </a:t>
            </a:r>
            <a:r>
              <a:rPr lang="en-US" b="1" dirty="0">
                <a:solidFill>
                  <a:srgbClr val="FFFF00"/>
                </a:solidFill>
                <a:latin typeface="Comic Sans MS" panose="030F0702030302020204" pitchFamily="66" charset="0"/>
              </a:rPr>
              <a:t>underweight BMI </a:t>
            </a:r>
            <a:r>
              <a:rPr lang="en-US" b="1" dirty="0">
                <a:latin typeface="Comic Sans MS" panose="030F0702030302020204" pitchFamily="66" charset="0"/>
              </a:rPr>
              <a:t>category</a:t>
            </a:r>
            <a:r>
              <a:rPr lang="en-US" dirty="0">
                <a:latin typeface="Comic Sans MS" panose="030F0702030302020204" pitchFamily="66" charset="0"/>
              </a:rPr>
              <a:t> have the </a:t>
            </a:r>
            <a:r>
              <a:rPr lang="en-US" b="1" dirty="0">
                <a:solidFill>
                  <a:srgbClr val="FFFF00"/>
                </a:solidFill>
                <a:latin typeface="Comic Sans MS" panose="030F0702030302020204" pitchFamily="66" charset="0"/>
              </a:rPr>
              <a:t>highest average life expectancy</a:t>
            </a:r>
            <a:r>
              <a:rPr lang="en-US" dirty="0">
                <a:solidFill>
                  <a:srgbClr val="FFFF00"/>
                </a:solidFill>
                <a:latin typeface="Comic Sans MS" panose="030F0702030302020204" pitchFamily="66" charset="0"/>
              </a:rPr>
              <a:t>, at approximately </a:t>
            </a:r>
            <a:r>
              <a:rPr lang="en-US" b="1" dirty="0">
                <a:solidFill>
                  <a:srgbClr val="FFFF00"/>
                </a:solidFill>
                <a:latin typeface="Comic Sans MS" panose="030F0702030302020204" pitchFamily="66" charset="0"/>
              </a:rPr>
              <a:t>78.17 years</a:t>
            </a:r>
            <a:r>
              <a:rPr lang="en-US" dirty="0">
                <a:latin typeface="Comic Sans MS" panose="030F0702030302020204" pitchFamily="66" charset="0"/>
              </a:rPr>
              <a:t>.</a:t>
            </a:r>
          </a:p>
          <a:p>
            <a:endParaRPr lang="en-US" dirty="0">
              <a:latin typeface="Comic Sans MS" panose="030F0702030302020204" pitchFamily="66" charset="0"/>
            </a:endParaRPr>
          </a:p>
          <a:p>
            <a:r>
              <a:rPr lang="en-US" dirty="0">
                <a:latin typeface="Comic Sans MS" panose="030F0702030302020204" pitchFamily="66" charset="0"/>
              </a:rPr>
              <a:t>In contrast, </a:t>
            </a:r>
            <a:r>
              <a:rPr lang="en-US" b="1" dirty="0">
                <a:solidFill>
                  <a:srgbClr val="FFFF00"/>
                </a:solidFill>
                <a:latin typeface="Comic Sans MS" panose="030F0702030302020204" pitchFamily="66" charset="0"/>
              </a:rPr>
              <a:t>African countries</a:t>
            </a:r>
            <a:r>
              <a:rPr lang="en-US" dirty="0">
                <a:solidFill>
                  <a:srgbClr val="FFFF00"/>
                </a:solidFill>
                <a:latin typeface="Comic Sans MS" panose="030F0702030302020204" pitchFamily="66" charset="0"/>
              </a:rPr>
              <a:t> within the same </a:t>
            </a:r>
            <a:r>
              <a:rPr lang="en-US" b="1" dirty="0">
                <a:solidFill>
                  <a:srgbClr val="FFFF00"/>
                </a:solidFill>
                <a:latin typeface="Comic Sans MS" panose="030F0702030302020204" pitchFamily="66" charset="0"/>
              </a:rPr>
              <a:t>underweight BMI category</a:t>
            </a:r>
            <a:r>
              <a:rPr lang="en-US" dirty="0">
                <a:solidFill>
                  <a:srgbClr val="FFFF00"/>
                </a:solidFill>
                <a:latin typeface="Comic Sans MS" panose="030F0702030302020204" pitchFamily="66" charset="0"/>
              </a:rPr>
              <a:t> have the </a:t>
            </a:r>
            <a:r>
              <a:rPr lang="en-US" b="1" dirty="0">
                <a:solidFill>
                  <a:srgbClr val="FFFF00"/>
                </a:solidFill>
                <a:latin typeface="Comic Sans MS" panose="030F0702030302020204" pitchFamily="66" charset="0"/>
              </a:rPr>
              <a:t>lowest average life expectancy</a:t>
            </a:r>
            <a:r>
              <a:rPr lang="en-US" dirty="0">
                <a:solidFill>
                  <a:srgbClr val="FFFF00"/>
                </a:solidFill>
                <a:latin typeface="Comic Sans MS" panose="030F0702030302020204" pitchFamily="66" charset="0"/>
              </a:rPr>
              <a:t>, around </a:t>
            </a:r>
            <a:r>
              <a:rPr lang="en-US" b="1" dirty="0">
                <a:solidFill>
                  <a:srgbClr val="FFFF00"/>
                </a:solidFill>
                <a:latin typeface="Comic Sans MS" panose="030F0702030302020204" pitchFamily="66" charset="0"/>
              </a:rPr>
              <a:t>55.46 years</a:t>
            </a:r>
            <a:r>
              <a:rPr lang="en-US" dirty="0">
                <a:latin typeface="Comic Sans MS" panose="030F0702030302020204" pitchFamily="66" charset="0"/>
              </a:rPr>
              <a:t>.</a:t>
            </a:r>
          </a:p>
          <a:p>
            <a:endParaRPr lang="en-IN" dirty="0">
              <a:latin typeface="Comic Sans MS" panose="030F0702030302020204" pitchFamily="66" charset="0"/>
            </a:endParaRPr>
          </a:p>
        </p:txBody>
      </p:sp>
    </p:spTree>
    <p:extLst>
      <p:ext uri="{BB962C8B-B14F-4D97-AF65-F5344CB8AC3E}">
        <p14:creationId xmlns:p14="http://schemas.microsoft.com/office/powerpoint/2010/main" val="435322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16DA-8246-B6DB-AF16-9597F81A3B14}"/>
              </a:ext>
            </a:extLst>
          </p:cNvPr>
          <p:cNvSpPr>
            <a:spLocks noGrp="1"/>
          </p:cNvSpPr>
          <p:nvPr>
            <p:ph type="title"/>
          </p:nvPr>
        </p:nvSpPr>
        <p:spPr>
          <a:xfrm>
            <a:off x="297713" y="170121"/>
            <a:ext cx="3572538" cy="903767"/>
          </a:xfrm>
        </p:spPr>
        <p:txBody>
          <a:bodyPr>
            <a:normAutofit/>
          </a:bodyPr>
          <a:lstStyle/>
          <a:p>
            <a:r>
              <a:rPr lang="en-US" b="1" dirty="0">
                <a:latin typeface="+mn-lt"/>
              </a:rPr>
              <a:t>Key Insight:</a:t>
            </a:r>
            <a:endParaRPr lang="en-IN" b="1" dirty="0">
              <a:latin typeface="+mn-lt"/>
            </a:endParaRPr>
          </a:p>
        </p:txBody>
      </p:sp>
      <p:graphicFrame>
        <p:nvGraphicFramePr>
          <p:cNvPr id="4" name="Content Placeholder 3">
            <a:extLst>
              <a:ext uri="{FF2B5EF4-FFF2-40B4-BE49-F238E27FC236}">
                <a16:creationId xmlns:a16="http://schemas.microsoft.com/office/drawing/2014/main" id="{4AAA75BC-208D-6D0B-F71A-67449915BF59}"/>
              </a:ext>
            </a:extLst>
          </p:cNvPr>
          <p:cNvGraphicFramePr>
            <a:graphicFrameLocks noGrp="1"/>
          </p:cNvGraphicFramePr>
          <p:nvPr>
            <p:ph idx="1"/>
            <p:extLst>
              <p:ext uri="{D42A27DB-BD31-4B8C-83A1-F6EECF244321}">
                <p14:modId xmlns:p14="http://schemas.microsoft.com/office/powerpoint/2010/main" val="3420250669"/>
              </p:ext>
            </p:extLst>
          </p:nvPr>
        </p:nvGraphicFramePr>
        <p:xfrm>
          <a:off x="170122" y="1073887"/>
          <a:ext cx="11568221" cy="5620645"/>
        </p:xfrm>
        <a:graphic>
          <a:graphicData uri="http://schemas.openxmlformats.org/drawingml/2006/table">
            <a:tbl>
              <a:tblPr>
                <a:tableStyleId>{616DA210-FB5B-4158-B5E0-FEB733F419BA}</a:tableStyleId>
              </a:tblPr>
              <a:tblGrid>
                <a:gridCol w="2313644">
                  <a:extLst>
                    <a:ext uri="{9D8B030D-6E8A-4147-A177-3AD203B41FA5}">
                      <a16:colId xmlns:a16="http://schemas.microsoft.com/office/drawing/2014/main" val="2836391794"/>
                    </a:ext>
                  </a:extLst>
                </a:gridCol>
                <a:gridCol w="2313644">
                  <a:extLst>
                    <a:ext uri="{9D8B030D-6E8A-4147-A177-3AD203B41FA5}">
                      <a16:colId xmlns:a16="http://schemas.microsoft.com/office/drawing/2014/main" val="1373423177"/>
                    </a:ext>
                  </a:extLst>
                </a:gridCol>
                <a:gridCol w="2313644">
                  <a:extLst>
                    <a:ext uri="{9D8B030D-6E8A-4147-A177-3AD203B41FA5}">
                      <a16:colId xmlns:a16="http://schemas.microsoft.com/office/drawing/2014/main" val="1221100562"/>
                    </a:ext>
                  </a:extLst>
                </a:gridCol>
                <a:gridCol w="1759857">
                  <a:extLst>
                    <a:ext uri="{9D8B030D-6E8A-4147-A177-3AD203B41FA5}">
                      <a16:colId xmlns:a16="http://schemas.microsoft.com/office/drawing/2014/main" val="534105473"/>
                    </a:ext>
                  </a:extLst>
                </a:gridCol>
                <a:gridCol w="2867432">
                  <a:extLst>
                    <a:ext uri="{9D8B030D-6E8A-4147-A177-3AD203B41FA5}">
                      <a16:colId xmlns:a16="http://schemas.microsoft.com/office/drawing/2014/main" val="1473657519"/>
                    </a:ext>
                  </a:extLst>
                </a:gridCol>
              </a:tblGrid>
              <a:tr h="553492">
                <a:tc>
                  <a:txBody>
                    <a:bodyPr/>
                    <a:lstStyle/>
                    <a:p>
                      <a:r>
                        <a:rPr lang="en-IN" sz="1600" b="1">
                          <a:solidFill>
                            <a:srgbClr val="FFFF00"/>
                          </a:solidFill>
                          <a:latin typeface="Comic Sans MS" panose="030F0702030302020204" pitchFamily="66" charset="0"/>
                        </a:rPr>
                        <a:t>Category</a:t>
                      </a:r>
                      <a:endParaRPr lang="en-IN" sz="1600">
                        <a:solidFill>
                          <a:srgbClr val="FFFF00"/>
                        </a:solidFill>
                        <a:latin typeface="Comic Sans MS" panose="030F0702030302020204" pitchFamily="66" charset="0"/>
                      </a:endParaRPr>
                    </a:p>
                  </a:txBody>
                  <a:tcPr marL="72466" marR="72466" marT="36233" marB="36233" anchor="ctr"/>
                </a:tc>
                <a:tc>
                  <a:txBody>
                    <a:bodyPr/>
                    <a:lstStyle/>
                    <a:p>
                      <a:r>
                        <a:rPr lang="en-IN" sz="1600" b="1">
                          <a:solidFill>
                            <a:srgbClr val="FFFF00"/>
                          </a:solidFill>
                          <a:latin typeface="Comic Sans MS" panose="030F0702030302020204" pitchFamily="66" charset="0"/>
                        </a:rPr>
                        <a:t>Country</a:t>
                      </a:r>
                      <a:endParaRPr lang="en-IN" sz="1600">
                        <a:solidFill>
                          <a:srgbClr val="FFFF00"/>
                        </a:solidFill>
                        <a:latin typeface="Comic Sans MS" panose="030F0702030302020204" pitchFamily="66" charset="0"/>
                      </a:endParaRPr>
                    </a:p>
                  </a:txBody>
                  <a:tcPr marL="72466" marR="72466" marT="36233" marB="36233" anchor="ctr"/>
                </a:tc>
                <a:tc>
                  <a:txBody>
                    <a:bodyPr/>
                    <a:lstStyle/>
                    <a:p>
                      <a:r>
                        <a:rPr lang="en-IN" sz="1600" b="1">
                          <a:solidFill>
                            <a:srgbClr val="FFFF00"/>
                          </a:solidFill>
                          <a:latin typeface="Comic Sans MS" panose="030F0702030302020204" pitchFamily="66" charset="0"/>
                        </a:rPr>
                        <a:t>Continent</a:t>
                      </a:r>
                      <a:endParaRPr lang="en-IN" sz="1600">
                        <a:solidFill>
                          <a:srgbClr val="FFFF00"/>
                        </a:solidFill>
                        <a:latin typeface="Comic Sans MS" panose="030F0702030302020204" pitchFamily="66" charset="0"/>
                      </a:endParaRPr>
                    </a:p>
                  </a:txBody>
                  <a:tcPr marL="72466" marR="72466" marT="36233" marB="36233" anchor="ctr"/>
                </a:tc>
                <a:tc>
                  <a:txBody>
                    <a:bodyPr/>
                    <a:lstStyle/>
                    <a:p>
                      <a:r>
                        <a:rPr lang="en-IN" sz="1600" b="1">
                          <a:solidFill>
                            <a:srgbClr val="FFFF00"/>
                          </a:solidFill>
                          <a:latin typeface="Comic Sans MS" panose="030F0702030302020204" pitchFamily="66" charset="0"/>
                        </a:rPr>
                        <a:t>Life Expectancy (Years)</a:t>
                      </a:r>
                      <a:endParaRPr lang="en-IN" sz="1600">
                        <a:solidFill>
                          <a:srgbClr val="FFFF00"/>
                        </a:solidFill>
                        <a:latin typeface="Comic Sans MS" panose="030F0702030302020204" pitchFamily="66" charset="0"/>
                      </a:endParaRPr>
                    </a:p>
                  </a:txBody>
                  <a:tcPr marL="72466" marR="72466" marT="36233" marB="36233" anchor="ctr"/>
                </a:tc>
                <a:tc>
                  <a:txBody>
                    <a:bodyPr/>
                    <a:lstStyle/>
                    <a:p>
                      <a:r>
                        <a:rPr lang="en-IN" sz="1600" b="1">
                          <a:solidFill>
                            <a:srgbClr val="FFFF00"/>
                          </a:solidFill>
                          <a:latin typeface="Comic Sans MS" panose="030F0702030302020204" pitchFamily="66" charset="0"/>
                        </a:rPr>
                        <a:t>Description</a:t>
                      </a:r>
                      <a:endParaRPr lang="en-IN" sz="1600">
                        <a:solidFill>
                          <a:srgbClr val="FFFF00"/>
                        </a:solidFill>
                        <a:latin typeface="Comic Sans MS" panose="030F0702030302020204" pitchFamily="66" charset="0"/>
                      </a:endParaRPr>
                    </a:p>
                  </a:txBody>
                  <a:tcPr marL="72466" marR="72466" marT="36233" marB="36233" anchor="ctr"/>
                </a:tc>
                <a:extLst>
                  <a:ext uri="{0D108BD9-81ED-4DB2-BD59-A6C34878D82A}">
                    <a16:rowId xmlns:a16="http://schemas.microsoft.com/office/drawing/2014/main" val="579145636"/>
                  </a:ext>
                </a:extLst>
              </a:tr>
              <a:tr h="1265125">
                <a:tc>
                  <a:txBody>
                    <a:bodyPr/>
                    <a:lstStyle/>
                    <a:p>
                      <a:r>
                        <a:rPr lang="en-IN" sz="1600">
                          <a:solidFill>
                            <a:srgbClr val="FFFF00"/>
                          </a:solidFill>
                          <a:latin typeface="Comic Sans MS" panose="030F0702030302020204" pitchFamily="66" charset="0"/>
                        </a:rPr>
                        <a:t>Most Obese Country (Overall)</a:t>
                      </a:r>
                    </a:p>
                  </a:txBody>
                  <a:tcPr marL="72466" marR="72466" marT="36233" marB="36233" anchor="ctr"/>
                </a:tc>
                <a:tc>
                  <a:txBody>
                    <a:bodyPr/>
                    <a:lstStyle/>
                    <a:p>
                      <a:r>
                        <a:rPr lang="en-IN" sz="1600">
                          <a:solidFill>
                            <a:srgbClr val="FFFF00"/>
                          </a:solidFill>
                          <a:latin typeface="Comic Sans MS" panose="030F0702030302020204" pitchFamily="66" charset="0"/>
                        </a:rPr>
                        <a:t>Nauru</a:t>
                      </a:r>
                    </a:p>
                  </a:txBody>
                  <a:tcPr marL="72466" marR="72466" marT="36233" marB="36233" anchor="ctr"/>
                </a:tc>
                <a:tc>
                  <a:txBody>
                    <a:bodyPr/>
                    <a:lstStyle/>
                    <a:p>
                      <a:r>
                        <a:rPr lang="en-IN" sz="1600">
                          <a:solidFill>
                            <a:srgbClr val="FFFF00"/>
                          </a:solidFill>
                          <a:latin typeface="Comic Sans MS" panose="030F0702030302020204" pitchFamily="66" charset="0"/>
                        </a:rPr>
                        <a:t>Oceania</a:t>
                      </a:r>
                    </a:p>
                  </a:txBody>
                  <a:tcPr marL="72466" marR="72466" marT="36233" marB="36233" anchor="ctr"/>
                </a:tc>
                <a:tc>
                  <a:txBody>
                    <a:bodyPr/>
                    <a:lstStyle/>
                    <a:p>
                      <a:r>
                        <a:rPr lang="en-IN" sz="1600">
                          <a:solidFill>
                            <a:srgbClr val="FFFF00"/>
                          </a:solidFill>
                          <a:latin typeface="Comic Sans MS" panose="030F0702030302020204" pitchFamily="66" charset="0"/>
                        </a:rPr>
                        <a:t>69.0</a:t>
                      </a:r>
                    </a:p>
                  </a:txBody>
                  <a:tcPr marL="72466" marR="72466" marT="36233" marB="36233" anchor="ctr"/>
                </a:tc>
                <a:tc>
                  <a:txBody>
                    <a:bodyPr/>
                    <a:lstStyle/>
                    <a:p>
                      <a:r>
                        <a:rPr lang="en-US" sz="1600">
                          <a:solidFill>
                            <a:srgbClr val="FFFF00"/>
                          </a:solidFill>
                          <a:latin typeface="Comic Sans MS" panose="030F0702030302020204" pitchFamily="66" charset="0"/>
                        </a:rPr>
                        <a:t>Nauru has the highest average BMI over the years, indicating high obesity levels.</a:t>
                      </a:r>
                    </a:p>
                  </a:txBody>
                  <a:tcPr marL="72466" marR="72466" marT="36233" marB="36233" anchor="ctr"/>
                </a:tc>
                <a:extLst>
                  <a:ext uri="{0D108BD9-81ED-4DB2-BD59-A6C34878D82A}">
                    <a16:rowId xmlns:a16="http://schemas.microsoft.com/office/drawing/2014/main" val="1195182319"/>
                  </a:ext>
                </a:extLst>
              </a:tr>
              <a:tr h="1502335">
                <a:tc>
                  <a:txBody>
                    <a:bodyPr/>
                    <a:lstStyle/>
                    <a:p>
                      <a:r>
                        <a:rPr lang="en-IN" sz="1600">
                          <a:solidFill>
                            <a:srgbClr val="FFFF00"/>
                          </a:solidFill>
                          <a:latin typeface="Comic Sans MS" panose="030F0702030302020204" pitchFamily="66" charset="0"/>
                        </a:rPr>
                        <a:t>Most Underweight Country (Overall)</a:t>
                      </a:r>
                    </a:p>
                  </a:txBody>
                  <a:tcPr marL="72466" marR="72466" marT="36233" marB="36233" anchor="ctr"/>
                </a:tc>
                <a:tc>
                  <a:txBody>
                    <a:bodyPr/>
                    <a:lstStyle/>
                    <a:p>
                      <a:r>
                        <a:rPr lang="en-IN" sz="1600">
                          <a:solidFill>
                            <a:srgbClr val="FFFF00"/>
                          </a:solidFill>
                          <a:latin typeface="Comic Sans MS" panose="030F0702030302020204" pitchFamily="66" charset="0"/>
                        </a:rPr>
                        <a:t>Vietnam</a:t>
                      </a:r>
                    </a:p>
                  </a:txBody>
                  <a:tcPr marL="72466" marR="72466" marT="36233" marB="36233" anchor="ctr"/>
                </a:tc>
                <a:tc>
                  <a:txBody>
                    <a:bodyPr/>
                    <a:lstStyle/>
                    <a:p>
                      <a:r>
                        <a:rPr lang="en-IN" sz="1600">
                          <a:solidFill>
                            <a:srgbClr val="FFFF00"/>
                          </a:solidFill>
                          <a:latin typeface="Comic Sans MS" panose="030F0702030302020204" pitchFamily="66" charset="0"/>
                        </a:rPr>
                        <a:t>Asia</a:t>
                      </a:r>
                    </a:p>
                  </a:txBody>
                  <a:tcPr marL="72466" marR="72466" marT="36233" marB="36233" anchor="ctr"/>
                </a:tc>
                <a:tc>
                  <a:txBody>
                    <a:bodyPr/>
                    <a:lstStyle/>
                    <a:p>
                      <a:r>
                        <a:rPr lang="en-IN" sz="1600" dirty="0">
                          <a:solidFill>
                            <a:srgbClr val="FFFF00"/>
                          </a:solidFill>
                          <a:latin typeface="Comic Sans MS" panose="030F0702030302020204" pitchFamily="66" charset="0"/>
                        </a:rPr>
                        <a:t>73.8</a:t>
                      </a:r>
                    </a:p>
                  </a:txBody>
                  <a:tcPr marL="72466" marR="72466" marT="36233" marB="36233" anchor="ctr"/>
                </a:tc>
                <a:tc>
                  <a:txBody>
                    <a:bodyPr/>
                    <a:lstStyle/>
                    <a:p>
                      <a:r>
                        <a:rPr lang="en-US" sz="1600" dirty="0">
                          <a:solidFill>
                            <a:srgbClr val="FFFF00"/>
                          </a:solidFill>
                          <a:latin typeface="Comic Sans MS" panose="030F0702030302020204" pitchFamily="66" charset="0"/>
                        </a:rPr>
                        <a:t>Vietnam records the lowest average BMI over the years, indicating underweight population.</a:t>
                      </a:r>
                    </a:p>
                  </a:txBody>
                  <a:tcPr marL="72466" marR="72466" marT="36233" marB="36233" anchor="ctr"/>
                </a:tc>
                <a:extLst>
                  <a:ext uri="{0D108BD9-81ED-4DB2-BD59-A6C34878D82A}">
                    <a16:rowId xmlns:a16="http://schemas.microsoft.com/office/drawing/2014/main" val="3776717321"/>
                  </a:ext>
                </a:extLst>
              </a:tr>
              <a:tr h="1027914">
                <a:tc>
                  <a:txBody>
                    <a:bodyPr/>
                    <a:lstStyle/>
                    <a:p>
                      <a:r>
                        <a:rPr lang="en-US" sz="1600">
                          <a:solidFill>
                            <a:srgbClr val="FFFF00"/>
                          </a:solidFill>
                          <a:latin typeface="Comic Sans MS" panose="030F0702030302020204" pitchFamily="66" charset="0"/>
                        </a:rPr>
                        <a:t>Most Obese Country in 2015</a:t>
                      </a:r>
                    </a:p>
                  </a:txBody>
                  <a:tcPr marL="72466" marR="72466" marT="36233" marB="36233" anchor="ctr"/>
                </a:tc>
                <a:tc>
                  <a:txBody>
                    <a:bodyPr/>
                    <a:lstStyle/>
                    <a:p>
                      <a:r>
                        <a:rPr lang="en-IN" sz="1600">
                          <a:solidFill>
                            <a:srgbClr val="FFFF00"/>
                          </a:solidFill>
                          <a:latin typeface="Comic Sans MS" panose="030F0702030302020204" pitchFamily="66" charset="0"/>
                        </a:rPr>
                        <a:t>Kiribati</a:t>
                      </a:r>
                    </a:p>
                  </a:txBody>
                  <a:tcPr marL="72466" marR="72466" marT="36233" marB="36233" anchor="ctr"/>
                </a:tc>
                <a:tc>
                  <a:txBody>
                    <a:bodyPr/>
                    <a:lstStyle/>
                    <a:p>
                      <a:r>
                        <a:rPr lang="en-IN" sz="1600">
                          <a:solidFill>
                            <a:srgbClr val="FFFF00"/>
                          </a:solidFill>
                          <a:latin typeface="Comic Sans MS" panose="030F0702030302020204" pitchFamily="66" charset="0"/>
                        </a:rPr>
                        <a:t>Oceania</a:t>
                      </a:r>
                    </a:p>
                  </a:txBody>
                  <a:tcPr marL="72466" marR="72466" marT="36233" marB="36233" anchor="ctr"/>
                </a:tc>
                <a:tc>
                  <a:txBody>
                    <a:bodyPr/>
                    <a:lstStyle/>
                    <a:p>
                      <a:r>
                        <a:rPr lang="en-IN" sz="1600">
                          <a:solidFill>
                            <a:srgbClr val="FFFF00"/>
                          </a:solidFill>
                          <a:latin typeface="Comic Sans MS" panose="030F0702030302020204" pitchFamily="66" charset="0"/>
                        </a:rPr>
                        <a:t>66.3</a:t>
                      </a:r>
                    </a:p>
                  </a:txBody>
                  <a:tcPr marL="72466" marR="72466" marT="36233" marB="36233" anchor="ctr"/>
                </a:tc>
                <a:tc>
                  <a:txBody>
                    <a:bodyPr/>
                    <a:lstStyle/>
                    <a:p>
                      <a:r>
                        <a:rPr lang="en-US" sz="1600">
                          <a:solidFill>
                            <a:srgbClr val="FFFF00"/>
                          </a:solidFill>
                          <a:latin typeface="Comic Sans MS" panose="030F0702030302020204" pitchFamily="66" charset="0"/>
                        </a:rPr>
                        <a:t>In the year 2015, Kiribati had the highest BMI among all countries.</a:t>
                      </a:r>
                    </a:p>
                  </a:txBody>
                  <a:tcPr marL="72466" marR="72466" marT="36233" marB="36233" anchor="ctr"/>
                </a:tc>
                <a:extLst>
                  <a:ext uri="{0D108BD9-81ED-4DB2-BD59-A6C34878D82A}">
                    <a16:rowId xmlns:a16="http://schemas.microsoft.com/office/drawing/2014/main" val="801840418"/>
                  </a:ext>
                </a:extLst>
              </a:tr>
              <a:tr h="1265125">
                <a:tc>
                  <a:txBody>
                    <a:bodyPr/>
                    <a:lstStyle/>
                    <a:p>
                      <a:r>
                        <a:rPr lang="en-US" sz="1600">
                          <a:solidFill>
                            <a:srgbClr val="FFFF00"/>
                          </a:solidFill>
                          <a:latin typeface="Comic Sans MS" panose="030F0702030302020204" pitchFamily="66" charset="0"/>
                        </a:rPr>
                        <a:t>Most Underweight Country in 2015</a:t>
                      </a:r>
                    </a:p>
                  </a:txBody>
                  <a:tcPr marL="72466" marR="72466" marT="36233" marB="36233" anchor="ctr"/>
                </a:tc>
                <a:tc>
                  <a:txBody>
                    <a:bodyPr/>
                    <a:lstStyle/>
                    <a:p>
                      <a:r>
                        <a:rPr lang="en-IN" sz="1600">
                          <a:solidFill>
                            <a:srgbClr val="FFFF00"/>
                          </a:solidFill>
                          <a:latin typeface="Comic Sans MS" panose="030F0702030302020204" pitchFamily="66" charset="0"/>
                        </a:rPr>
                        <a:t>Madagascar</a:t>
                      </a:r>
                    </a:p>
                  </a:txBody>
                  <a:tcPr marL="72466" marR="72466" marT="36233" marB="36233" anchor="ctr"/>
                </a:tc>
                <a:tc>
                  <a:txBody>
                    <a:bodyPr/>
                    <a:lstStyle/>
                    <a:p>
                      <a:r>
                        <a:rPr lang="en-IN" sz="1600">
                          <a:solidFill>
                            <a:srgbClr val="FFFF00"/>
                          </a:solidFill>
                          <a:latin typeface="Comic Sans MS" panose="030F0702030302020204" pitchFamily="66" charset="0"/>
                        </a:rPr>
                        <a:t>Africa</a:t>
                      </a:r>
                    </a:p>
                  </a:txBody>
                  <a:tcPr marL="72466" marR="72466" marT="36233" marB="36233" anchor="ctr"/>
                </a:tc>
                <a:tc>
                  <a:txBody>
                    <a:bodyPr/>
                    <a:lstStyle/>
                    <a:p>
                      <a:r>
                        <a:rPr lang="en-IN" sz="1600">
                          <a:solidFill>
                            <a:srgbClr val="FFFF00"/>
                          </a:solidFill>
                          <a:latin typeface="Comic Sans MS" panose="030F0702030302020204" pitchFamily="66" charset="0"/>
                        </a:rPr>
                        <a:t>65.5</a:t>
                      </a:r>
                    </a:p>
                  </a:txBody>
                  <a:tcPr marL="72466" marR="72466" marT="36233" marB="36233" anchor="ctr"/>
                </a:tc>
                <a:tc>
                  <a:txBody>
                    <a:bodyPr/>
                    <a:lstStyle/>
                    <a:p>
                      <a:r>
                        <a:rPr lang="en-US" sz="1600" dirty="0">
                          <a:solidFill>
                            <a:srgbClr val="FFFF00"/>
                          </a:solidFill>
                          <a:latin typeface="Comic Sans MS" panose="030F0702030302020204" pitchFamily="66" charset="0"/>
                        </a:rPr>
                        <a:t>Madagascar had the lowest BMI in 2015, placing it in the underweight category.</a:t>
                      </a:r>
                    </a:p>
                  </a:txBody>
                  <a:tcPr marL="72466" marR="72466" marT="36233" marB="36233" anchor="ctr"/>
                </a:tc>
                <a:extLst>
                  <a:ext uri="{0D108BD9-81ED-4DB2-BD59-A6C34878D82A}">
                    <a16:rowId xmlns:a16="http://schemas.microsoft.com/office/drawing/2014/main" val="1623437852"/>
                  </a:ext>
                </a:extLst>
              </a:tr>
            </a:tbl>
          </a:graphicData>
        </a:graphic>
      </p:graphicFrame>
    </p:spTree>
    <p:extLst>
      <p:ext uri="{BB962C8B-B14F-4D97-AF65-F5344CB8AC3E}">
        <p14:creationId xmlns:p14="http://schemas.microsoft.com/office/powerpoint/2010/main" val="3491825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9711-E3F3-2A1D-A27A-CBD04220B348}"/>
              </a:ext>
            </a:extLst>
          </p:cNvPr>
          <p:cNvSpPr>
            <a:spLocks noGrp="1"/>
          </p:cNvSpPr>
          <p:nvPr>
            <p:ph type="title"/>
          </p:nvPr>
        </p:nvSpPr>
        <p:spPr>
          <a:xfrm>
            <a:off x="170122" y="127591"/>
            <a:ext cx="5241850" cy="829339"/>
          </a:xfrm>
        </p:spPr>
        <p:txBody>
          <a:bodyPr/>
          <a:lstStyle/>
          <a:p>
            <a:r>
              <a:rPr lang="en-US" b="1" dirty="0">
                <a:solidFill>
                  <a:srgbClr val="FFFF00"/>
                </a:solidFill>
                <a:latin typeface="+mn-lt"/>
              </a:rPr>
              <a:t>10.Under 5 Deaths.</a:t>
            </a:r>
            <a:endParaRPr lang="en-IN" b="1" dirty="0">
              <a:solidFill>
                <a:srgbClr val="FFFF00"/>
              </a:solidFill>
              <a:latin typeface="+mn-lt"/>
            </a:endParaRPr>
          </a:p>
        </p:txBody>
      </p:sp>
      <p:pic>
        <p:nvPicPr>
          <p:cNvPr id="6" name="Content Placeholder 5">
            <a:extLst>
              <a:ext uri="{FF2B5EF4-FFF2-40B4-BE49-F238E27FC236}">
                <a16:creationId xmlns:a16="http://schemas.microsoft.com/office/drawing/2014/main" id="{4D64EFAC-D2BB-E870-3378-51D5E15EB3A2}"/>
              </a:ext>
            </a:extLst>
          </p:cNvPr>
          <p:cNvPicPr>
            <a:picLocks noGrp="1" noChangeAspect="1"/>
          </p:cNvPicPr>
          <p:nvPr>
            <p:ph sz="half" idx="1"/>
          </p:nvPr>
        </p:nvPicPr>
        <p:blipFill>
          <a:blip r:embed="rId2"/>
          <a:stretch>
            <a:fillRect/>
          </a:stretch>
        </p:blipFill>
        <p:spPr>
          <a:xfrm>
            <a:off x="74427" y="1350336"/>
            <a:ext cx="6932429" cy="5142538"/>
          </a:xfrm>
        </p:spPr>
      </p:pic>
      <p:sp>
        <p:nvSpPr>
          <p:cNvPr id="4" name="Content Placeholder 3">
            <a:extLst>
              <a:ext uri="{FF2B5EF4-FFF2-40B4-BE49-F238E27FC236}">
                <a16:creationId xmlns:a16="http://schemas.microsoft.com/office/drawing/2014/main" id="{B1922CA3-8762-5BB3-CD2D-2BFF51766706}"/>
              </a:ext>
            </a:extLst>
          </p:cNvPr>
          <p:cNvSpPr>
            <a:spLocks noGrp="1"/>
          </p:cNvSpPr>
          <p:nvPr>
            <p:ph sz="half" idx="2"/>
          </p:nvPr>
        </p:nvSpPr>
        <p:spPr>
          <a:xfrm>
            <a:off x="7155712" y="648586"/>
            <a:ext cx="4961860" cy="5844287"/>
          </a:xfrm>
        </p:spPr>
        <p:txBody>
          <a:bodyPr>
            <a:normAutofit fontScale="77500" lnSpcReduction="20000"/>
          </a:bodyPr>
          <a:lstStyle/>
          <a:p>
            <a:r>
              <a:rPr lang="en-US" b="1" dirty="0">
                <a:solidFill>
                  <a:srgbClr val="FF0000"/>
                </a:solidFill>
                <a:latin typeface="Comic Sans MS" panose="030F0702030302020204" pitchFamily="66" charset="0"/>
              </a:rPr>
              <a:t>Insight:</a:t>
            </a:r>
          </a:p>
          <a:p>
            <a:endParaRPr lang="en-US" dirty="0">
              <a:latin typeface="Comic Sans MS" panose="030F0702030302020204" pitchFamily="66" charset="0"/>
            </a:endParaRPr>
          </a:p>
          <a:p>
            <a:r>
              <a:rPr lang="en-US" dirty="0">
                <a:solidFill>
                  <a:srgbClr val="FFFF00"/>
                </a:solidFill>
                <a:latin typeface="Comic Sans MS" panose="030F0702030302020204" pitchFamily="66" charset="0"/>
              </a:rPr>
              <a:t>The number of children who died before reaching the age of five in a given country and year.</a:t>
            </a:r>
          </a:p>
          <a:p>
            <a:endParaRPr lang="en-US" dirty="0">
              <a:latin typeface="Comic Sans MS" panose="030F0702030302020204" pitchFamily="66" charset="0"/>
            </a:endParaRPr>
          </a:p>
          <a:p>
            <a:r>
              <a:rPr lang="en-US" dirty="0">
                <a:solidFill>
                  <a:srgbClr val="00FFFF"/>
                </a:solidFill>
                <a:latin typeface="Comic Sans MS" panose="030F0702030302020204" pitchFamily="66" charset="0"/>
              </a:rPr>
              <a:t>Under-five deaths are predominantly high in </a:t>
            </a:r>
            <a:r>
              <a:rPr lang="en-US" b="1" dirty="0">
                <a:solidFill>
                  <a:srgbClr val="00FFFF"/>
                </a:solidFill>
                <a:latin typeface="Comic Sans MS" panose="030F0702030302020204" pitchFamily="66" charset="0"/>
              </a:rPr>
              <a:t>African</a:t>
            </a:r>
            <a:r>
              <a:rPr lang="en-US" dirty="0">
                <a:solidFill>
                  <a:srgbClr val="00FFFF"/>
                </a:solidFill>
                <a:latin typeface="Comic Sans MS" panose="030F0702030302020204" pitchFamily="66" charset="0"/>
              </a:rPr>
              <a:t> and </a:t>
            </a:r>
            <a:r>
              <a:rPr lang="en-US" b="1" dirty="0">
                <a:solidFill>
                  <a:srgbClr val="00FFFF"/>
                </a:solidFill>
                <a:latin typeface="Comic Sans MS" panose="030F0702030302020204" pitchFamily="66" charset="0"/>
              </a:rPr>
              <a:t>Asian</a:t>
            </a:r>
            <a:r>
              <a:rPr lang="en-US" dirty="0">
                <a:solidFill>
                  <a:srgbClr val="00FFFF"/>
                </a:solidFill>
                <a:latin typeface="Comic Sans MS" panose="030F0702030302020204" pitchFamily="66" charset="0"/>
              </a:rPr>
              <a:t> countries. This elevated mortality rate among young children significantly contributes to </a:t>
            </a:r>
            <a:r>
              <a:rPr lang="en-US" b="1" dirty="0">
                <a:solidFill>
                  <a:srgbClr val="00FFFF"/>
                </a:solidFill>
                <a:latin typeface="Comic Sans MS" panose="030F0702030302020204" pitchFamily="66" charset="0"/>
              </a:rPr>
              <a:t>lower life expectancy</a:t>
            </a:r>
            <a:r>
              <a:rPr lang="en-US" dirty="0">
                <a:solidFill>
                  <a:srgbClr val="00FFFF"/>
                </a:solidFill>
                <a:latin typeface="Comic Sans MS" panose="030F0702030302020204" pitchFamily="66" charset="0"/>
              </a:rPr>
              <a:t> in these regions.</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In contrast, </a:t>
            </a:r>
            <a:r>
              <a:rPr lang="en-US" b="1" dirty="0">
                <a:solidFill>
                  <a:srgbClr val="00FFFF"/>
                </a:solidFill>
                <a:latin typeface="Comic Sans MS" panose="030F0702030302020204" pitchFamily="66" charset="0"/>
              </a:rPr>
              <a:t>European</a:t>
            </a:r>
            <a:r>
              <a:rPr lang="en-US" dirty="0">
                <a:solidFill>
                  <a:srgbClr val="00FFFF"/>
                </a:solidFill>
                <a:latin typeface="Comic Sans MS" panose="030F0702030302020204" pitchFamily="66" charset="0"/>
              </a:rPr>
              <a:t>, </a:t>
            </a:r>
            <a:r>
              <a:rPr lang="en-US" b="1" dirty="0">
                <a:solidFill>
                  <a:srgbClr val="00FFFF"/>
                </a:solidFill>
                <a:latin typeface="Comic Sans MS" panose="030F0702030302020204" pitchFamily="66" charset="0"/>
              </a:rPr>
              <a:t>North American</a:t>
            </a:r>
            <a:r>
              <a:rPr lang="en-US" dirty="0">
                <a:solidFill>
                  <a:srgbClr val="00FFFF"/>
                </a:solidFill>
                <a:latin typeface="Comic Sans MS" panose="030F0702030302020204" pitchFamily="66" charset="0"/>
              </a:rPr>
              <a:t>, </a:t>
            </a:r>
            <a:r>
              <a:rPr lang="en-US" b="1" dirty="0">
                <a:solidFill>
                  <a:srgbClr val="00FFFF"/>
                </a:solidFill>
                <a:latin typeface="Comic Sans MS" panose="030F0702030302020204" pitchFamily="66" charset="0"/>
              </a:rPr>
              <a:t>South American</a:t>
            </a:r>
            <a:r>
              <a:rPr lang="en-US" dirty="0">
                <a:solidFill>
                  <a:srgbClr val="00FFFF"/>
                </a:solidFill>
                <a:latin typeface="Comic Sans MS" panose="030F0702030302020204" pitchFamily="66" charset="0"/>
              </a:rPr>
              <a:t>, and </a:t>
            </a:r>
            <a:r>
              <a:rPr lang="en-US" b="1" dirty="0">
                <a:solidFill>
                  <a:srgbClr val="00FFFF"/>
                </a:solidFill>
                <a:latin typeface="Comic Sans MS" panose="030F0702030302020204" pitchFamily="66" charset="0"/>
              </a:rPr>
              <a:t>Oceania</a:t>
            </a:r>
            <a:r>
              <a:rPr lang="en-US" dirty="0">
                <a:solidFill>
                  <a:srgbClr val="00FFFF"/>
                </a:solidFill>
                <a:latin typeface="Comic Sans MS" panose="030F0702030302020204" pitchFamily="66" charset="0"/>
              </a:rPr>
              <a:t> countries experience </a:t>
            </a:r>
            <a:r>
              <a:rPr lang="en-US" b="1" dirty="0">
                <a:solidFill>
                  <a:srgbClr val="00FFFF"/>
                </a:solidFill>
                <a:latin typeface="Comic Sans MS" panose="030F0702030302020204" pitchFamily="66" charset="0"/>
              </a:rPr>
              <a:t>very low under-five death rates</a:t>
            </a:r>
            <a:r>
              <a:rPr lang="en-US" dirty="0">
                <a:solidFill>
                  <a:srgbClr val="00FFFF"/>
                </a:solidFill>
                <a:latin typeface="Comic Sans MS" panose="030F0702030302020204" pitchFamily="66" charset="0"/>
              </a:rPr>
              <a:t>, which helps maintain a </a:t>
            </a:r>
            <a:r>
              <a:rPr lang="en-US" b="1" dirty="0">
                <a:solidFill>
                  <a:srgbClr val="00FFFF"/>
                </a:solidFill>
                <a:latin typeface="Comic Sans MS" panose="030F0702030302020204" pitchFamily="66" charset="0"/>
              </a:rPr>
              <a:t>higher life expectancy</a:t>
            </a:r>
            <a:r>
              <a:rPr lang="en-US" dirty="0">
                <a:solidFill>
                  <a:srgbClr val="00FFFF"/>
                </a:solidFill>
                <a:latin typeface="Comic Sans MS" panose="030F0702030302020204" pitchFamily="66" charset="0"/>
              </a:rPr>
              <a:t> over the years.</a:t>
            </a:r>
          </a:p>
          <a:p>
            <a:endParaRPr lang="en-IN" dirty="0"/>
          </a:p>
        </p:txBody>
      </p:sp>
    </p:spTree>
    <p:extLst>
      <p:ext uri="{BB962C8B-B14F-4D97-AF65-F5344CB8AC3E}">
        <p14:creationId xmlns:p14="http://schemas.microsoft.com/office/powerpoint/2010/main" val="1202298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B412-6406-0792-FF5E-87E052956BE4}"/>
              </a:ext>
            </a:extLst>
          </p:cNvPr>
          <p:cNvSpPr>
            <a:spLocks noGrp="1"/>
          </p:cNvSpPr>
          <p:nvPr>
            <p:ph type="title"/>
          </p:nvPr>
        </p:nvSpPr>
        <p:spPr>
          <a:xfrm>
            <a:off x="265814" y="287080"/>
            <a:ext cx="11087986" cy="574158"/>
          </a:xfrm>
        </p:spPr>
        <p:txBody>
          <a:bodyPr>
            <a:normAutofit fontScale="90000"/>
          </a:bodyPr>
          <a:lstStyle/>
          <a:p>
            <a:r>
              <a:rPr lang="en-US" b="1" dirty="0">
                <a:latin typeface="+mn-lt"/>
              </a:rPr>
              <a:t>Key Insight</a:t>
            </a:r>
            <a:endParaRPr lang="en-IN" b="1" dirty="0">
              <a:latin typeface="+mn-lt"/>
            </a:endParaRPr>
          </a:p>
        </p:txBody>
      </p:sp>
      <p:graphicFrame>
        <p:nvGraphicFramePr>
          <p:cNvPr id="4" name="Content Placeholder 3">
            <a:extLst>
              <a:ext uri="{FF2B5EF4-FFF2-40B4-BE49-F238E27FC236}">
                <a16:creationId xmlns:a16="http://schemas.microsoft.com/office/drawing/2014/main" id="{60065522-F51D-C51E-2E8F-FC48C3584CC7}"/>
              </a:ext>
            </a:extLst>
          </p:cNvPr>
          <p:cNvGraphicFramePr>
            <a:graphicFrameLocks noGrp="1"/>
          </p:cNvGraphicFramePr>
          <p:nvPr>
            <p:ph idx="1"/>
            <p:extLst>
              <p:ext uri="{D42A27DB-BD31-4B8C-83A1-F6EECF244321}">
                <p14:modId xmlns:p14="http://schemas.microsoft.com/office/powerpoint/2010/main" val="2169099068"/>
              </p:ext>
            </p:extLst>
          </p:nvPr>
        </p:nvGraphicFramePr>
        <p:xfrm>
          <a:off x="191386" y="1063256"/>
          <a:ext cx="12000614" cy="5603356"/>
        </p:xfrm>
        <a:graphic>
          <a:graphicData uri="http://schemas.openxmlformats.org/drawingml/2006/table">
            <a:tbl>
              <a:tblPr>
                <a:tableStyleId>{616DA210-FB5B-4158-B5E0-FEB733F419BA}</a:tableStyleId>
              </a:tblPr>
              <a:tblGrid>
                <a:gridCol w="6000307">
                  <a:extLst>
                    <a:ext uri="{9D8B030D-6E8A-4147-A177-3AD203B41FA5}">
                      <a16:colId xmlns:a16="http://schemas.microsoft.com/office/drawing/2014/main" val="3257691787"/>
                    </a:ext>
                  </a:extLst>
                </a:gridCol>
                <a:gridCol w="6000307">
                  <a:extLst>
                    <a:ext uri="{9D8B030D-6E8A-4147-A177-3AD203B41FA5}">
                      <a16:colId xmlns:a16="http://schemas.microsoft.com/office/drawing/2014/main" val="1634936853"/>
                    </a:ext>
                  </a:extLst>
                </a:gridCol>
              </a:tblGrid>
              <a:tr h="589827">
                <a:tc>
                  <a:txBody>
                    <a:bodyPr/>
                    <a:lstStyle/>
                    <a:p>
                      <a:r>
                        <a:rPr lang="en-IN" b="1">
                          <a:solidFill>
                            <a:srgbClr val="FFFF00"/>
                          </a:solidFill>
                          <a:latin typeface="Comic Sans MS" panose="030F0702030302020204" pitchFamily="66" charset="0"/>
                        </a:rPr>
                        <a:t>Category</a:t>
                      </a:r>
                      <a:endParaRPr lang="en-IN">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Details / Values</a:t>
                      </a:r>
                      <a:endParaRPr lang="en-IN">
                        <a:solidFill>
                          <a:srgbClr val="00FFFF"/>
                        </a:solidFill>
                        <a:latin typeface="Comic Sans MS" panose="030F0702030302020204" pitchFamily="66" charset="0"/>
                      </a:endParaRPr>
                    </a:p>
                  </a:txBody>
                  <a:tcPr anchor="ctr"/>
                </a:tc>
                <a:extLst>
                  <a:ext uri="{0D108BD9-81ED-4DB2-BD59-A6C34878D82A}">
                    <a16:rowId xmlns:a16="http://schemas.microsoft.com/office/drawing/2014/main" val="2389885460"/>
                  </a:ext>
                </a:extLst>
              </a:tr>
              <a:tr h="589827">
                <a:tc>
                  <a:txBody>
                    <a:bodyPr/>
                    <a:lstStyle/>
                    <a:p>
                      <a:r>
                        <a:rPr lang="en-US" b="1">
                          <a:solidFill>
                            <a:srgbClr val="FFFF00"/>
                          </a:solidFill>
                          <a:latin typeface="Comic Sans MS" panose="030F0702030302020204" pitchFamily="66" charset="0"/>
                        </a:rPr>
                        <a:t>Continent with Highest Under-5 Deaths (All Years)</a:t>
                      </a:r>
                      <a:endParaRPr lang="en-US">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Asia (58,902)</a:t>
                      </a:r>
                      <a:endParaRPr lang="en-IN">
                        <a:solidFill>
                          <a:srgbClr val="00FFFF"/>
                        </a:solidFill>
                        <a:latin typeface="Comic Sans MS" panose="030F0702030302020204" pitchFamily="66" charset="0"/>
                      </a:endParaRPr>
                    </a:p>
                  </a:txBody>
                  <a:tcPr anchor="ctr"/>
                </a:tc>
                <a:extLst>
                  <a:ext uri="{0D108BD9-81ED-4DB2-BD59-A6C34878D82A}">
                    <a16:rowId xmlns:a16="http://schemas.microsoft.com/office/drawing/2014/main" val="1168889574"/>
                  </a:ext>
                </a:extLst>
              </a:tr>
              <a:tr h="589827">
                <a:tc>
                  <a:txBody>
                    <a:bodyPr/>
                    <a:lstStyle/>
                    <a:p>
                      <a:r>
                        <a:rPr lang="en-IN" b="1">
                          <a:solidFill>
                            <a:srgbClr val="FFFF00"/>
                          </a:solidFill>
                          <a:latin typeface="Comic Sans MS" panose="030F0702030302020204" pitchFamily="66" charset="0"/>
                        </a:rPr>
                        <a:t>Second Highest Continent</a:t>
                      </a:r>
                      <a:endParaRPr lang="en-IN">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Africa (58,576)</a:t>
                      </a:r>
                      <a:endParaRPr lang="en-IN">
                        <a:solidFill>
                          <a:srgbClr val="00FFFF"/>
                        </a:solidFill>
                        <a:latin typeface="Comic Sans MS" panose="030F0702030302020204" pitchFamily="66" charset="0"/>
                      </a:endParaRPr>
                    </a:p>
                  </a:txBody>
                  <a:tcPr anchor="ctr"/>
                </a:tc>
                <a:extLst>
                  <a:ext uri="{0D108BD9-81ED-4DB2-BD59-A6C34878D82A}">
                    <a16:rowId xmlns:a16="http://schemas.microsoft.com/office/drawing/2014/main" val="1847254287"/>
                  </a:ext>
                </a:extLst>
              </a:tr>
              <a:tr h="589827">
                <a:tc>
                  <a:txBody>
                    <a:bodyPr/>
                    <a:lstStyle/>
                    <a:p>
                      <a:r>
                        <a:rPr lang="en-US" b="1" dirty="0">
                          <a:solidFill>
                            <a:srgbClr val="FFFF00"/>
                          </a:solidFill>
                          <a:latin typeface="Comic Sans MS" panose="030F0702030302020204" pitchFamily="66" charset="0"/>
                        </a:rPr>
                        <a:t>Other Continents (Under-5 Deaths Over Years)</a:t>
                      </a:r>
                      <a:endParaRPr lang="en-US" dirty="0">
                        <a:solidFill>
                          <a:srgbClr val="FFFF00"/>
                        </a:solidFill>
                        <a:latin typeface="Comic Sans MS" panose="030F0702030302020204" pitchFamily="66" charset="0"/>
                      </a:endParaRPr>
                    </a:p>
                  </a:txBody>
                  <a:tcPr anchor="ctr"/>
                </a:tc>
                <a:tc>
                  <a:txBody>
                    <a:bodyPr/>
                    <a:lstStyle/>
                    <a:p>
                      <a:r>
                        <a:rPr lang="en-IN">
                          <a:solidFill>
                            <a:srgbClr val="00FFFF"/>
                          </a:solidFill>
                          <a:latin typeface="Comic Sans MS" panose="030F0702030302020204" pitchFamily="66" charset="0"/>
                        </a:rPr>
                        <a:t>South America: 2,580   </a:t>
                      </a:r>
                    </a:p>
                  </a:txBody>
                  <a:tcPr anchor="ctr"/>
                </a:tc>
                <a:extLst>
                  <a:ext uri="{0D108BD9-81ED-4DB2-BD59-A6C34878D82A}">
                    <a16:rowId xmlns:a16="http://schemas.microsoft.com/office/drawing/2014/main" val="3234835470"/>
                  </a:ext>
                </a:extLst>
              </a:tr>
              <a:tr h="589827">
                <a:tc>
                  <a:txBody>
                    <a:bodyPr/>
                    <a:lstStyle/>
                    <a:p>
                      <a:r>
                        <a:rPr lang="en-US" b="1">
                          <a:solidFill>
                            <a:srgbClr val="FFFF00"/>
                          </a:solidFill>
                          <a:latin typeface="Comic Sans MS" panose="030F0702030302020204" pitchFamily="66" charset="0"/>
                        </a:rPr>
                        <a:t>Continent with Lowest Under-5 Deaths</a:t>
                      </a:r>
                      <a:endParaRPr lang="en-US">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Oceania (242)</a:t>
                      </a:r>
                      <a:endParaRPr lang="en-IN">
                        <a:solidFill>
                          <a:srgbClr val="00FFFF"/>
                        </a:solidFill>
                        <a:latin typeface="Comic Sans MS" panose="030F0702030302020204" pitchFamily="66" charset="0"/>
                      </a:endParaRPr>
                    </a:p>
                  </a:txBody>
                  <a:tcPr anchor="ctr"/>
                </a:tc>
                <a:extLst>
                  <a:ext uri="{0D108BD9-81ED-4DB2-BD59-A6C34878D82A}">
                    <a16:rowId xmlns:a16="http://schemas.microsoft.com/office/drawing/2014/main" val="3055657616"/>
                  </a:ext>
                </a:extLst>
              </a:tr>
              <a:tr h="1032197">
                <a:tc>
                  <a:txBody>
                    <a:bodyPr/>
                    <a:lstStyle/>
                    <a:p>
                      <a:r>
                        <a:rPr lang="en-US" b="1">
                          <a:solidFill>
                            <a:srgbClr val="FFFF00"/>
                          </a:solidFill>
                          <a:latin typeface="Comic Sans MS" panose="030F0702030302020204" pitchFamily="66" charset="0"/>
                        </a:rPr>
                        <a:t>Top Country with Highest Under-5 Deaths (All Years)</a:t>
                      </a:r>
                      <a:endParaRPr lang="en-US">
                        <a:solidFill>
                          <a:srgbClr val="FFFF00"/>
                        </a:solidFill>
                        <a:latin typeface="Comic Sans MS" panose="030F0702030302020204" pitchFamily="66" charset="0"/>
                      </a:endParaRPr>
                    </a:p>
                  </a:txBody>
                  <a:tcPr anchor="ctr"/>
                </a:tc>
                <a:tc>
                  <a:txBody>
                    <a:bodyPr/>
                    <a:lstStyle/>
                    <a:p>
                      <a:r>
                        <a:rPr lang="en-US" b="1">
                          <a:solidFill>
                            <a:srgbClr val="00FFFF"/>
                          </a:solidFill>
                          <a:latin typeface="Comic Sans MS" panose="030F0702030302020204" pitchFamily="66" charset="0"/>
                        </a:rPr>
                        <a:t>India</a:t>
                      </a:r>
                      <a:r>
                        <a:rPr lang="en-US">
                          <a:solidFill>
                            <a:srgbClr val="00FFFF"/>
                          </a:solidFill>
                          <a:latin typeface="Comic Sans MS" panose="030F0702030302020204" pitchFamily="66" charset="0"/>
                        </a:rPr>
                        <a:t> — Consistently the highest under-5 deaths across all years</a:t>
                      </a:r>
                    </a:p>
                  </a:txBody>
                  <a:tcPr anchor="ctr"/>
                </a:tc>
                <a:extLst>
                  <a:ext uri="{0D108BD9-81ED-4DB2-BD59-A6C34878D82A}">
                    <a16:rowId xmlns:a16="http://schemas.microsoft.com/office/drawing/2014/main" val="301485893"/>
                  </a:ext>
                </a:extLst>
              </a:tr>
              <a:tr h="589827">
                <a:tc>
                  <a:txBody>
                    <a:bodyPr/>
                    <a:lstStyle/>
                    <a:p>
                      <a:r>
                        <a:rPr lang="en-US" b="1">
                          <a:solidFill>
                            <a:srgbClr val="FFFF00"/>
                          </a:solidFill>
                          <a:latin typeface="Comic Sans MS" panose="030F0702030302020204" pitchFamily="66" charset="0"/>
                        </a:rPr>
                        <a:t>2nd and 3rd Highest Countries (All Years)</a:t>
                      </a:r>
                      <a:endParaRPr lang="en-US">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Nigeria</a:t>
                      </a:r>
                      <a:r>
                        <a:rPr lang="en-IN">
                          <a:solidFill>
                            <a:srgbClr val="00FFFF"/>
                          </a:solidFill>
                          <a:latin typeface="Comic Sans MS" panose="030F0702030302020204" pitchFamily="66" charset="0"/>
                        </a:rPr>
                        <a:t>, </a:t>
                      </a:r>
                      <a:r>
                        <a:rPr lang="en-IN" b="1">
                          <a:solidFill>
                            <a:srgbClr val="00FFFF"/>
                          </a:solidFill>
                          <a:latin typeface="Comic Sans MS" panose="030F0702030302020204" pitchFamily="66" charset="0"/>
                        </a:rPr>
                        <a:t>Pakistan</a:t>
                      </a:r>
                      <a:endParaRPr lang="en-IN">
                        <a:solidFill>
                          <a:srgbClr val="00FFFF"/>
                        </a:solidFill>
                        <a:latin typeface="Comic Sans MS" panose="030F0702030302020204" pitchFamily="66" charset="0"/>
                      </a:endParaRPr>
                    </a:p>
                  </a:txBody>
                  <a:tcPr anchor="ctr"/>
                </a:tc>
                <a:extLst>
                  <a:ext uri="{0D108BD9-81ED-4DB2-BD59-A6C34878D82A}">
                    <a16:rowId xmlns:a16="http://schemas.microsoft.com/office/drawing/2014/main" val="3200471212"/>
                  </a:ext>
                </a:extLst>
              </a:tr>
              <a:tr h="1032197">
                <a:tc>
                  <a:txBody>
                    <a:bodyPr/>
                    <a:lstStyle/>
                    <a:p>
                      <a:r>
                        <a:rPr lang="en-US" b="1" dirty="0">
                          <a:solidFill>
                            <a:srgbClr val="FFFF00"/>
                          </a:solidFill>
                          <a:latin typeface="Comic Sans MS" panose="030F0702030302020204" pitchFamily="66" charset="0"/>
                        </a:rPr>
                        <a:t>Top 3 Countries with Highest Under-5 Deaths in 2015</a:t>
                      </a:r>
                      <a:endParaRPr lang="en-US" dirty="0">
                        <a:solidFill>
                          <a:srgbClr val="FFFF00"/>
                        </a:solidFill>
                        <a:latin typeface="Comic Sans MS" panose="030F0702030302020204" pitchFamily="66" charset="0"/>
                      </a:endParaRPr>
                    </a:p>
                  </a:txBody>
                  <a:tcPr anchor="ctr"/>
                </a:tc>
                <a:tc>
                  <a:txBody>
                    <a:bodyPr/>
                    <a:lstStyle/>
                    <a:p>
                      <a:r>
                        <a:rPr lang="en-US" dirty="0">
                          <a:solidFill>
                            <a:srgbClr val="00FFFF"/>
                          </a:solidFill>
                          <a:latin typeface="Comic Sans MS" panose="030F0702030302020204" pitchFamily="66" charset="0"/>
                        </a:rPr>
                        <a:t>1. </a:t>
                      </a:r>
                      <a:r>
                        <a:rPr lang="en-US" b="1" dirty="0">
                          <a:solidFill>
                            <a:srgbClr val="00FFFF"/>
                          </a:solidFill>
                          <a:latin typeface="Comic Sans MS" panose="030F0702030302020204" pitchFamily="66" charset="0"/>
                        </a:rPr>
                        <a:t>India</a:t>
                      </a:r>
                      <a:r>
                        <a:rPr lang="en-US" dirty="0">
                          <a:solidFill>
                            <a:srgbClr val="00FFFF"/>
                          </a:solidFill>
                          <a:latin typeface="Comic Sans MS" panose="030F0702030302020204" pitchFamily="66" charset="0"/>
                        </a:rPr>
                        <a:t> – 1100 deaths2. </a:t>
                      </a:r>
                      <a:r>
                        <a:rPr lang="en-US" b="1" dirty="0">
                          <a:solidFill>
                            <a:srgbClr val="00FFFF"/>
                          </a:solidFill>
                          <a:latin typeface="Comic Sans MS" panose="030F0702030302020204" pitchFamily="66" charset="0"/>
                        </a:rPr>
                        <a:t>Nigeria</a:t>
                      </a:r>
                      <a:r>
                        <a:rPr lang="en-US" dirty="0">
                          <a:solidFill>
                            <a:srgbClr val="00FFFF"/>
                          </a:solidFill>
                          <a:latin typeface="Comic Sans MS" panose="030F0702030302020204" pitchFamily="66" charset="0"/>
                        </a:rPr>
                        <a:t> – 747 deaths3. </a:t>
                      </a:r>
                      <a:r>
                        <a:rPr lang="en-US" b="1" dirty="0">
                          <a:solidFill>
                            <a:srgbClr val="00FFFF"/>
                          </a:solidFill>
                          <a:latin typeface="Comic Sans MS" panose="030F0702030302020204" pitchFamily="66" charset="0"/>
                        </a:rPr>
                        <a:t>Pakistan</a:t>
                      </a:r>
                      <a:r>
                        <a:rPr lang="en-US" dirty="0">
                          <a:solidFill>
                            <a:srgbClr val="00FFFF"/>
                          </a:solidFill>
                          <a:latin typeface="Comic Sans MS" panose="030F0702030302020204" pitchFamily="66" charset="0"/>
                        </a:rPr>
                        <a:t> – 433 deaths</a:t>
                      </a:r>
                    </a:p>
                  </a:txBody>
                  <a:tcPr anchor="ctr"/>
                </a:tc>
                <a:extLst>
                  <a:ext uri="{0D108BD9-81ED-4DB2-BD59-A6C34878D82A}">
                    <a16:rowId xmlns:a16="http://schemas.microsoft.com/office/drawing/2014/main" val="3670079692"/>
                  </a:ext>
                </a:extLst>
              </a:tr>
            </a:tbl>
          </a:graphicData>
        </a:graphic>
      </p:graphicFrame>
    </p:spTree>
    <p:extLst>
      <p:ext uri="{BB962C8B-B14F-4D97-AF65-F5344CB8AC3E}">
        <p14:creationId xmlns:p14="http://schemas.microsoft.com/office/powerpoint/2010/main" val="4140858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35096-F61F-800E-3509-CAB25C361E3C}"/>
              </a:ext>
            </a:extLst>
          </p:cNvPr>
          <p:cNvSpPr>
            <a:spLocks noGrp="1"/>
          </p:cNvSpPr>
          <p:nvPr>
            <p:ph type="title"/>
          </p:nvPr>
        </p:nvSpPr>
        <p:spPr>
          <a:xfrm>
            <a:off x="329610" y="85060"/>
            <a:ext cx="3197361" cy="861997"/>
          </a:xfrm>
        </p:spPr>
        <p:txBody>
          <a:bodyPr>
            <a:normAutofit/>
          </a:bodyPr>
          <a:lstStyle/>
          <a:p>
            <a:r>
              <a:rPr lang="en-US" b="1" dirty="0">
                <a:latin typeface="+mn-lt"/>
              </a:rPr>
              <a:t>11.Polio</a:t>
            </a:r>
            <a:endParaRPr lang="en-IN" b="1" dirty="0">
              <a:latin typeface="+mn-lt"/>
            </a:endParaRPr>
          </a:p>
        </p:txBody>
      </p:sp>
      <p:pic>
        <p:nvPicPr>
          <p:cNvPr id="6" name="Content Placeholder 5">
            <a:extLst>
              <a:ext uri="{FF2B5EF4-FFF2-40B4-BE49-F238E27FC236}">
                <a16:creationId xmlns:a16="http://schemas.microsoft.com/office/drawing/2014/main" id="{42245408-3BE2-88D7-286C-2FABBC76055F}"/>
              </a:ext>
            </a:extLst>
          </p:cNvPr>
          <p:cNvPicPr>
            <a:picLocks noGrp="1" noChangeAspect="1"/>
          </p:cNvPicPr>
          <p:nvPr>
            <p:ph sz="half" idx="1"/>
          </p:nvPr>
        </p:nvPicPr>
        <p:blipFill>
          <a:blip r:embed="rId2"/>
          <a:stretch>
            <a:fillRect/>
          </a:stretch>
        </p:blipFill>
        <p:spPr>
          <a:xfrm>
            <a:off x="87087" y="1426417"/>
            <a:ext cx="6302828" cy="5202983"/>
          </a:xfrm>
        </p:spPr>
      </p:pic>
      <p:sp>
        <p:nvSpPr>
          <p:cNvPr id="4" name="Content Placeholder 3">
            <a:extLst>
              <a:ext uri="{FF2B5EF4-FFF2-40B4-BE49-F238E27FC236}">
                <a16:creationId xmlns:a16="http://schemas.microsoft.com/office/drawing/2014/main" id="{F197A719-C263-386A-740F-D445F894BF0D}"/>
              </a:ext>
            </a:extLst>
          </p:cNvPr>
          <p:cNvSpPr>
            <a:spLocks noGrp="1"/>
          </p:cNvSpPr>
          <p:nvPr>
            <p:ph sz="half" idx="2"/>
          </p:nvPr>
        </p:nvSpPr>
        <p:spPr>
          <a:xfrm>
            <a:off x="6585857" y="185058"/>
            <a:ext cx="5519055" cy="6444342"/>
          </a:xfrm>
        </p:spPr>
        <p:txBody>
          <a:bodyPr>
            <a:normAutofit fontScale="62500" lnSpcReduction="20000"/>
          </a:bodyPr>
          <a:lstStyle/>
          <a:p>
            <a:r>
              <a:rPr lang="en-US" dirty="0">
                <a:solidFill>
                  <a:srgbClr val="FFFF00"/>
                </a:solidFill>
                <a:latin typeface="Comic Sans MS" panose="030F0702030302020204" pitchFamily="66" charset="0"/>
              </a:rPr>
              <a:t>It typically represents the percentage of children aged 1 year who have received at least one dose of polio vaccine in a country for a given year.</a:t>
            </a:r>
          </a:p>
          <a:p>
            <a:endParaRPr lang="en-US" dirty="0">
              <a:latin typeface="Comic Sans MS" panose="030F0702030302020204" pitchFamily="66" charset="0"/>
            </a:endParaRPr>
          </a:p>
          <a:p>
            <a:r>
              <a:rPr lang="en-US" dirty="0">
                <a:solidFill>
                  <a:srgbClr val="00FFFF"/>
                </a:solidFill>
                <a:latin typeface="Comic Sans MS" panose="030F0702030302020204" pitchFamily="66" charset="0"/>
              </a:rPr>
              <a:t>The scatter plot shows a relationship between </a:t>
            </a:r>
            <a:r>
              <a:rPr lang="en-US" b="1" dirty="0">
                <a:solidFill>
                  <a:srgbClr val="00FFFF"/>
                </a:solidFill>
                <a:latin typeface="Comic Sans MS" panose="030F0702030302020204" pitchFamily="66" charset="0"/>
              </a:rPr>
              <a:t>Polio cases and Life Expectancy</a:t>
            </a:r>
            <a:r>
              <a:rPr lang="en-US" dirty="0">
                <a:solidFill>
                  <a:srgbClr val="00FFFF"/>
                </a:solidFill>
                <a:latin typeface="Comic Sans MS" panose="030F0702030302020204" pitchFamily="66" charset="0"/>
              </a:rPr>
              <a:t> across continents:</a:t>
            </a:r>
          </a:p>
          <a:p>
            <a:endParaRPr lang="en-US" dirty="0">
              <a:solidFill>
                <a:srgbClr val="00FFFF"/>
              </a:solidFill>
              <a:latin typeface="Comic Sans MS" panose="030F0702030302020204" pitchFamily="66" charset="0"/>
            </a:endParaRPr>
          </a:p>
          <a:p>
            <a:r>
              <a:rPr lang="en-US" b="1" dirty="0">
                <a:solidFill>
                  <a:srgbClr val="00FFFF"/>
                </a:solidFill>
                <a:latin typeface="Comic Sans MS" panose="030F0702030302020204" pitchFamily="66" charset="0"/>
              </a:rPr>
              <a:t>Africa</a:t>
            </a:r>
            <a:r>
              <a:rPr lang="en-US" dirty="0">
                <a:solidFill>
                  <a:srgbClr val="00FFFF"/>
                </a:solidFill>
                <a:latin typeface="Comic Sans MS" panose="030F0702030302020204" pitchFamily="66" charset="0"/>
              </a:rPr>
              <a:t> has </a:t>
            </a:r>
            <a:r>
              <a:rPr lang="en-US" b="1" dirty="0">
                <a:solidFill>
                  <a:srgbClr val="00FFFF"/>
                </a:solidFill>
                <a:latin typeface="Comic Sans MS" panose="030F0702030302020204" pitchFamily="66" charset="0"/>
              </a:rPr>
              <a:t>low Life Expectancy</a:t>
            </a:r>
            <a:r>
              <a:rPr lang="en-US" dirty="0">
                <a:solidFill>
                  <a:srgbClr val="00FFFF"/>
                </a:solidFill>
                <a:latin typeface="Comic Sans MS" panose="030F0702030302020204" pitchFamily="66" charset="0"/>
              </a:rPr>
              <a:t> with </a:t>
            </a:r>
            <a:r>
              <a:rPr lang="en-US" b="1" dirty="0">
                <a:solidFill>
                  <a:srgbClr val="00FFFF"/>
                </a:solidFill>
                <a:latin typeface="Comic Sans MS" panose="030F0702030302020204" pitchFamily="66" charset="0"/>
              </a:rPr>
              <a:t>high Polio cases</a:t>
            </a:r>
            <a:r>
              <a:rPr lang="en-US" dirty="0">
                <a:solidFill>
                  <a:srgbClr val="00FFFF"/>
                </a:solidFill>
                <a:latin typeface="Comic Sans MS" panose="030F0702030302020204" pitchFamily="66" charset="0"/>
              </a:rPr>
              <a:t>.</a:t>
            </a:r>
          </a:p>
          <a:p>
            <a:r>
              <a:rPr lang="en-US" b="1" dirty="0">
                <a:solidFill>
                  <a:srgbClr val="00FFFF"/>
                </a:solidFill>
                <a:latin typeface="Comic Sans MS" panose="030F0702030302020204" pitchFamily="66" charset="0"/>
              </a:rPr>
              <a:t>Europe &amp; North America</a:t>
            </a:r>
            <a:r>
              <a:rPr lang="en-US" dirty="0">
                <a:solidFill>
                  <a:srgbClr val="00FFFF"/>
                </a:solidFill>
                <a:latin typeface="Comic Sans MS" panose="030F0702030302020204" pitchFamily="66" charset="0"/>
              </a:rPr>
              <a:t> show </a:t>
            </a:r>
            <a:r>
              <a:rPr lang="en-US" b="1" dirty="0">
                <a:solidFill>
                  <a:srgbClr val="00FFFF"/>
                </a:solidFill>
                <a:latin typeface="Comic Sans MS" panose="030F0702030302020204" pitchFamily="66" charset="0"/>
              </a:rPr>
              <a:t>high Life Expectancy</a:t>
            </a:r>
            <a:r>
              <a:rPr lang="en-US" dirty="0">
                <a:solidFill>
                  <a:srgbClr val="00FFFF"/>
                </a:solidFill>
                <a:latin typeface="Comic Sans MS" panose="030F0702030302020204" pitchFamily="66" charset="0"/>
              </a:rPr>
              <a:t> with </a:t>
            </a:r>
            <a:r>
              <a:rPr lang="en-US" b="1" dirty="0">
                <a:solidFill>
                  <a:srgbClr val="00FFFF"/>
                </a:solidFill>
                <a:latin typeface="Comic Sans MS" panose="030F0702030302020204" pitchFamily="66" charset="0"/>
              </a:rPr>
              <a:t>low Polio cases</a:t>
            </a:r>
            <a:r>
              <a:rPr lang="en-US" dirty="0">
                <a:solidFill>
                  <a:srgbClr val="00FFFF"/>
                </a:solidFill>
                <a:latin typeface="Comic Sans MS" panose="030F0702030302020204" pitchFamily="66" charset="0"/>
              </a:rPr>
              <a:t>, indicating strong healthcare systems.</a:t>
            </a:r>
          </a:p>
          <a:p>
            <a:endParaRPr lang="en-US" dirty="0">
              <a:solidFill>
                <a:srgbClr val="00FFFF"/>
              </a:solidFill>
              <a:latin typeface="Comic Sans MS" panose="030F0702030302020204" pitchFamily="66" charset="0"/>
            </a:endParaRPr>
          </a:p>
          <a:p>
            <a:r>
              <a:rPr lang="en-US" b="1" dirty="0">
                <a:solidFill>
                  <a:srgbClr val="00FFFF"/>
                </a:solidFill>
                <a:latin typeface="Comic Sans MS" panose="030F0702030302020204" pitchFamily="66" charset="0"/>
              </a:rPr>
              <a:t>Asia &amp; South America</a:t>
            </a:r>
            <a:r>
              <a:rPr lang="en-US" dirty="0">
                <a:solidFill>
                  <a:srgbClr val="00FFFF"/>
                </a:solidFill>
                <a:latin typeface="Comic Sans MS" panose="030F0702030302020204" pitchFamily="66" charset="0"/>
              </a:rPr>
              <a:t> display mixed patterns.</a:t>
            </a:r>
          </a:p>
          <a:p>
            <a:endParaRPr lang="en-US" dirty="0">
              <a:solidFill>
                <a:srgbClr val="00FFFF"/>
              </a:solidFill>
              <a:latin typeface="Comic Sans MS" panose="030F0702030302020204" pitchFamily="66" charset="0"/>
            </a:endParaRPr>
          </a:p>
          <a:p>
            <a:r>
              <a:rPr lang="en-US" b="1" dirty="0">
                <a:solidFill>
                  <a:srgbClr val="00FFFF"/>
                </a:solidFill>
                <a:latin typeface="Comic Sans MS" panose="030F0702030302020204" pitchFamily="66" charset="0"/>
              </a:rPr>
              <a:t>Oceania</a:t>
            </a:r>
            <a:r>
              <a:rPr lang="en-US" dirty="0">
                <a:solidFill>
                  <a:srgbClr val="00FFFF"/>
                </a:solidFill>
                <a:latin typeface="Comic Sans MS" panose="030F0702030302020204" pitchFamily="66" charset="0"/>
              </a:rPr>
              <a:t> has </a:t>
            </a:r>
            <a:r>
              <a:rPr lang="en-US" b="1" dirty="0">
                <a:solidFill>
                  <a:srgbClr val="00FFFF"/>
                </a:solidFill>
                <a:latin typeface="Comic Sans MS" panose="030F0702030302020204" pitchFamily="66" charset="0"/>
              </a:rPr>
              <a:t>low Polio cases</a:t>
            </a:r>
            <a:r>
              <a:rPr lang="en-US" dirty="0">
                <a:solidFill>
                  <a:srgbClr val="00FFFF"/>
                </a:solidFill>
                <a:latin typeface="Comic Sans MS" panose="030F0702030302020204" pitchFamily="66" charset="0"/>
              </a:rPr>
              <a:t> and </a:t>
            </a:r>
            <a:r>
              <a:rPr lang="en-US" b="1" dirty="0">
                <a:solidFill>
                  <a:srgbClr val="00FFFF"/>
                </a:solidFill>
                <a:latin typeface="Comic Sans MS" panose="030F0702030302020204" pitchFamily="66" charset="0"/>
              </a:rPr>
              <a:t>high Life Expectancy</a:t>
            </a:r>
            <a:r>
              <a:rPr lang="en-US" dirty="0">
                <a:solidFill>
                  <a:srgbClr val="00FFFF"/>
                </a:solidFill>
                <a:latin typeface="Comic Sans MS" panose="030F0702030302020204" pitchFamily="66" charset="0"/>
              </a:rPr>
              <a:t>.</a:t>
            </a:r>
          </a:p>
          <a:p>
            <a:endParaRPr lang="en-US" dirty="0">
              <a:latin typeface="Comic Sans MS" panose="030F0702030302020204" pitchFamily="66" charset="0"/>
            </a:endParaRPr>
          </a:p>
          <a:p>
            <a:r>
              <a:rPr lang="en-US" b="1" dirty="0">
                <a:solidFill>
                  <a:srgbClr val="FFFF00"/>
                </a:solidFill>
                <a:latin typeface="Comic Sans MS" panose="030F0702030302020204" pitchFamily="66" charset="0"/>
              </a:rPr>
              <a:t>Insight:</a:t>
            </a:r>
            <a:r>
              <a:rPr lang="en-US" dirty="0">
                <a:solidFill>
                  <a:srgbClr val="FFFF00"/>
                </a:solidFill>
                <a:latin typeface="Comic Sans MS" panose="030F0702030302020204" pitchFamily="66" charset="0"/>
              </a:rPr>
              <a:t> Regions with </a:t>
            </a:r>
            <a:r>
              <a:rPr lang="en-US" b="1" dirty="0">
                <a:solidFill>
                  <a:srgbClr val="FFFF00"/>
                </a:solidFill>
                <a:latin typeface="Comic Sans MS" panose="030F0702030302020204" pitchFamily="66" charset="0"/>
              </a:rPr>
              <a:t>better vaccination and healthcare</a:t>
            </a:r>
            <a:r>
              <a:rPr lang="en-US" dirty="0">
                <a:solidFill>
                  <a:srgbClr val="FFFF00"/>
                </a:solidFill>
                <a:latin typeface="Comic Sans MS" panose="030F0702030302020204" pitchFamily="66" charset="0"/>
              </a:rPr>
              <a:t> (like Europe, North America) tend to have </a:t>
            </a:r>
            <a:r>
              <a:rPr lang="en-US" b="1" dirty="0">
                <a:solidFill>
                  <a:srgbClr val="FFFF00"/>
                </a:solidFill>
                <a:latin typeface="Comic Sans MS" panose="030F0702030302020204" pitchFamily="66" charset="0"/>
              </a:rPr>
              <a:t>higher Life Expectancy</a:t>
            </a:r>
            <a:r>
              <a:rPr lang="en-US" dirty="0">
                <a:solidFill>
                  <a:srgbClr val="FFFF00"/>
                </a:solidFill>
                <a:latin typeface="Comic Sans MS" panose="030F0702030302020204" pitchFamily="66" charset="0"/>
              </a:rPr>
              <a:t> and </a:t>
            </a:r>
            <a:r>
              <a:rPr lang="en-US" b="1" dirty="0">
                <a:solidFill>
                  <a:srgbClr val="FFFF00"/>
                </a:solidFill>
                <a:latin typeface="Comic Sans MS" panose="030F0702030302020204" pitchFamily="66" charset="0"/>
              </a:rPr>
              <a:t>fewer Polio cases</a:t>
            </a:r>
            <a:r>
              <a:rPr lang="en-US" dirty="0">
                <a:solidFill>
                  <a:srgbClr val="FFFF00"/>
                </a:solidFill>
                <a:latin typeface="Comic Sans MS" panose="030F0702030302020204" pitchFamily="66" charset="0"/>
              </a:rPr>
              <a:t>, while underdeveloped regions face the opposite trend.</a:t>
            </a:r>
          </a:p>
          <a:p>
            <a:endParaRPr lang="en-IN" dirty="0">
              <a:latin typeface="Comic Sans MS" panose="030F0702030302020204" pitchFamily="66" charset="0"/>
            </a:endParaRPr>
          </a:p>
        </p:txBody>
      </p:sp>
    </p:spTree>
    <p:extLst>
      <p:ext uri="{BB962C8B-B14F-4D97-AF65-F5344CB8AC3E}">
        <p14:creationId xmlns:p14="http://schemas.microsoft.com/office/powerpoint/2010/main" val="491922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EBE38-610B-58E6-A71D-6682C04F9D23}"/>
              </a:ext>
            </a:extLst>
          </p:cNvPr>
          <p:cNvSpPr>
            <a:spLocks noGrp="1"/>
          </p:cNvSpPr>
          <p:nvPr>
            <p:ph type="title"/>
          </p:nvPr>
        </p:nvSpPr>
        <p:spPr>
          <a:xfrm>
            <a:off x="283029" y="108858"/>
            <a:ext cx="11070771" cy="653142"/>
          </a:xfrm>
        </p:spPr>
        <p:txBody>
          <a:bodyPr>
            <a:normAutofit fontScale="90000"/>
          </a:bodyPr>
          <a:lstStyle/>
          <a:p>
            <a:r>
              <a:rPr lang="en-US" b="1" dirty="0">
                <a:latin typeface="+mn-lt"/>
              </a:rPr>
              <a:t>KEY Insights:</a:t>
            </a:r>
            <a:endParaRPr lang="en-IN" b="1" dirty="0">
              <a:latin typeface="+mn-lt"/>
            </a:endParaRPr>
          </a:p>
        </p:txBody>
      </p:sp>
      <p:graphicFrame>
        <p:nvGraphicFramePr>
          <p:cNvPr id="4" name="Content Placeholder 3">
            <a:extLst>
              <a:ext uri="{FF2B5EF4-FFF2-40B4-BE49-F238E27FC236}">
                <a16:creationId xmlns:a16="http://schemas.microsoft.com/office/drawing/2014/main" id="{BBBA0054-41C1-150D-1EAC-44D5C5520376}"/>
              </a:ext>
            </a:extLst>
          </p:cNvPr>
          <p:cNvGraphicFramePr>
            <a:graphicFrameLocks noGrp="1"/>
          </p:cNvGraphicFramePr>
          <p:nvPr>
            <p:ph idx="1"/>
            <p:extLst>
              <p:ext uri="{D42A27DB-BD31-4B8C-83A1-F6EECF244321}">
                <p14:modId xmlns:p14="http://schemas.microsoft.com/office/powerpoint/2010/main" val="2150486662"/>
              </p:ext>
            </p:extLst>
          </p:nvPr>
        </p:nvGraphicFramePr>
        <p:xfrm>
          <a:off x="283028" y="957944"/>
          <a:ext cx="11680372" cy="5712351"/>
        </p:xfrm>
        <a:graphic>
          <a:graphicData uri="http://schemas.openxmlformats.org/drawingml/2006/table">
            <a:tbl>
              <a:tblPr>
                <a:tableStyleId>{616DA210-FB5B-4158-B5E0-FEB733F419BA}</a:tableStyleId>
              </a:tblPr>
              <a:tblGrid>
                <a:gridCol w="4417025">
                  <a:extLst>
                    <a:ext uri="{9D8B030D-6E8A-4147-A177-3AD203B41FA5}">
                      <a16:colId xmlns:a16="http://schemas.microsoft.com/office/drawing/2014/main" val="1527355872"/>
                    </a:ext>
                  </a:extLst>
                </a:gridCol>
                <a:gridCol w="7263347">
                  <a:extLst>
                    <a:ext uri="{9D8B030D-6E8A-4147-A177-3AD203B41FA5}">
                      <a16:colId xmlns:a16="http://schemas.microsoft.com/office/drawing/2014/main" val="3416194687"/>
                    </a:ext>
                  </a:extLst>
                </a:gridCol>
              </a:tblGrid>
              <a:tr h="450869">
                <a:tc>
                  <a:txBody>
                    <a:bodyPr/>
                    <a:lstStyle/>
                    <a:p>
                      <a:r>
                        <a:rPr lang="en-IN" b="1">
                          <a:solidFill>
                            <a:srgbClr val="FFFF00"/>
                          </a:solidFill>
                          <a:latin typeface="Comic Sans MS" panose="030F0702030302020204" pitchFamily="66" charset="0"/>
                        </a:rPr>
                        <a:t>Aspect</a:t>
                      </a:r>
                      <a:endParaRPr lang="en-IN">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Details / Description</a:t>
                      </a:r>
                      <a:endParaRPr lang="en-IN">
                        <a:solidFill>
                          <a:srgbClr val="00FFFF"/>
                        </a:solidFill>
                        <a:latin typeface="Comic Sans MS" panose="030F0702030302020204" pitchFamily="66" charset="0"/>
                      </a:endParaRPr>
                    </a:p>
                  </a:txBody>
                  <a:tcPr anchor="ctr"/>
                </a:tc>
                <a:extLst>
                  <a:ext uri="{0D108BD9-81ED-4DB2-BD59-A6C34878D82A}">
                    <a16:rowId xmlns:a16="http://schemas.microsoft.com/office/drawing/2014/main" val="1785312981"/>
                  </a:ext>
                </a:extLst>
              </a:tr>
              <a:tr h="789020">
                <a:tc>
                  <a:txBody>
                    <a:bodyPr/>
                    <a:lstStyle/>
                    <a:p>
                      <a:r>
                        <a:rPr lang="en-IN" b="1">
                          <a:solidFill>
                            <a:srgbClr val="FFFF00"/>
                          </a:solidFill>
                          <a:latin typeface="Comic Sans MS" panose="030F0702030302020204" pitchFamily="66" charset="0"/>
                        </a:rPr>
                        <a:t>Continental Vaccination Coverage (Avg)</a:t>
                      </a:r>
                      <a:endParaRPr lang="en-IN">
                        <a:solidFill>
                          <a:srgbClr val="FFFF00"/>
                        </a:solidFill>
                        <a:latin typeface="Comic Sans MS" panose="030F0702030302020204" pitchFamily="66" charset="0"/>
                      </a:endParaRPr>
                    </a:p>
                  </a:txBody>
                  <a:tcPr anchor="ctr"/>
                </a:tc>
                <a:tc>
                  <a:txBody>
                    <a:bodyPr/>
                    <a:lstStyle/>
                    <a:p>
                      <a:r>
                        <a:rPr lang="en-US" b="1">
                          <a:solidFill>
                            <a:srgbClr val="00FFFF"/>
                          </a:solidFill>
                          <a:latin typeface="Comic Sans MS" panose="030F0702030302020204" pitchFamily="66" charset="0"/>
                        </a:rPr>
                        <a:t>Europe</a:t>
                      </a:r>
                      <a:r>
                        <a:rPr lang="en-US">
                          <a:solidFill>
                            <a:srgbClr val="00FFFF"/>
                          </a:solidFill>
                          <a:latin typeface="Comic Sans MS" panose="030F0702030302020204" pitchFamily="66" charset="0"/>
                        </a:rPr>
                        <a:t> leads with </a:t>
                      </a:r>
                      <a:r>
                        <a:rPr lang="en-US" b="1">
                          <a:solidFill>
                            <a:srgbClr val="00FFFF"/>
                          </a:solidFill>
                          <a:latin typeface="Comic Sans MS" panose="030F0702030302020204" pitchFamily="66" charset="0"/>
                        </a:rPr>
                        <a:t>93%</a:t>
                      </a:r>
                      <a:r>
                        <a:rPr lang="en-US">
                          <a:solidFill>
                            <a:srgbClr val="00FFFF"/>
                          </a:solidFill>
                          <a:latin typeface="Comic Sans MS" panose="030F0702030302020204" pitchFamily="66" charset="0"/>
                        </a:rPr>
                        <a:t>, followed by </a:t>
                      </a:r>
                      <a:r>
                        <a:rPr lang="en-US" b="1">
                          <a:solidFill>
                            <a:srgbClr val="00FFFF"/>
                          </a:solidFill>
                          <a:latin typeface="Comic Sans MS" panose="030F0702030302020204" pitchFamily="66" charset="0"/>
                        </a:rPr>
                        <a:t>Asia (85%)</a:t>
                      </a:r>
                      <a:r>
                        <a:rPr lang="en-US">
                          <a:solidFill>
                            <a:srgbClr val="00FFFF"/>
                          </a:solidFill>
                          <a:latin typeface="Comic Sans MS" panose="030F0702030302020204" pitchFamily="66" charset="0"/>
                        </a:rPr>
                        <a:t>, </a:t>
                      </a:r>
                      <a:r>
                        <a:rPr lang="en-US" b="1">
                          <a:solidFill>
                            <a:srgbClr val="00FFFF"/>
                          </a:solidFill>
                          <a:latin typeface="Comic Sans MS" panose="030F0702030302020204" pitchFamily="66" charset="0"/>
                        </a:rPr>
                        <a:t>North America</a:t>
                      </a:r>
                      <a:r>
                        <a:rPr lang="en-US">
                          <a:solidFill>
                            <a:srgbClr val="00FFFF"/>
                          </a:solidFill>
                          <a:latin typeface="Comic Sans MS" panose="030F0702030302020204" pitchFamily="66" charset="0"/>
                        </a:rPr>
                        <a:t>, </a:t>
                      </a:r>
                      <a:r>
                        <a:rPr lang="en-US" b="1">
                          <a:solidFill>
                            <a:srgbClr val="00FFFF"/>
                          </a:solidFill>
                          <a:latin typeface="Comic Sans MS" panose="030F0702030302020204" pitchFamily="66" charset="0"/>
                        </a:rPr>
                        <a:t>South America</a:t>
                      </a:r>
                      <a:r>
                        <a:rPr lang="en-US">
                          <a:solidFill>
                            <a:srgbClr val="00FFFF"/>
                          </a:solidFill>
                          <a:latin typeface="Comic Sans MS" panose="030F0702030302020204" pitchFamily="66" charset="0"/>
                        </a:rPr>
                        <a:t>, </a:t>
                      </a:r>
                      <a:r>
                        <a:rPr lang="en-US" b="1">
                          <a:solidFill>
                            <a:srgbClr val="00FFFF"/>
                          </a:solidFill>
                          <a:latin typeface="Comic Sans MS" panose="030F0702030302020204" pitchFamily="66" charset="0"/>
                        </a:rPr>
                        <a:t>Oceania</a:t>
                      </a:r>
                      <a:r>
                        <a:rPr lang="en-US">
                          <a:solidFill>
                            <a:srgbClr val="00FFFF"/>
                          </a:solidFill>
                          <a:latin typeface="Comic Sans MS" panose="030F0702030302020204" pitchFamily="66" charset="0"/>
                        </a:rPr>
                        <a:t>, and </a:t>
                      </a:r>
                      <a:r>
                        <a:rPr lang="en-US" b="1">
                          <a:solidFill>
                            <a:srgbClr val="00FFFF"/>
                          </a:solidFill>
                          <a:latin typeface="Comic Sans MS" panose="030F0702030302020204" pitchFamily="66" charset="0"/>
                        </a:rPr>
                        <a:t>Africa (71%)</a:t>
                      </a:r>
                      <a:r>
                        <a:rPr lang="en-US">
                          <a:solidFill>
                            <a:srgbClr val="00FFFF"/>
                          </a:solidFill>
                          <a:latin typeface="Comic Sans MS" panose="030F0702030302020204" pitchFamily="66" charset="0"/>
                        </a:rPr>
                        <a:t>.</a:t>
                      </a:r>
                    </a:p>
                  </a:txBody>
                  <a:tcPr anchor="ctr"/>
                </a:tc>
                <a:extLst>
                  <a:ext uri="{0D108BD9-81ED-4DB2-BD59-A6C34878D82A}">
                    <a16:rowId xmlns:a16="http://schemas.microsoft.com/office/drawing/2014/main" val="2143104329"/>
                  </a:ext>
                </a:extLst>
              </a:tr>
              <a:tr h="789020">
                <a:tc>
                  <a:txBody>
                    <a:bodyPr/>
                    <a:lstStyle/>
                    <a:p>
                      <a:r>
                        <a:rPr lang="en-US" b="1">
                          <a:solidFill>
                            <a:srgbClr val="FFFF00"/>
                          </a:solidFill>
                          <a:latin typeface="Comic Sans MS" panose="030F0702030302020204" pitchFamily="66" charset="0"/>
                        </a:rPr>
                        <a:t>Top 5 Countries (Avg. Vaccination %)</a:t>
                      </a:r>
                      <a:endParaRPr lang="en-US">
                        <a:solidFill>
                          <a:srgbClr val="FFFF00"/>
                        </a:solidFill>
                        <a:latin typeface="Comic Sans MS" panose="030F0702030302020204" pitchFamily="66" charset="0"/>
                      </a:endParaRPr>
                    </a:p>
                  </a:txBody>
                  <a:tcPr anchor="ctr"/>
                </a:tc>
                <a:tc>
                  <a:txBody>
                    <a:bodyPr/>
                    <a:lstStyle/>
                    <a:p>
                      <a:r>
                        <a:rPr lang="en-US" b="1">
                          <a:solidFill>
                            <a:srgbClr val="00FFFF"/>
                          </a:solidFill>
                          <a:latin typeface="Comic Sans MS" panose="030F0702030302020204" pitchFamily="66" charset="0"/>
                        </a:rPr>
                        <a:t>Palau, Niue, Monaco, Hungary, Cuba</a:t>
                      </a:r>
                      <a:r>
                        <a:rPr lang="en-US">
                          <a:solidFill>
                            <a:srgbClr val="00FFFF"/>
                          </a:solidFill>
                          <a:latin typeface="Comic Sans MS" panose="030F0702030302020204" pitchFamily="66" charset="0"/>
                        </a:rPr>
                        <a:t> – All maintained </a:t>
                      </a:r>
                      <a:r>
                        <a:rPr lang="en-US" b="1">
                          <a:solidFill>
                            <a:srgbClr val="00FFFF"/>
                          </a:solidFill>
                          <a:latin typeface="Comic Sans MS" panose="030F0702030302020204" pitchFamily="66" charset="0"/>
                        </a:rPr>
                        <a:t>~99%</a:t>
                      </a:r>
                      <a:r>
                        <a:rPr lang="en-US">
                          <a:solidFill>
                            <a:srgbClr val="00FFFF"/>
                          </a:solidFill>
                          <a:latin typeface="Comic Sans MS" panose="030F0702030302020204" pitchFamily="66" charset="0"/>
                        </a:rPr>
                        <a:t> average Polio vaccination over the years.</a:t>
                      </a:r>
                    </a:p>
                  </a:txBody>
                  <a:tcPr anchor="ctr"/>
                </a:tc>
                <a:extLst>
                  <a:ext uri="{0D108BD9-81ED-4DB2-BD59-A6C34878D82A}">
                    <a16:rowId xmlns:a16="http://schemas.microsoft.com/office/drawing/2014/main" val="1686400274"/>
                  </a:ext>
                </a:extLst>
              </a:tr>
              <a:tr h="789020">
                <a:tc>
                  <a:txBody>
                    <a:bodyPr/>
                    <a:lstStyle/>
                    <a:p>
                      <a:r>
                        <a:rPr lang="en-IN" b="1" dirty="0">
                          <a:solidFill>
                            <a:srgbClr val="FFFF00"/>
                          </a:solidFill>
                          <a:latin typeface="Comic Sans MS" panose="030F0702030302020204" pitchFamily="66" charset="0"/>
                        </a:rPr>
                        <a:t>Lowest Vaccination (Starting Year)</a:t>
                      </a:r>
                      <a:endParaRPr lang="en-IN" dirty="0">
                        <a:solidFill>
                          <a:srgbClr val="FFFF00"/>
                        </a:solidFill>
                        <a:latin typeface="Comic Sans MS" panose="030F0702030302020204" pitchFamily="66" charset="0"/>
                      </a:endParaRPr>
                    </a:p>
                  </a:txBody>
                  <a:tcPr anchor="ctr"/>
                </a:tc>
                <a:tc>
                  <a:txBody>
                    <a:bodyPr/>
                    <a:lstStyle/>
                    <a:p>
                      <a:r>
                        <a:rPr lang="en-US" b="1">
                          <a:solidFill>
                            <a:srgbClr val="00FFFF"/>
                          </a:solidFill>
                          <a:latin typeface="Comic Sans MS" panose="030F0702030302020204" pitchFamily="66" charset="0"/>
                        </a:rPr>
                        <a:t>Angola</a:t>
                      </a:r>
                      <a:r>
                        <a:rPr lang="en-US">
                          <a:solidFill>
                            <a:srgbClr val="00FFFF"/>
                          </a:solidFill>
                          <a:latin typeface="Comic Sans MS" panose="030F0702030302020204" pitchFamily="66" charset="0"/>
                        </a:rPr>
                        <a:t> and </a:t>
                      </a:r>
                      <a:r>
                        <a:rPr lang="en-US" b="1">
                          <a:solidFill>
                            <a:srgbClr val="00FFFF"/>
                          </a:solidFill>
                          <a:latin typeface="Comic Sans MS" panose="030F0702030302020204" pitchFamily="66" charset="0"/>
                        </a:rPr>
                        <a:t>Chad</a:t>
                      </a:r>
                      <a:r>
                        <a:rPr lang="en-US">
                          <a:solidFill>
                            <a:srgbClr val="00FFFF"/>
                          </a:solidFill>
                          <a:latin typeface="Comic Sans MS" panose="030F0702030302020204" pitchFamily="66" charset="0"/>
                        </a:rPr>
                        <a:t> had the lowest Polio vaccination in early 2000s – only </a:t>
                      </a:r>
                      <a:r>
                        <a:rPr lang="en-US" b="1">
                          <a:solidFill>
                            <a:srgbClr val="00FFFF"/>
                          </a:solidFill>
                          <a:latin typeface="Comic Sans MS" panose="030F0702030302020204" pitchFamily="66" charset="0"/>
                        </a:rPr>
                        <a:t>3%</a:t>
                      </a:r>
                      <a:r>
                        <a:rPr lang="en-US">
                          <a:solidFill>
                            <a:srgbClr val="00FFFF"/>
                          </a:solidFill>
                          <a:latin typeface="Comic Sans MS" panose="030F0702030302020204" pitchFamily="66" charset="0"/>
                        </a:rPr>
                        <a:t> of children vaccinated.</a:t>
                      </a:r>
                    </a:p>
                  </a:txBody>
                  <a:tcPr anchor="ctr"/>
                </a:tc>
                <a:extLst>
                  <a:ext uri="{0D108BD9-81ED-4DB2-BD59-A6C34878D82A}">
                    <a16:rowId xmlns:a16="http://schemas.microsoft.com/office/drawing/2014/main" val="1930959087"/>
                  </a:ext>
                </a:extLst>
              </a:tr>
              <a:tr h="1127171">
                <a:tc>
                  <a:txBody>
                    <a:bodyPr/>
                    <a:lstStyle/>
                    <a:p>
                      <a:r>
                        <a:rPr lang="en-US" b="1">
                          <a:solidFill>
                            <a:srgbClr val="FFFF00"/>
                          </a:solidFill>
                          <a:latin typeface="Comic Sans MS" panose="030F0702030302020204" pitchFamily="66" charset="0"/>
                        </a:rPr>
                        <a:t>Countries with 100% Vaccination in 2000</a:t>
                      </a:r>
                      <a:endParaRPr lang="en-US">
                        <a:solidFill>
                          <a:srgbClr val="FFFF00"/>
                        </a:solidFill>
                        <a:latin typeface="Comic Sans MS" panose="030F0702030302020204" pitchFamily="66" charset="0"/>
                      </a:endParaRPr>
                    </a:p>
                  </a:txBody>
                  <a:tcPr anchor="ctr"/>
                </a:tc>
                <a:tc>
                  <a:txBody>
                    <a:bodyPr/>
                    <a:lstStyle/>
                    <a:p>
                      <a:r>
                        <a:rPr lang="en-US" b="1">
                          <a:solidFill>
                            <a:srgbClr val="00FFFF"/>
                          </a:solidFill>
                          <a:latin typeface="Comic Sans MS" panose="030F0702030302020204" pitchFamily="66" charset="0"/>
                        </a:rPr>
                        <a:t>16 countries</a:t>
                      </a:r>
                      <a:r>
                        <a:rPr lang="en-US">
                          <a:solidFill>
                            <a:srgbClr val="00FFFF"/>
                          </a:solidFill>
                          <a:latin typeface="Comic Sans MS" panose="030F0702030302020204" pitchFamily="66" charset="0"/>
                        </a:rPr>
                        <a:t>, including </a:t>
                      </a:r>
                      <a:r>
                        <a:rPr lang="en-US" b="1">
                          <a:solidFill>
                            <a:srgbClr val="00FFFF"/>
                          </a:solidFill>
                          <a:latin typeface="Comic Sans MS" panose="030F0702030302020204" pitchFamily="66" charset="0"/>
                        </a:rPr>
                        <a:t>Belarus, Brazil, Hungary, Oman, Panama, Romania</a:t>
                      </a:r>
                      <a:r>
                        <a:rPr lang="en-US">
                          <a:solidFill>
                            <a:srgbClr val="00FFFF"/>
                          </a:solidFill>
                          <a:latin typeface="Comic Sans MS" panose="030F0702030302020204" pitchFamily="66" charset="0"/>
                        </a:rPr>
                        <a:t>, had </a:t>
                      </a:r>
                      <a:r>
                        <a:rPr lang="en-US" b="1">
                          <a:solidFill>
                            <a:srgbClr val="00FFFF"/>
                          </a:solidFill>
                          <a:latin typeface="Comic Sans MS" panose="030F0702030302020204" pitchFamily="66" charset="0"/>
                        </a:rPr>
                        <a:t>100% coverage</a:t>
                      </a:r>
                      <a:r>
                        <a:rPr lang="en-US">
                          <a:solidFill>
                            <a:srgbClr val="00FFFF"/>
                          </a:solidFill>
                          <a:latin typeface="Comic Sans MS" panose="030F0702030302020204" pitchFamily="66" charset="0"/>
                        </a:rPr>
                        <a:t> in 2000.</a:t>
                      </a:r>
                    </a:p>
                  </a:txBody>
                  <a:tcPr anchor="ctr"/>
                </a:tc>
                <a:extLst>
                  <a:ext uri="{0D108BD9-81ED-4DB2-BD59-A6C34878D82A}">
                    <a16:rowId xmlns:a16="http://schemas.microsoft.com/office/drawing/2014/main" val="2037741532"/>
                  </a:ext>
                </a:extLst>
              </a:tr>
              <a:tr h="1127171">
                <a:tc>
                  <a:txBody>
                    <a:bodyPr/>
                    <a:lstStyle/>
                    <a:p>
                      <a:r>
                        <a:rPr lang="en-US" b="1">
                          <a:solidFill>
                            <a:srgbClr val="FFFF00"/>
                          </a:solidFill>
                          <a:latin typeface="Comic Sans MS" panose="030F0702030302020204" pitchFamily="66" charset="0"/>
                        </a:rPr>
                        <a:t>Lowest Vaccinated Countries (Year 2015)</a:t>
                      </a:r>
                      <a:endParaRPr lang="en-US">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Syria (5%)</a:t>
                      </a:r>
                      <a:r>
                        <a:rPr lang="en-IN">
                          <a:solidFill>
                            <a:srgbClr val="00FFFF"/>
                          </a:solidFill>
                          <a:latin typeface="Comic Sans MS" panose="030F0702030302020204" pitchFamily="66" charset="0"/>
                        </a:rPr>
                        <a:t>, </a:t>
                      </a:r>
                      <a:r>
                        <a:rPr lang="en-IN" b="1">
                          <a:solidFill>
                            <a:srgbClr val="00FFFF"/>
                          </a:solidFill>
                          <a:latin typeface="Comic Sans MS" panose="030F0702030302020204" pitchFamily="66" charset="0"/>
                        </a:rPr>
                        <a:t>Afghanistan (6%)</a:t>
                      </a:r>
                      <a:r>
                        <a:rPr lang="en-IN">
                          <a:solidFill>
                            <a:srgbClr val="00FFFF"/>
                          </a:solidFill>
                          <a:latin typeface="Comic Sans MS" panose="030F0702030302020204" pitchFamily="66" charset="0"/>
                        </a:rPr>
                        <a:t>, </a:t>
                      </a:r>
                      <a:r>
                        <a:rPr lang="en-IN" b="1">
                          <a:solidFill>
                            <a:srgbClr val="00FFFF"/>
                          </a:solidFill>
                          <a:latin typeface="Comic Sans MS" panose="030F0702030302020204" pitchFamily="66" charset="0"/>
                        </a:rPr>
                        <a:t>Angola (7%)</a:t>
                      </a:r>
                      <a:r>
                        <a:rPr lang="en-IN">
                          <a:solidFill>
                            <a:srgbClr val="00FFFF"/>
                          </a:solidFill>
                          <a:latin typeface="Comic Sans MS" panose="030F0702030302020204" pitchFamily="66" charset="0"/>
                        </a:rPr>
                        <a:t>, </a:t>
                      </a:r>
                      <a:r>
                        <a:rPr lang="en-IN" b="1">
                          <a:solidFill>
                            <a:srgbClr val="00FFFF"/>
                          </a:solidFill>
                          <a:latin typeface="Comic Sans MS" panose="030F0702030302020204" pitchFamily="66" charset="0"/>
                        </a:rPr>
                        <a:t>Indonesia (8%)</a:t>
                      </a:r>
                      <a:r>
                        <a:rPr lang="en-IN">
                          <a:solidFill>
                            <a:srgbClr val="00FFFF"/>
                          </a:solidFill>
                          <a:latin typeface="Comic Sans MS" panose="030F0702030302020204" pitchFamily="66" charset="0"/>
                        </a:rPr>
                        <a:t>, </a:t>
                      </a:r>
                      <a:r>
                        <a:rPr lang="en-IN" b="1">
                          <a:solidFill>
                            <a:srgbClr val="00FFFF"/>
                          </a:solidFill>
                          <a:latin typeface="Comic Sans MS" panose="030F0702030302020204" pitchFamily="66" charset="0"/>
                        </a:rPr>
                        <a:t>Kiribati (8%)</a:t>
                      </a:r>
                      <a:r>
                        <a:rPr lang="en-IN">
                          <a:solidFill>
                            <a:srgbClr val="00FFFF"/>
                          </a:solidFill>
                          <a:latin typeface="Comic Sans MS" panose="030F0702030302020204" pitchFamily="66" charset="0"/>
                        </a:rPr>
                        <a:t> had the </a:t>
                      </a:r>
                      <a:r>
                        <a:rPr lang="en-IN" b="1">
                          <a:solidFill>
                            <a:srgbClr val="00FFFF"/>
                          </a:solidFill>
                          <a:latin typeface="Comic Sans MS" panose="030F0702030302020204" pitchFamily="66" charset="0"/>
                        </a:rPr>
                        <a:t>lowest Polio vaccination</a:t>
                      </a:r>
                      <a:r>
                        <a:rPr lang="en-IN">
                          <a:solidFill>
                            <a:srgbClr val="00FFFF"/>
                          </a:solidFill>
                          <a:latin typeface="Comic Sans MS" panose="030F0702030302020204" pitchFamily="66" charset="0"/>
                        </a:rPr>
                        <a:t> in 2015.</a:t>
                      </a:r>
                    </a:p>
                  </a:txBody>
                  <a:tcPr anchor="ctr"/>
                </a:tc>
                <a:extLst>
                  <a:ext uri="{0D108BD9-81ED-4DB2-BD59-A6C34878D82A}">
                    <a16:rowId xmlns:a16="http://schemas.microsoft.com/office/drawing/2014/main" val="3977678621"/>
                  </a:ext>
                </a:extLst>
              </a:tr>
              <a:tr h="620957">
                <a:tc>
                  <a:txBody>
                    <a:bodyPr/>
                    <a:lstStyle/>
                    <a:p>
                      <a:r>
                        <a:rPr lang="en-US" b="1" dirty="0">
                          <a:solidFill>
                            <a:srgbClr val="FFFF00"/>
                          </a:solidFill>
                          <a:latin typeface="Comic Sans MS" panose="030F0702030302020204" pitchFamily="66" charset="0"/>
                        </a:rPr>
                        <a:t>Countries with 100% Vaccination (2015)</a:t>
                      </a:r>
                      <a:endParaRPr lang="en-US" dirty="0">
                        <a:solidFill>
                          <a:srgbClr val="FFFF00"/>
                        </a:solidFill>
                        <a:latin typeface="Comic Sans MS" panose="030F0702030302020204" pitchFamily="66" charset="0"/>
                      </a:endParaRPr>
                    </a:p>
                  </a:txBody>
                  <a:tcPr anchor="ctr"/>
                </a:tc>
                <a:tc>
                  <a:txBody>
                    <a:bodyPr/>
                    <a:lstStyle/>
                    <a:p>
                      <a:r>
                        <a:rPr lang="en-US" b="1" dirty="0">
                          <a:solidFill>
                            <a:srgbClr val="00FFFF"/>
                          </a:solidFill>
                          <a:latin typeface="Comic Sans MS" panose="030F0702030302020204" pitchFamily="66" charset="0"/>
                        </a:rPr>
                        <a:t>31 countries</a:t>
                      </a:r>
                      <a:r>
                        <a:rPr lang="en-US" dirty="0">
                          <a:solidFill>
                            <a:srgbClr val="00FFFF"/>
                          </a:solidFill>
                          <a:latin typeface="Comic Sans MS" panose="030F0702030302020204" pitchFamily="66" charset="0"/>
                        </a:rPr>
                        <a:t> achieved </a:t>
                      </a:r>
                      <a:r>
                        <a:rPr lang="en-US" b="1" dirty="0">
                          <a:solidFill>
                            <a:srgbClr val="00FFFF"/>
                          </a:solidFill>
                          <a:latin typeface="Comic Sans MS" panose="030F0702030302020204" pitchFamily="66" charset="0"/>
                        </a:rPr>
                        <a:t>100% Polio vaccination</a:t>
                      </a:r>
                      <a:r>
                        <a:rPr lang="en-US" dirty="0">
                          <a:solidFill>
                            <a:srgbClr val="00FFFF"/>
                          </a:solidFill>
                          <a:latin typeface="Comic Sans MS" panose="030F0702030302020204" pitchFamily="66" charset="0"/>
                        </a:rPr>
                        <a:t> in 2015.</a:t>
                      </a:r>
                    </a:p>
                  </a:txBody>
                  <a:tcPr anchor="ctr"/>
                </a:tc>
                <a:extLst>
                  <a:ext uri="{0D108BD9-81ED-4DB2-BD59-A6C34878D82A}">
                    <a16:rowId xmlns:a16="http://schemas.microsoft.com/office/drawing/2014/main" val="814668387"/>
                  </a:ext>
                </a:extLst>
              </a:tr>
            </a:tbl>
          </a:graphicData>
        </a:graphic>
      </p:graphicFrame>
    </p:spTree>
    <p:extLst>
      <p:ext uri="{BB962C8B-B14F-4D97-AF65-F5344CB8AC3E}">
        <p14:creationId xmlns:p14="http://schemas.microsoft.com/office/powerpoint/2010/main" val="859888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4187A-DC5C-091C-F1D8-467D70136414}"/>
              </a:ext>
            </a:extLst>
          </p:cNvPr>
          <p:cNvSpPr>
            <a:spLocks noGrp="1"/>
          </p:cNvSpPr>
          <p:nvPr>
            <p:ph type="title"/>
          </p:nvPr>
        </p:nvSpPr>
        <p:spPr>
          <a:xfrm>
            <a:off x="87086" y="87086"/>
            <a:ext cx="11266714" cy="936172"/>
          </a:xfrm>
        </p:spPr>
        <p:txBody>
          <a:bodyPr>
            <a:normAutofit/>
          </a:bodyPr>
          <a:lstStyle/>
          <a:p>
            <a:r>
              <a:rPr lang="en-US" b="1" dirty="0">
                <a:latin typeface="+mn-lt"/>
              </a:rPr>
              <a:t>12. Total Expenditure</a:t>
            </a:r>
            <a:endParaRPr lang="en-IN" b="1" dirty="0">
              <a:latin typeface="+mn-lt"/>
            </a:endParaRPr>
          </a:p>
        </p:txBody>
      </p:sp>
      <p:pic>
        <p:nvPicPr>
          <p:cNvPr id="6" name="Content Placeholder 5">
            <a:extLst>
              <a:ext uri="{FF2B5EF4-FFF2-40B4-BE49-F238E27FC236}">
                <a16:creationId xmlns:a16="http://schemas.microsoft.com/office/drawing/2014/main" id="{E5E019AB-1D72-A942-82B6-38411A654ECB}"/>
              </a:ext>
            </a:extLst>
          </p:cNvPr>
          <p:cNvPicPr>
            <a:picLocks noGrp="1" noChangeAspect="1"/>
          </p:cNvPicPr>
          <p:nvPr>
            <p:ph sz="half" idx="1"/>
          </p:nvPr>
        </p:nvPicPr>
        <p:blipFill>
          <a:blip r:embed="rId2"/>
          <a:stretch>
            <a:fillRect/>
          </a:stretch>
        </p:blipFill>
        <p:spPr>
          <a:xfrm>
            <a:off x="87086" y="1251857"/>
            <a:ext cx="6531428" cy="5279572"/>
          </a:xfrm>
        </p:spPr>
      </p:pic>
      <p:sp>
        <p:nvSpPr>
          <p:cNvPr id="4" name="Content Placeholder 3">
            <a:extLst>
              <a:ext uri="{FF2B5EF4-FFF2-40B4-BE49-F238E27FC236}">
                <a16:creationId xmlns:a16="http://schemas.microsoft.com/office/drawing/2014/main" id="{706E2F59-448A-BD58-A3BA-5189732D12D2}"/>
              </a:ext>
            </a:extLst>
          </p:cNvPr>
          <p:cNvSpPr>
            <a:spLocks noGrp="1"/>
          </p:cNvSpPr>
          <p:nvPr>
            <p:ph sz="half" idx="2"/>
          </p:nvPr>
        </p:nvSpPr>
        <p:spPr>
          <a:xfrm>
            <a:off x="6770914" y="250372"/>
            <a:ext cx="5202390" cy="6422572"/>
          </a:xfrm>
        </p:spPr>
        <p:txBody>
          <a:bodyPr>
            <a:normAutofit fontScale="62500" lnSpcReduction="20000"/>
          </a:bodyPr>
          <a:lstStyle/>
          <a:p>
            <a:r>
              <a:rPr lang="en-US" dirty="0">
                <a:solidFill>
                  <a:srgbClr val="FFFF00"/>
                </a:solidFill>
                <a:latin typeface="Comic Sans MS" panose="030F0702030302020204" pitchFamily="66" charset="0"/>
              </a:rPr>
              <a:t>The total health expenditure expressed as a percentage of a country's Gross Domestic Product (GDP).</a:t>
            </a:r>
          </a:p>
          <a:p>
            <a:endParaRPr lang="en-US" dirty="0">
              <a:solidFill>
                <a:srgbClr val="00B0F0"/>
              </a:solidFill>
              <a:latin typeface="Comic Sans MS" panose="030F0702030302020204" pitchFamily="66" charset="0"/>
            </a:endParaRPr>
          </a:p>
          <a:p>
            <a:pPr marL="0" indent="0">
              <a:buNone/>
            </a:pPr>
            <a:r>
              <a:rPr lang="en-US" dirty="0">
                <a:solidFill>
                  <a:srgbClr val="00B0F0"/>
                </a:solidFill>
                <a:latin typeface="Comic Sans MS" panose="030F0702030302020204" pitchFamily="66" charset="0"/>
              </a:rPr>
              <a:t> </a:t>
            </a:r>
            <a:r>
              <a:rPr lang="en-US" dirty="0">
                <a:solidFill>
                  <a:srgbClr val="FFC000"/>
                </a:solidFill>
                <a:latin typeface="Comic Sans MS" panose="030F0702030302020204" pitchFamily="66" charset="0"/>
              </a:rPr>
              <a:t>This plot shows the link between </a:t>
            </a:r>
            <a:r>
              <a:rPr lang="en-US" b="1" dirty="0">
                <a:solidFill>
                  <a:srgbClr val="FFC000"/>
                </a:solidFill>
                <a:latin typeface="Comic Sans MS" panose="030F0702030302020204" pitchFamily="66" charset="0"/>
              </a:rPr>
              <a:t>total spending</a:t>
            </a:r>
            <a:r>
              <a:rPr lang="en-US" dirty="0">
                <a:solidFill>
                  <a:srgbClr val="FFC000"/>
                </a:solidFill>
                <a:latin typeface="Comic Sans MS" panose="030F0702030302020204" pitchFamily="66" charset="0"/>
              </a:rPr>
              <a:t> and </a:t>
            </a:r>
            <a:r>
              <a:rPr lang="en-US" b="1" dirty="0">
                <a:solidFill>
                  <a:srgbClr val="FFC000"/>
                </a:solidFill>
                <a:latin typeface="Comic Sans MS" panose="030F0702030302020204" pitchFamily="66" charset="0"/>
              </a:rPr>
              <a:t>life expectancy</a:t>
            </a:r>
            <a:r>
              <a:rPr lang="en-US" dirty="0">
                <a:solidFill>
                  <a:srgbClr val="FFC000"/>
                </a:solidFill>
                <a:latin typeface="Comic Sans MS" panose="030F0702030302020204" pitchFamily="66" charset="0"/>
              </a:rPr>
              <a:t> across continents.</a:t>
            </a:r>
          </a:p>
          <a:p>
            <a:endParaRPr lang="en-US" dirty="0">
              <a:solidFill>
                <a:srgbClr val="00B0F0"/>
              </a:solidFill>
              <a:latin typeface="Comic Sans MS" panose="030F0702030302020204" pitchFamily="66" charset="0"/>
            </a:endParaRPr>
          </a:p>
          <a:p>
            <a:r>
              <a:rPr lang="en-US" b="1" dirty="0">
                <a:solidFill>
                  <a:srgbClr val="00B0F0"/>
                </a:solidFill>
                <a:latin typeface="Comic Sans MS" panose="030F0702030302020204" pitchFamily="66" charset="0"/>
              </a:rPr>
              <a:t>Europe &amp; North America</a:t>
            </a:r>
            <a:r>
              <a:rPr lang="en-US" dirty="0">
                <a:solidFill>
                  <a:srgbClr val="00B0F0"/>
                </a:solidFill>
                <a:latin typeface="Comic Sans MS" panose="030F0702030302020204" pitchFamily="66" charset="0"/>
              </a:rPr>
              <a:t>: High spending, high life expectancy.</a:t>
            </a:r>
          </a:p>
          <a:p>
            <a:pPr marL="0" indent="0">
              <a:buNone/>
            </a:pPr>
            <a:endParaRPr lang="en-US" dirty="0">
              <a:solidFill>
                <a:srgbClr val="00B0F0"/>
              </a:solidFill>
              <a:latin typeface="Comic Sans MS" panose="030F0702030302020204" pitchFamily="66" charset="0"/>
            </a:endParaRPr>
          </a:p>
          <a:p>
            <a:r>
              <a:rPr lang="en-US" b="1" dirty="0">
                <a:solidFill>
                  <a:srgbClr val="00B0F0"/>
                </a:solidFill>
                <a:latin typeface="Comic Sans MS" panose="030F0702030302020204" pitchFamily="66" charset="0"/>
              </a:rPr>
              <a:t>Africa</a:t>
            </a:r>
            <a:r>
              <a:rPr lang="en-US" dirty="0">
                <a:solidFill>
                  <a:srgbClr val="00B0F0"/>
                </a:solidFill>
                <a:latin typeface="Comic Sans MS" panose="030F0702030302020204" pitchFamily="66" charset="0"/>
              </a:rPr>
              <a:t>: Low spending, low life expectancy.</a:t>
            </a:r>
          </a:p>
          <a:p>
            <a:endParaRPr lang="en-US" dirty="0">
              <a:solidFill>
                <a:srgbClr val="00B0F0"/>
              </a:solidFill>
              <a:latin typeface="Comic Sans MS" panose="030F0702030302020204" pitchFamily="66" charset="0"/>
            </a:endParaRPr>
          </a:p>
          <a:p>
            <a:r>
              <a:rPr lang="en-US" b="1" dirty="0">
                <a:solidFill>
                  <a:srgbClr val="00B0F0"/>
                </a:solidFill>
                <a:latin typeface="Comic Sans MS" panose="030F0702030302020204" pitchFamily="66" charset="0"/>
              </a:rPr>
              <a:t>Asia</a:t>
            </a:r>
            <a:r>
              <a:rPr lang="en-US" dirty="0">
                <a:solidFill>
                  <a:srgbClr val="00B0F0"/>
                </a:solidFill>
                <a:latin typeface="Comic Sans MS" panose="030F0702030302020204" pitchFamily="66" charset="0"/>
              </a:rPr>
              <a:t>: Mixed trends.</a:t>
            </a:r>
          </a:p>
          <a:p>
            <a:endParaRPr lang="en-US" dirty="0">
              <a:solidFill>
                <a:srgbClr val="00B0F0"/>
              </a:solidFill>
              <a:latin typeface="Comic Sans MS" panose="030F0702030302020204" pitchFamily="66" charset="0"/>
            </a:endParaRPr>
          </a:p>
          <a:p>
            <a:r>
              <a:rPr lang="en-US" b="1" dirty="0">
                <a:solidFill>
                  <a:srgbClr val="00B0F0"/>
                </a:solidFill>
                <a:latin typeface="Comic Sans MS" panose="030F0702030302020204" pitchFamily="66" charset="0"/>
              </a:rPr>
              <a:t>South America &amp; Oceania</a:t>
            </a:r>
            <a:r>
              <a:rPr lang="en-US" dirty="0">
                <a:solidFill>
                  <a:srgbClr val="00B0F0"/>
                </a:solidFill>
                <a:latin typeface="Comic Sans MS" panose="030F0702030302020204" pitchFamily="66" charset="0"/>
              </a:rPr>
              <a:t>: Moderate to high spending, good outcomes.</a:t>
            </a:r>
          </a:p>
          <a:p>
            <a:endParaRPr lang="en-US" dirty="0">
              <a:solidFill>
                <a:srgbClr val="00B0F0"/>
              </a:solidFill>
              <a:latin typeface="Comic Sans MS" panose="030F0702030302020204" pitchFamily="66" charset="0"/>
            </a:endParaRPr>
          </a:p>
          <a:p>
            <a:r>
              <a:rPr lang="en-US" b="1" dirty="0">
                <a:solidFill>
                  <a:srgbClr val="FFFF00"/>
                </a:solidFill>
                <a:latin typeface="Comic Sans MS" panose="030F0702030302020204" pitchFamily="66" charset="0"/>
              </a:rPr>
              <a:t>Overall</a:t>
            </a:r>
            <a:r>
              <a:rPr lang="en-US" dirty="0">
                <a:solidFill>
                  <a:srgbClr val="FFFF00"/>
                </a:solidFill>
                <a:latin typeface="Comic Sans MS" panose="030F0702030302020204" pitchFamily="66" charset="0"/>
              </a:rPr>
              <a:t>, more spending usually means longer life—but how money is used also matters. Some countries spend more but still struggle, especially in Africa.</a:t>
            </a:r>
          </a:p>
          <a:p>
            <a:endParaRPr lang="en-IN" dirty="0"/>
          </a:p>
        </p:txBody>
      </p:sp>
    </p:spTree>
    <p:extLst>
      <p:ext uri="{BB962C8B-B14F-4D97-AF65-F5344CB8AC3E}">
        <p14:creationId xmlns:p14="http://schemas.microsoft.com/office/powerpoint/2010/main" val="812822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78B4D-83B5-17A1-6FEA-9DA9AF4D9C17}"/>
              </a:ext>
            </a:extLst>
          </p:cNvPr>
          <p:cNvSpPr>
            <a:spLocks noGrp="1"/>
          </p:cNvSpPr>
          <p:nvPr>
            <p:ph type="title"/>
          </p:nvPr>
        </p:nvSpPr>
        <p:spPr>
          <a:xfrm>
            <a:off x="283029" y="217715"/>
            <a:ext cx="11070771" cy="468085"/>
          </a:xfrm>
        </p:spPr>
        <p:txBody>
          <a:bodyPr>
            <a:normAutofit fontScale="90000"/>
          </a:bodyPr>
          <a:lstStyle/>
          <a:p>
            <a:r>
              <a:rPr lang="en-US" b="1" dirty="0">
                <a:latin typeface="+mn-lt"/>
              </a:rPr>
              <a:t>Key Insights</a:t>
            </a:r>
            <a:endParaRPr lang="en-IN" b="1" dirty="0">
              <a:latin typeface="+mn-lt"/>
            </a:endParaRPr>
          </a:p>
        </p:txBody>
      </p:sp>
      <p:graphicFrame>
        <p:nvGraphicFramePr>
          <p:cNvPr id="4" name="Content Placeholder 3">
            <a:extLst>
              <a:ext uri="{FF2B5EF4-FFF2-40B4-BE49-F238E27FC236}">
                <a16:creationId xmlns:a16="http://schemas.microsoft.com/office/drawing/2014/main" id="{D68ABD6D-781B-D9AB-3089-DE73C2BFD044}"/>
              </a:ext>
            </a:extLst>
          </p:cNvPr>
          <p:cNvGraphicFramePr>
            <a:graphicFrameLocks noGrp="1"/>
          </p:cNvGraphicFramePr>
          <p:nvPr>
            <p:ph idx="1"/>
            <p:extLst>
              <p:ext uri="{D42A27DB-BD31-4B8C-83A1-F6EECF244321}">
                <p14:modId xmlns:p14="http://schemas.microsoft.com/office/powerpoint/2010/main" val="1633622943"/>
              </p:ext>
            </p:extLst>
          </p:nvPr>
        </p:nvGraphicFramePr>
        <p:xfrm>
          <a:off x="283029" y="925287"/>
          <a:ext cx="11702142" cy="5812969"/>
        </p:xfrm>
        <a:graphic>
          <a:graphicData uri="http://schemas.openxmlformats.org/drawingml/2006/table">
            <a:tbl>
              <a:tblPr>
                <a:tableStyleId>{616DA210-FB5B-4158-B5E0-FEB733F419BA}</a:tableStyleId>
              </a:tblPr>
              <a:tblGrid>
                <a:gridCol w="5851071">
                  <a:extLst>
                    <a:ext uri="{9D8B030D-6E8A-4147-A177-3AD203B41FA5}">
                      <a16:colId xmlns:a16="http://schemas.microsoft.com/office/drawing/2014/main" val="3602924248"/>
                    </a:ext>
                  </a:extLst>
                </a:gridCol>
                <a:gridCol w="5851071">
                  <a:extLst>
                    <a:ext uri="{9D8B030D-6E8A-4147-A177-3AD203B41FA5}">
                      <a16:colId xmlns:a16="http://schemas.microsoft.com/office/drawing/2014/main" val="348945931"/>
                    </a:ext>
                  </a:extLst>
                </a:gridCol>
              </a:tblGrid>
              <a:tr h="407928">
                <a:tc>
                  <a:txBody>
                    <a:bodyPr/>
                    <a:lstStyle/>
                    <a:p>
                      <a:r>
                        <a:rPr lang="en-IN" sz="1600" b="1">
                          <a:solidFill>
                            <a:srgbClr val="FFFF00"/>
                          </a:solidFill>
                          <a:latin typeface="Comic Sans MS" panose="030F0702030302020204" pitchFamily="66" charset="0"/>
                        </a:rPr>
                        <a:t>Insight</a:t>
                      </a:r>
                      <a:endParaRPr lang="en-IN" sz="1600">
                        <a:solidFill>
                          <a:srgbClr val="FFFF00"/>
                        </a:solidFill>
                        <a:latin typeface="Comic Sans MS" panose="030F0702030302020204" pitchFamily="66" charset="0"/>
                      </a:endParaRPr>
                    </a:p>
                  </a:txBody>
                  <a:tcPr marL="76339" marR="76339" marT="38170" marB="38170" anchor="ctr"/>
                </a:tc>
                <a:tc>
                  <a:txBody>
                    <a:bodyPr/>
                    <a:lstStyle/>
                    <a:p>
                      <a:r>
                        <a:rPr lang="en-IN" sz="1600" b="1">
                          <a:solidFill>
                            <a:srgbClr val="00FFFF"/>
                          </a:solidFill>
                          <a:latin typeface="Comic Sans MS" panose="030F0702030302020204" pitchFamily="66" charset="0"/>
                        </a:rPr>
                        <a:t>Description</a:t>
                      </a:r>
                      <a:endParaRPr lang="en-IN" sz="1600">
                        <a:solidFill>
                          <a:srgbClr val="00FFFF"/>
                        </a:solidFill>
                        <a:latin typeface="Comic Sans MS" panose="030F0702030302020204" pitchFamily="66" charset="0"/>
                      </a:endParaRPr>
                    </a:p>
                  </a:txBody>
                  <a:tcPr marL="76339" marR="76339" marT="38170" marB="38170" anchor="ctr"/>
                </a:tc>
                <a:extLst>
                  <a:ext uri="{0D108BD9-81ED-4DB2-BD59-A6C34878D82A}">
                    <a16:rowId xmlns:a16="http://schemas.microsoft.com/office/drawing/2014/main" val="2820892835"/>
                  </a:ext>
                </a:extLst>
              </a:tr>
              <a:tr h="713873">
                <a:tc>
                  <a:txBody>
                    <a:bodyPr/>
                    <a:lstStyle/>
                    <a:p>
                      <a:r>
                        <a:rPr lang="en-IN" sz="1600" b="1" dirty="0">
                          <a:solidFill>
                            <a:srgbClr val="FFFF00"/>
                          </a:solidFill>
                          <a:latin typeface="Comic Sans MS" panose="030F0702030302020204" pitchFamily="66" charset="0"/>
                        </a:rPr>
                        <a:t>Highest Avg. Total Expenditure</a:t>
                      </a:r>
                      <a:endParaRPr lang="en-IN" sz="1600" dirty="0">
                        <a:solidFill>
                          <a:srgbClr val="FFFF00"/>
                        </a:solidFill>
                        <a:latin typeface="Comic Sans MS" panose="030F0702030302020204" pitchFamily="66" charset="0"/>
                      </a:endParaRPr>
                    </a:p>
                  </a:txBody>
                  <a:tcPr marL="76339" marR="76339" marT="38170" marB="38170" anchor="ctr"/>
                </a:tc>
                <a:tc>
                  <a:txBody>
                    <a:bodyPr/>
                    <a:lstStyle/>
                    <a:p>
                      <a:r>
                        <a:rPr lang="en-US" sz="1600" b="1">
                          <a:solidFill>
                            <a:srgbClr val="00FFFF"/>
                          </a:solidFill>
                          <a:latin typeface="Comic Sans MS" panose="030F0702030302020204" pitchFamily="66" charset="0"/>
                        </a:rPr>
                        <a:t>Europe</a:t>
                      </a:r>
                      <a:r>
                        <a:rPr lang="en-US" sz="1600">
                          <a:solidFill>
                            <a:srgbClr val="00FFFF"/>
                          </a:solidFill>
                          <a:latin typeface="Comic Sans MS" panose="030F0702030302020204" pitchFamily="66" charset="0"/>
                        </a:rPr>
                        <a:t> has the highest average total expenditure (</a:t>
                      </a:r>
                      <a:r>
                        <a:rPr lang="en-US" sz="1600" b="1">
                          <a:solidFill>
                            <a:srgbClr val="00FFFF"/>
                          </a:solidFill>
                          <a:latin typeface="Comic Sans MS" panose="030F0702030302020204" pitchFamily="66" charset="0"/>
                        </a:rPr>
                        <a:t>7.2%</a:t>
                      </a:r>
                      <a:r>
                        <a:rPr lang="en-US" sz="1600">
                          <a:solidFill>
                            <a:srgbClr val="00FFFF"/>
                          </a:solidFill>
                          <a:latin typeface="Comic Sans MS" panose="030F0702030302020204" pitchFamily="66" charset="0"/>
                        </a:rPr>
                        <a:t> of GDP).</a:t>
                      </a:r>
                    </a:p>
                  </a:txBody>
                  <a:tcPr marL="76339" marR="76339" marT="38170" marB="38170" anchor="ctr"/>
                </a:tc>
                <a:extLst>
                  <a:ext uri="{0D108BD9-81ED-4DB2-BD59-A6C34878D82A}">
                    <a16:rowId xmlns:a16="http://schemas.microsoft.com/office/drawing/2014/main" val="2016004653"/>
                  </a:ext>
                </a:extLst>
              </a:tr>
              <a:tr h="713873">
                <a:tc>
                  <a:txBody>
                    <a:bodyPr/>
                    <a:lstStyle/>
                    <a:p>
                      <a:r>
                        <a:rPr lang="en-IN" sz="1600" b="1">
                          <a:solidFill>
                            <a:srgbClr val="FFFF00"/>
                          </a:solidFill>
                          <a:latin typeface="Comic Sans MS" panose="030F0702030302020204" pitchFamily="66" charset="0"/>
                        </a:rPr>
                        <a:t>Lowest Avg. Total Expenditure</a:t>
                      </a:r>
                      <a:endParaRPr lang="en-IN" sz="1600">
                        <a:solidFill>
                          <a:srgbClr val="FFFF00"/>
                        </a:solidFill>
                        <a:latin typeface="Comic Sans MS" panose="030F0702030302020204" pitchFamily="66" charset="0"/>
                      </a:endParaRPr>
                    </a:p>
                  </a:txBody>
                  <a:tcPr marL="76339" marR="76339" marT="38170" marB="38170" anchor="ctr"/>
                </a:tc>
                <a:tc>
                  <a:txBody>
                    <a:bodyPr/>
                    <a:lstStyle/>
                    <a:p>
                      <a:r>
                        <a:rPr lang="en-US" sz="1600" b="1">
                          <a:solidFill>
                            <a:srgbClr val="00FFFF"/>
                          </a:solidFill>
                          <a:latin typeface="Comic Sans MS" panose="030F0702030302020204" pitchFamily="66" charset="0"/>
                        </a:rPr>
                        <a:t>Asia</a:t>
                      </a:r>
                      <a:r>
                        <a:rPr lang="en-US" sz="1600">
                          <a:solidFill>
                            <a:srgbClr val="00FFFF"/>
                          </a:solidFill>
                          <a:latin typeface="Comic Sans MS" panose="030F0702030302020204" pitchFamily="66" charset="0"/>
                        </a:rPr>
                        <a:t> has the lowest average total expenditure (</a:t>
                      </a:r>
                      <a:r>
                        <a:rPr lang="en-US" sz="1600" b="1">
                          <a:solidFill>
                            <a:srgbClr val="00FFFF"/>
                          </a:solidFill>
                          <a:latin typeface="Comic Sans MS" panose="030F0702030302020204" pitchFamily="66" charset="0"/>
                        </a:rPr>
                        <a:t>4.78%</a:t>
                      </a:r>
                      <a:r>
                        <a:rPr lang="en-US" sz="1600">
                          <a:solidFill>
                            <a:srgbClr val="00FFFF"/>
                          </a:solidFill>
                          <a:latin typeface="Comic Sans MS" panose="030F0702030302020204" pitchFamily="66" charset="0"/>
                        </a:rPr>
                        <a:t> of GDP).</a:t>
                      </a:r>
                    </a:p>
                  </a:txBody>
                  <a:tcPr marL="76339" marR="76339" marT="38170" marB="38170" anchor="ctr"/>
                </a:tc>
                <a:extLst>
                  <a:ext uri="{0D108BD9-81ED-4DB2-BD59-A6C34878D82A}">
                    <a16:rowId xmlns:a16="http://schemas.microsoft.com/office/drawing/2014/main" val="1957771450"/>
                  </a:ext>
                </a:extLst>
              </a:tr>
              <a:tr h="1019820">
                <a:tc>
                  <a:txBody>
                    <a:bodyPr/>
                    <a:lstStyle/>
                    <a:p>
                      <a:r>
                        <a:rPr lang="en-IN" sz="1600" b="1" dirty="0">
                          <a:solidFill>
                            <a:srgbClr val="FFFF00"/>
                          </a:solidFill>
                          <a:latin typeface="Comic Sans MS" panose="030F0702030302020204" pitchFamily="66" charset="0"/>
                        </a:rPr>
                        <a:t>Highest Total Expenditure (Cumulative)</a:t>
                      </a:r>
                      <a:endParaRPr lang="en-IN" sz="1600" dirty="0">
                        <a:solidFill>
                          <a:srgbClr val="FFFF00"/>
                        </a:solidFill>
                        <a:latin typeface="Comic Sans MS" panose="030F0702030302020204" pitchFamily="66" charset="0"/>
                      </a:endParaRPr>
                    </a:p>
                  </a:txBody>
                  <a:tcPr marL="76339" marR="76339" marT="38170" marB="38170" anchor="ctr"/>
                </a:tc>
                <a:tc>
                  <a:txBody>
                    <a:bodyPr/>
                    <a:lstStyle/>
                    <a:p>
                      <a:r>
                        <a:rPr lang="en-US" sz="1600" b="1">
                          <a:solidFill>
                            <a:srgbClr val="00FFFF"/>
                          </a:solidFill>
                          <a:latin typeface="Comic Sans MS" panose="030F0702030302020204" pitchFamily="66" charset="0"/>
                        </a:rPr>
                        <a:t>Africa</a:t>
                      </a:r>
                      <a:r>
                        <a:rPr lang="en-US" sz="1600">
                          <a:solidFill>
                            <a:srgbClr val="00FFFF"/>
                          </a:solidFill>
                          <a:latin typeface="Comic Sans MS" panose="030F0702030302020204" pitchFamily="66" charset="0"/>
                        </a:rPr>
                        <a:t> spent the most overall on health over the years, followed by </a:t>
                      </a:r>
                      <a:r>
                        <a:rPr lang="en-US" sz="1600" b="1">
                          <a:solidFill>
                            <a:srgbClr val="00FFFF"/>
                          </a:solidFill>
                          <a:latin typeface="Comic Sans MS" panose="030F0702030302020204" pitchFamily="66" charset="0"/>
                        </a:rPr>
                        <a:t>Europe</a:t>
                      </a:r>
                      <a:r>
                        <a:rPr lang="en-US" sz="1600">
                          <a:solidFill>
                            <a:srgbClr val="00FFFF"/>
                          </a:solidFill>
                          <a:latin typeface="Comic Sans MS" panose="030F0702030302020204" pitchFamily="66" charset="0"/>
                        </a:rPr>
                        <a:t>, </a:t>
                      </a:r>
                      <a:r>
                        <a:rPr lang="en-US" sz="1600" b="1">
                          <a:solidFill>
                            <a:srgbClr val="00FFFF"/>
                          </a:solidFill>
                          <a:latin typeface="Comic Sans MS" panose="030F0702030302020204" pitchFamily="66" charset="0"/>
                        </a:rPr>
                        <a:t>Asia</a:t>
                      </a:r>
                      <a:r>
                        <a:rPr lang="en-US" sz="1600">
                          <a:solidFill>
                            <a:srgbClr val="00FFFF"/>
                          </a:solidFill>
                          <a:latin typeface="Comic Sans MS" panose="030F0702030302020204" pitchFamily="66" charset="0"/>
                        </a:rPr>
                        <a:t>, </a:t>
                      </a:r>
                      <a:r>
                        <a:rPr lang="en-US" sz="1600" b="1">
                          <a:solidFill>
                            <a:srgbClr val="00FFFF"/>
                          </a:solidFill>
                          <a:latin typeface="Comic Sans MS" panose="030F0702030302020204" pitchFamily="66" charset="0"/>
                        </a:rPr>
                        <a:t>North America</a:t>
                      </a:r>
                      <a:r>
                        <a:rPr lang="en-US" sz="1600">
                          <a:solidFill>
                            <a:srgbClr val="00FFFF"/>
                          </a:solidFill>
                          <a:latin typeface="Comic Sans MS" panose="030F0702030302020204" pitchFamily="66" charset="0"/>
                        </a:rPr>
                        <a:t>, </a:t>
                      </a:r>
                      <a:r>
                        <a:rPr lang="en-US" sz="1600" b="1">
                          <a:solidFill>
                            <a:srgbClr val="00FFFF"/>
                          </a:solidFill>
                          <a:latin typeface="Comic Sans MS" panose="030F0702030302020204" pitchFamily="66" charset="0"/>
                        </a:rPr>
                        <a:t>South America</a:t>
                      </a:r>
                      <a:r>
                        <a:rPr lang="en-US" sz="1600">
                          <a:solidFill>
                            <a:srgbClr val="00FFFF"/>
                          </a:solidFill>
                          <a:latin typeface="Comic Sans MS" panose="030F0702030302020204" pitchFamily="66" charset="0"/>
                        </a:rPr>
                        <a:t>, and </a:t>
                      </a:r>
                      <a:r>
                        <a:rPr lang="en-US" sz="1600" b="1">
                          <a:solidFill>
                            <a:srgbClr val="00FFFF"/>
                          </a:solidFill>
                          <a:latin typeface="Comic Sans MS" panose="030F0702030302020204" pitchFamily="66" charset="0"/>
                        </a:rPr>
                        <a:t>Oceania</a:t>
                      </a:r>
                      <a:r>
                        <a:rPr lang="en-US" sz="1600">
                          <a:solidFill>
                            <a:srgbClr val="00FFFF"/>
                          </a:solidFill>
                          <a:latin typeface="Comic Sans MS" panose="030F0702030302020204" pitchFamily="66" charset="0"/>
                        </a:rPr>
                        <a:t>.</a:t>
                      </a:r>
                    </a:p>
                  </a:txBody>
                  <a:tcPr marL="76339" marR="76339" marT="38170" marB="38170" anchor="ctr"/>
                </a:tc>
                <a:extLst>
                  <a:ext uri="{0D108BD9-81ED-4DB2-BD59-A6C34878D82A}">
                    <a16:rowId xmlns:a16="http://schemas.microsoft.com/office/drawing/2014/main" val="2785310953"/>
                  </a:ext>
                </a:extLst>
              </a:tr>
              <a:tr h="713873">
                <a:tc>
                  <a:txBody>
                    <a:bodyPr/>
                    <a:lstStyle/>
                    <a:p>
                      <a:r>
                        <a:rPr lang="en-US" sz="1600" b="1">
                          <a:solidFill>
                            <a:srgbClr val="FFFF00"/>
                          </a:solidFill>
                          <a:latin typeface="Comic Sans MS" panose="030F0702030302020204" pitchFamily="66" charset="0"/>
                        </a:rPr>
                        <a:t>Top Countries by Total Expenditure (All Years)</a:t>
                      </a:r>
                      <a:endParaRPr lang="en-US" sz="1600">
                        <a:solidFill>
                          <a:srgbClr val="FFFF00"/>
                        </a:solidFill>
                        <a:latin typeface="Comic Sans MS" panose="030F0702030302020204" pitchFamily="66" charset="0"/>
                      </a:endParaRPr>
                    </a:p>
                  </a:txBody>
                  <a:tcPr marL="76339" marR="76339" marT="38170" marB="38170" anchor="ctr"/>
                </a:tc>
                <a:tc>
                  <a:txBody>
                    <a:bodyPr/>
                    <a:lstStyle/>
                    <a:p>
                      <a:r>
                        <a:rPr lang="en-US" sz="1600" b="1">
                          <a:solidFill>
                            <a:srgbClr val="00FFFF"/>
                          </a:solidFill>
                          <a:latin typeface="Comic Sans MS" panose="030F0702030302020204" pitchFamily="66" charset="0"/>
                        </a:rPr>
                        <a:t>USA</a:t>
                      </a:r>
                      <a:r>
                        <a:rPr lang="en-US" sz="1600">
                          <a:solidFill>
                            <a:srgbClr val="00FFFF"/>
                          </a:solidFill>
                          <a:latin typeface="Comic Sans MS" panose="030F0702030302020204" pitchFamily="66" charset="0"/>
                        </a:rPr>
                        <a:t> ranks first (</a:t>
                      </a:r>
                      <a:r>
                        <a:rPr lang="en-US" sz="1600" b="1">
                          <a:solidFill>
                            <a:srgbClr val="00FFFF"/>
                          </a:solidFill>
                          <a:latin typeface="Comic Sans MS" panose="030F0702030302020204" pitchFamily="66" charset="0"/>
                        </a:rPr>
                        <a:t>255.09</a:t>
                      </a:r>
                      <a:r>
                        <a:rPr lang="en-US" sz="1600">
                          <a:solidFill>
                            <a:srgbClr val="00FFFF"/>
                          </a:solidFill>
                          <a:latin typeface="Comic Sans MS" panose="030F0702030302020204" pitchFamily="66" charset="0"/>
                        </a:rPr>
                        <a:t> total), followed by </a:t>
                      </a:r>
                      <a:r>
                        <a:rPr lang="en-US" sz="1600" b="1">
                          <a:solidFill>
                            <a:srgbClr val="00FFFF"/>
                          </a:solidFill>
                          <a:latin typeface="Comic Sans MS" panose="030F0702030302020204" pitchFamily="66" charset="0"/>
                        </a:rPr>
                        <a:t>Micronesia</a:t>
                      </a:r>
                      <a:r>
                        <a:rPr lang="en-US" sz="1600">
                          <a:solidFill>
                            <a:srgbClr val="00FFFF"/>
                          </a:solidFill>
                          <a:latin typeface="Comic Sans MS" panose="030F0702030302020204" pitchFamily="66" charset="0"/>
                        </a:rPr>
                        <a:t>, </a:t>
                      </a:r>
                      <a:r>
                        <a:rPr lang="en-US" sz="1600" b="1">
                          <a:solidFill>
                            <a:srgbClr val="00FFFF"/>
                          </a:solidFill>
                          <a:latin typeface="Comic Sans MS" panose="030F0702030302020204" pitchFamily="66" charset="0"/>
                        </a:rPr>
                        <a:t>Sweden</a:t>
                      </a:r>
                      <a:r>
                        <a:rPr lang="en-US" sz="1600">
                          <a:solidFill>
                            <a:srgbClr val="00FFFF"/>
                          </a:solidFill>
                          <a:latin typeface="Comic Sans MS" panose="030F0702030302020204" pitchFamily="66" charset="0"/>
                        </a:rPr>
                        <a:t>, </a:t>
                      </a:r>
                      <a:r>
                        <a:rPr lang="en-US" sz="1600" b="1">
                          <a:solidFill>
                            <a:srgbClr val="00FFFF"/>
                          </a:solidFill>
                          <a:latin typeface="Comic Sans MS" panose="030F0702030302020204" pitchFamily="66" charset="0"/>
                        </a:rPr>
                        <a:t>Sierra Leone</a:t>
                      </a:r>
                      <a:r>
                        <a:rPr lang="en-US" sz="1600">
                          <a:solidFill>
                            <a:srgbClr val="00FFFF"/>
                          </a:solidFill>
                          <a:latin typeface="Comic Sans MS" panose="030F0702030302020204" pitchFamily="66" charset="0"/>
                        </a:rPr>
                        <a:t>, and </a:t>
                      </a:r>
                      <a:r>
                        <a:rPr lang="en-US" sz="1600" b="1">
                          <a:solidFill>
                            <a:srgbClr val="00FFFF"/>
                          </a:solidFill>
                          <a:latin typeface="Comic Sans MS" panose="030F0702030302020204" pitchFamily="66" charset="0"/>
                        </a:rPr>
                        <a:t>Norway</a:t>
                      </a:r>
                      <a:r>
                        <a:rPr lang="en-US" sz="1600">
                          <a:solidFill>
                            <a:srgbClr val="00FFFF"/>
                          </a:solidFill>
                          <a:latin typeface="Comic Sans MS" panose="030F0702030302020204" pitchFamily="66" charset="0"/>
                        </a:rPr>
                        <a:t>.</a:t>
                      </a:r>
                    </a:p>
                  </a:txBody>
                  <a:tcPr marL="76339" marR="76339" marT="38170" marB="38170" anchor="ctr"/>
                </a:tc>
                <a:extLst>
                  <a:ext uri="{0D108BD9-81ED-4DB2-BD59-A6C34878D82A}">
                    <a16:rowId xmlns:a16="http://schemas.microsoft.com/office/drawing/2014/main" val="894942782"/>
                  </a:ext>
                </a:extLst>
              </a:tr>
              <a:tr h="713873">
                <a:tc>
                  <a:txBody>
                    <a:bodyPr/>
                    <a:lstStyle/>
                    <a:p>
                      <a:r>
                        <a:rPr lang="en-IN" sz="1600" b="1">
                          <a:solidFill>
                            <a:srgbClr val="FFFF00"/>
                          </a:solidFill>
                          <a:latin typeface="Comic Sans MS" panose="030F0702030302020204" pitchFamily="66" charset="0"/>
                        </a:rPr>
                        <a:t>Year 2011 Highest</a:t>
                      </a:r>
                      <a:endParaRPr lang="en-IN" sz="1600">
                        <a:solidFill>
                          <a:srgbClr val="FFFF00"/>
                        </a:solidFill>
                        <a:latin typeface="Comic Sans MS" panose="030F0702030302020204" pitchFamily="66" charset="0"/>
                      </a:endParaRPr>
                    </a:p>
                  </a:txBody>
                  <a:tcPr marL="76339" marR="76339" marT="38170" marB="38170" anchor="ctr"/>
                </a:tc>
                <a:tc>
                  <a:txBody>
                    <a:bodyPr/>
                    <a:lstStyle/>
                    <a:p>
                      <a:r>
                        <a:rPr lang="en-US" sz="1600" b="1">
                          <a:solidFill>
                            <a:srgbClr val="00FFFF"/>
                          </a:solidFill>
                          <a:latin typeface="Comic Sans MS" panose="030F0702030302020204" pitchFamily="66" charset="0"/>
                        </a:rPr>
                        <a:t>USA</a:t>
                      </a:r>
                      <a:r>
                        <a:rPr lang="en-US" sz="1600">
                          <a:solidFill>
                            <a:srgbClr val="00FFFF"/>
                          </a:solidFill>
                          <a:latin typeface="Comic Sans MS" panose="030F0702030302020204" pitchFamily="66" charset="0"/>
                        </a:rPr>
                        <a:t> had the highest spending in </a:t>
                      </a:r>
                      <a:r>
                        <a:rPr lang="en-US" sz="1600" b="1">
                          <a:solidFill>
                            <a:srgbClr val="00FFFF"/>
                          </a:solidFill>
                          <a:latin typeface="Comic Sans MS" panose="030F0702030302020204" pitchFamily="66" charset="0"/>
                        </a:rPr>
                        <a:t>2011</a:t>
                      </a:r>
                      <a:r>
                        <a:rPr lang="en-US" sz="1600">
                          <a:solidFill>
                            <a:srgbClr val="00FFFF"/>
                          </a:solidFill>
                          <a:latin typeface="Comic Sans MS" panose="030F0702030302020204" pitchFamily="66" charset="0"/>
                        </a:rPr>
                        <a:t> at </a:t>
                      </a:r>
                      <a:r>
                        <a:rPr lang="en-US" sz="1600" b="1">
                          <a:solidFill>
                            <a:srgbClr val="00FFFF"/>
                          </a:solidFill>
                          <a:latin typeface="Comic Sans MS" panose="030F0702030302020204" pitchFamily="66" charset="0"/>
                        </a:rPr>
                        <a:t>17.60%</a:t>
                      </a:r>
                      <a:r>
                        <a:rPr lang="en-US" sz="1600">
                          <a:solidFill>
                            <a:srgbClr val="00FFFF"/>
                          </a:solidFill>
                          <a:latin typeface="Comic Sans MS" panose="030F0702030302020204" pitchFamily="66" charset="0"/>
                        </a:rPr>
                        <a:t> of GDP.</a:t>
                      </a:r>
                    </a:p>
                  </a:txBody>
                  <a:tcPr marL="76339" marR="76339" marT="38170" marB="38170" anchor="ctr"/>
                </a:tc>
                <a:extLst>
                  <a:ext uri="{0D108BD9-81ED-4DB2-BD59-A6C34878D82A}">
                    <a16:rowId xmlns:a16="http://schemas.microsoft.com/office/drawing/2014/main" val="2406268089"/>
                  </a:ext>
                </a:extLst>
              </a:tr>
              <a:tr h="713873">
                <a:tc>
                  <a:txBody>
                    <a:bodyPr/>
                    <a:lstStyle/>
                    <a:p>
                      <a:r>
                        <a:rPr lang="en-IN" sz="1600" b="1" dirty="0">
                          <a:solidFill>
                            <a:srgbClr val="FFFF00"/>
                          </a:solidFill>
                          <a:latin typeface="Comic Sans MS" panose="030F0702030302020204" pitchFamily="66" charset="0"/>
                        </a:rPr>
                        <a:t>Year 2007 Lowest</a:t>
                      </a:r>
                      <a:endParaRPr lang="en-IN" sz="1600" dirty="0">
                        <a:solidFill>
                          <a:srgbClr val="FFFF00"/>
                        </a:solidFill>
                        <a:latin typeface="Comic Sans MS" panose="030F0702030302020204" pitchFamily="66" charset="0"/>
                      </a:endParaRPr>
                    </a:p>
                  </a:txBody>
                  <a:tcPr marL="76339" marR="76339" marT="38170" marB="38170" anchor="ctr"/>
                </a:tc>
                <a:tc>
                  <a:txBody>
                    <a:bodyPr/>
                    <a:lstStyle/>
                    <a:p>
                      <a:r>
                        <a:rPr lang="en-US" sz="1600" b="1">
                          <a:solidFill>
                            <a:srgbClr val="00FFFF"/>
                          </a:solidFill>
                          <a:latin typeface="Comic Sans MS" panose="030F0702030302020204" pitchFamily="66" charset="0"/>
                        </a:rPr>
                        <a:t>Timor-Leste</a:t>
                      </a:r>
                      <a:r>
                        <a:rPr lang="en-US" sz="1600">
                          <a:solidFill>
                            <a:srgbClr val="00FFFF"/>
                          </a:solidFill>
                          <a:latin typeface="Comic Sans MS" panose="030F0702030302020204" pitchFamily="66" charset="0"/>
                        </a:rPr>
                        <a:t> had the lowest spending in </a:t>
                      </a:r>
                      <a:r>
                        <a:rPr lang="en-US" sz="1600" b="1">
                          <a:solidFill>
                            <a:srgbClr val="00FFFF"/>
                          </a:solidFill>
                          <a:latin typeface="Comic Sans MS" panose="030F0702030302020204" pitchFamily="66" charset="0"/>
                        </a:rPr>
                        <a:t>2007</a:t>
                      </a:r>
                      <a:r>
                        <a:rPr lang="en-US" sz="1600">
                          <a:solidFill>
                            <a:srgbClr val="00FFFF"/>
                          </a:solidFill>
                          <a:latin typeface="Comic Sans MS" panose="030F0702030302020204" pitchFamily="66" charset="0"/>
                        </a:rPr>
                        <a:t> at just </a:t>
                      </a:r>
                      <a:r>
                        <a:rPr lang="en-US" sz="1600" b="1">
                          <a:solidFill>
                            <a:srgbClr val="00FFFF"/>
                          </a:solidFill>
                          <a:latin typeface="Comic Sans MS" panose="030F0702030302020204" pitchFamily="66" charset="0"/>
                        </a:rPr>
                        <a:t>0.37%</a:t>
                      </a:r>
                      <a:r>
                        <a:rPr lang="en-US" sz="1600">
                          <a:solidFill>
                            <a:srgbClr val="00FFFF"/>
                          </a:solidFill>
                          <a:latin typeface="Comic Sans MS" panose="030F0702030302020204" pitchFamily="66" charset="0"/>
                        </a:rPr>
                        <a:t> of GDP.</a:t>
                      </a:r>
                    </a:p>
                  </a:txBody>
                  <a:tcPr marL="76339" marR="76339" marT="38170" marB="38170" anchor="ctr"/>
                </a:tc>
                <a:extLst>
                  <a:ext uri="{0D108BD9-81ED-4DB2-BD59-A6C34878D82A}">
                    <a16:rowId xmlns:a16="http://schemas.microsoft.com/office/drawing/2014/main" val="3285267602"/>
                  </a:ext>
                </a:extLst>
              </a:tr>
              <a:tr h="407928">
                <a:tc>
                  <a:txBody>
                    <a:bodyPr/>
                    <a:lstStyle/>
                    <a:p>
                      <a:r>
                        <a:rPr lang="en-IN" sz="1600" b="1">
                          <a:solidFill>
                            <a:srgbClr val="FFFF00"/>
                          </a:solidFill>
                          <a:latin typeface="Comic Sans MS" panose="030F0702030302020204" pitchFamily="66" charset="0"/>
                        </a:rPr>
                        <a:t>Year 2015 Highest</a:t>
                      </a:r>
                      <a:endParaRPr lang="en-IN" sz="1600">
                        <a:solidFill>
                          <a:srgbClr val="FFFF00"/>
                        </a:solidFill>
                        <a:latin typeface="Comic Sans MS" panose="030F0702030302020204" pitchFamily="66" charset="0"/>
                      </a:endParaRPr>
                    </a:p>
                  </a:txBody>
                  <a:tcPr marL="76339" marR="76339" marT="38170" marB="38170" anchor="ctr"/>
                </a:tc>
                <a:tc>
                  <a:txBody>
                    <a:bodyPr/>
                    <a:lstStyle/>
                    <a:p>
                      <a:r>
                        <a:rPr lang="en-US" sz="1600" b="1">
                          <a:solidFill>
                            <a:srgbClr val="00FFFF"/>
                          </a:solidFill>
                          <a:latin typeface="Comic Sans MS" panose="030F0702030302020204" pitchFamily="66" charset="0"/>
                        </a:rPr>
                        <a:t>USA</a:t>
                      </a:r>
                      <a:r>
                        <a:rPr lang="en-US" sz="1600">
                          <a:solidFill>
                            <a:srgbClr val="00FFFF"/>
                          </a:solidFill>
                          <a:latin typeface="Comic Sans MS" panose="030F0702030302020204" pitchFamily="66" charset="0"/>
                        </a:rPr>
                        <a:t> again led in </a:t>
                      </a:r>
                      <a:r>
                        <a:rPr lang="en-US" sz="1600" b="1">
                          <a:solidFill>
                            <a:srgbClr val="00FFFF"/>
                          </a:solidFill>
                          <a:latin typeface="Comic Sans MS" panose="030F0702030302020204" pitchFamily="66" charset="0"/>
                        </a:rPr>
                        <a:t>2015</a:t>
                      </a:r>
                      <a:r>
                        <a:rPr lang="en-US" sz="1600">
                          <a:solidFill>
                            <a:srgbClr val="00FFFF"/>
                          </a:solidFill>
                          <a:latin typeface="Comic Sans MS" panose="030F0702030302020204" pitchFamily="66" charset="0"/>
                        </a:rPr>
                        <a:t> with </a:t>
                      </a:r>
                      <a:r>
                        <a:rPr lang="en-US" sz="1600" b="1">
                          <a:solidFill>
                            <a:srgbClr val="00FFFF"/>
                          </a:solidFill>
                          <a:latin typeface="Comic Sans MS" panose="030F0702030302020204" pitchFamily="66" charset="0"/>
                        </a:rPr>
                        <a:t>17.14%</a:t>
                      </a:r>
                      <a:r>
                        <a:rPr lang="en-US" sz="1600">
                          <a:solidFill>
                            <a:srgbClr val="00FFFF"/>
                          </a:solidFill>
                          <a:latin typeface="Comic Sans MS" panose="030F0702030302020204" pitchFamily="66" charset="0"/>
                        </a:rPr>
                        <a:t>.</a:t>
                      </a:r>
                    </a:p>
                  </a:txBody>
                  <a:tcPr marL="76339" marR="76339" marT="38170" marB="38170" anchor="ctr"/>
                </a:tc>
                <a:extLst>
                  <a:ext uri="{0D108BD9-81ED-4DB2-BD59-A6C34878D82A}">
                    <a16:rowId xmlns:a16="http://schemas.microsoft.com/office/drawing/2014/main" val="334772298"/>
                  </a:ext>
                </a:extLst>
              </a:tr>
              <a:tr h="407928">
                <a:tc>
                  <a:txBody>
                    <a:bodyPr/>
                    <a:lstStyle/>
                    <a:p>
                      <a:r>
                        <a:rPr lang="en-IN" sz="1600" b="1" dirty="0">
                          <a:solidFill>
                            <a:srgbClr val="FFFF00"/>
                          </a:solidFill>
                          <a:latin typeface="Comic Sans MS" panose="030F0702030302020204" pitchFamily="66" charset="0"/>
                        </a:rPr>
                        <a:t>Year 2015 Lowest</a:t>
                      </a:r>
                      <a:endParaRPr lang="en-IN" sz="1600" dirty="0">
                        <a:solidFill>
                          <a:srgbClr val="FFFF00"/>
                        </a:solidFill>
                        <a:latin typeface="Comic Sans MS" panose="030F0702030302020204" pitchFamily="66" charset="0"/>
                      </a:endParaRPr>
                    </a:p>
                  </a:txBody>
                  <a:tcPr marL="76339" marR="76339" marT="38170" marB="38170" anchor="ctr"/>
                </a:tc>
                <a:tc>
                  <a:txBody>
                    <a:bodyPr/>
                    <a:lstStyle/>
                    <a:p>
                      <a:r>
                        <a:rPr lang="en-US" sz="1600" b="1" dirty="0">
                          <a:solidFill>
                            <a:srgbClr val="00FFFF"/>
                          </a:solidFill>
                          <a:latin typeface="Comic Sans MS" panose="030F0702030302020204" pitchFamily="66" charset="0"/>
                        </a:rPr>
                        <a:t>Kiribati</a:t>
                      </a:r>
                      <a:r>
                        <a:rPr lang="en-US" sz="1600" dirty="0">
                          <a:solidFill>
                            <a:srgbClr val="00FFFF"/>
                          </a:solidFill>
                          <a:latin typeface="Comic Sans MS" panose="030F0702030302020204" pitchFamily="66" charset="0"/>
                        </a:rPr>
                        <a:t> had the lowest in </a:t>
                      </a:r>
                      <a:r>
                        <a:rPr lang="en-US" sz="1600" b="1" dirty="0">
                          <a:solidFill>
                            <a:srgbClr val="00FFFF"/>
                          </a:solidFill>
                          <a:latin typeface="Comic Sans MS" panose="030F0702030302020204" pitchFamily="66" charset="0"/>
                        </a:rPr>
                        <a:t>2015</a:t>
                      </a:r>
                      <a:r>
                        <a:rPr lang="en-US" sz="1600" dirty="0">
                          <a:solidFill>
                            <a:srgbClr val="00FFFF"/>
                          </a:solidFill>
                          <a:latin typeface="Comic Sans MS" panose="030F0702030302020204" pitchFamily="66" charset="0"/>
                        </a:rPr>
                        <a:t> with only </a:t>
                      </a:r>
                      <a:r>
                        <a:rPr lang="en-US" sz="1600" b="1" dirty="0">
                          <a:solidFill>
                            <a:srgbClr val="00FFFF"/>
                          </a:solidFill>
                          <a:latin typeface="Comic Sans MS" panose="030F0702030302020204" pitchFamily="66" charset="0"/>
                        </a:rPr>
                        <a:t>1.21%</a:t>
                      </a:r>
                      <a:r>
                        <a:rPr lang="en-US" sz="1600" dirty="0">
                          <a:solidFill>
                            <a:srgbClr val="00FFFF"/>
                          </a:solidFill>
                          <a:latin typeface="Comic Sans MS" panose="030F0702030302020204" pitchFamily="66" charset="0"/>
                        </a:rPr>
                        <a:t>.</a:t>
                      </a:r>
                    </a:p>
                  </a:txBody>
                  <a:tcPr marL="76339" marR="76339" marT="38170" marB="38170" anchor="ctr"/>
                </a:tc>
                <a:extLst>
                  <a:ext uri="{0D108BD9-81ED-4DB2-BD59-A6C34878D82A}">
                    <a16:rowId xmlns:a16="http://schemas.microsoft.com/office/drawing/2014/main" val="2200295722"/>
                  </a:ext>
                </a:extLst>
              </a:tr>
            </a:tbl>
          </a:graphicData>
        </a:graphic>
      </p:graphicFrame>
    </p:spTree>
    <p:extLst>
      <p:ext uri="{BB962C8B-B14F-4D97-AF65-F5344CB8AC3E}">
        <p14:creationId xmlns:p14="http://schemas.microsoft.com/office/powerpoint/2010/main" val="4164770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53489-FBE4-C704-310F-9DE9A899F570}"/>
              </a:ext>
            </a:extLst>
          </p:cNvPr>
          <p:cNvSpPr>
            <a:spLocks noGrp="1"/>
          </p:cNvSpPr>
          <p:nvPr>
            <p:ph type="title"/>
          </p:nvPr>
        </p:nvSpPr>
        <p:spPr>
          <a:xfrm>
            <a:off x="195943" y="163286"/>
            <a:ext cx="11157857" cy="827314"/>
          </a:xfrm>
        </p:spPr>
        <p:txBody>
          <a:bodyPr>
            <a:normAutofit/>
          </a:bodyPr>
          <a:lstStyle/>
          <a:p>
            <a:r>
              <a:rPr lang="en-US" b="1" dirty="0">
                <a:latin typeface="+mn-lt"/>
              </a:rPr>
              <a:t>13.Diptheria</a:t>
            </a:r>
            <a:endParaRPr lang="en-IN" b="1" dirty="0">
              <a:latin typeface="+mn-lt"/>
            </a:endParaRPr>
          </a:p>
        </p:txBody>
      </p:sp>
      <p:pic>
        <p:nvPicPr>
          <p:cNvPr id="6" name="Content Placeholder 5">
            <a:extLst>
              <a:ext uri="{FF2B5EF4-FFF2-40B4-BE49-F238E27FC236}">
                <a16:creationId xmlns:a16="http://schemas.microsoft.com/office/drawing/2014/main" id="{C7ABA5F1-4346-DC91-6574-16B8B7D4AE6E}"/>
              </a:ext>
            </a:extLst>
          </p:cNvPr>
          <p:cNvPicPr>
            <a:picLocks noGrp="1" noChangeAspect="1"/>
          </p:cNvPicPr>
          <p:nvPr>
            <p:ph sz="half" idx="1"/>
          </p:nvPr>
        </p:nvPicPr>
        <p:blipFill>
          <a:blip r:embed="rId2"/>
          <a:stretch>
            <a:fillRect/>
          </a:stretch>
        </p:blipFill>
        <p:spPr>
          <a:xfrm>
            <a:off x="119745" y="1273629"/>
            <a:ext cx="6183084" cy="5421085"/>
          </a:xfrm>
        </p:spPr>
      </p:pic>
      <p:sp>
        <p:nvSpPr>
          <p:cNvPr id="4" name="Content Placeholder 3">
            <a:extLst>
              <a:ext uri="{FF2B5EF4-FFF2-40B4-BE49-F238E27FC236}">
                <a16:creationId xmlns:a16="http://schemas.microsoft.com/office/drawing/2014/main" id="{89629B51-1D5B-E0D4-B06F-E9F91DDEFE29}"/>
              </a:ext>
            </a:extLst>
          </p:cNvPr>
          <p:cNvSpPr>
            <a:spLocks noGrp="1"/>
          </p:cNvSpPr>
          <p:nvPr>
            <p:ph sz="half" idx="2"/>
          </p:nvPr>
        </p:nvSpPr>
        <p:spPr>
          <a:xfrm>
            <a:off x="6531429" y="0"/>
            <a:ext cx="5540827" cy="6596743"/>
          </a:xfrm>
        </p:spPr>
        <p:txBody>
          <a:bodyPr>
            <a:noAutofit/>
          </a:bodyPr>
          <a:lstStyle/>
          <a:p>
            <a:endParaRPr lang="en-US" sz="1600" dirty="0">
              <a:latin typeface="Comic Sans MS" panose="030F0702030302020204" pitchFamily="66" charset="0"/>
            </a:endParaRPr>
          </a:p>
          <a:p>
            <a:r>
              <a:rPr lang="en-US" sz="1600" dirty="0">
                <a:latin typeface="Comic Sans MS" panose="030F0702030302020204" pitchFamily="66" charset="0"/>
              </a:rPr>
              <a:t> </a:t>
            </a:r>
            <a:r>
              <a:rPr lang="en-US" sz="1800" dirty="0">
                <a:solidFill>
                  <a:srgbClr val="FFFF00"/>
                </a:solidFill>
                <a:latin typeface="Comic Sans MS" panose="030F0702030302020204" pitchFamily="66" charset="0"/>
              </a:rPr>
              <a:t>Percentage of 1-year-old children immunized against diphtheria in each country per year.</a:t>
            </a:r>
            <a:endParaRPr lang="en-IN" sz="1800" dirty="0">
              <a:solidFill>
                <a:srgbClr val="FFFF00"/>
              </a:solidFill>
              <a:latin typeface="Comic Sans MS" panose="030F0702030302020204" pitchFamily="66" charset="0"/>
            </a:endParaRPr>
          </a:p>
          <a:p>
            <a:endParaRPr lang="en-IN" sz="1600" dirty="0">
              <a:solidFill>
                <a:srgbClr val="FFFF00"/>
              </a:solidFill>
              <a:latin typeface="Comic Sans MS" panose="030F0702030302020204" pitchFamily="66" charset="0"/>
            </a:endParaRPr>
          </a:p>
          <a:p>
            <a:r>
              <a:rPr lang="en-US" sz="1600" dirty="0">
                <a:solidFill>
                  <a:srgbClr val="FFFF00"/>
                </a:solidFill>
                <a:latin typeface="Comic Sans MS" panose="030F0702030302020204" pitchFamily="66" charset="0"/>
              </a:rPr>
              <a:t>This scatter plot shows how </a:t>
            </a:r>
            <a:r>
              <a:rPr lang="en-US" sz="1600" b="1" dirty="0">
                <a:solidFill>
                  <a:srgbClr val="FFFF00"/>
                </a:solidFill>
                <a:latin typeface="Comic Sans MS" panose="030F0702030302020204" pitchFamily="66" charset="0"/>
              </a:rPr>
              <a:t>Diphtheria cases</a:t>
            </a:r>
            <a:r>
              <a:rPr lang="en-US" sz="1600" dirty="0">
                <a:solidFill>
                  <a:srgbClr val="FFFF00"/>
                </a:solidFill>
                <a:latin typeface="Comic Sans MS" panose="030F0702030302020204" pitchFamily="66" charset="0"/>
              </a:rPr>
              <a:t> relate to </a:t>
            </a:r>
            <a:r>
              <a:rPr lang="en-US" sz="1600" b="1" dirty="0">
                <a:solidFill>
                  <a:srgbClr val="FFFF00"/>
                </a:solidFill>
                <a:latin typeface="Comic Sans MS" panose="030F0702030302020204" pitchFamily="66" charset="0"/>
              </a:rPr>
              <a:t>Life Expectancy</a:t>
            </a:r>
            <a:r>
              <a:rPr lang="en-US" sz="1600" dirty="0">
                <a:solidFill>
                  <a:srgbClr val="FFFF00"/>
                </a:solidFill>
                <a:latin typeface="Comic Sans MS" panose="030F0702030302020204" pitchFamily="66" charset="0"/>
              </a:rPr>
              <a:t>, with differences across continents.</a:t>
            </a:r>
          </a:p>
          <a:p>
            <a:endParaRPr lang="en-US" sz="1600" dirty="0">
              <a:latin typeface="Comic Sans MS" panose="030F0702030302020204" pitchFamily="66" charset="0"/>
            </a:endParaRPr>
          </a:p>
          <a:p>
            <a:r>
              <a:rPr lang="en-US" sz="1600" b="1" dirty="0">
                <a:solidFill>
                  <a:srgbClr val="00FFFF"/>
                </a:solidFill>
                <a:latin typeface="Comic Sans MS" panose="030F0702030302020204" pitchFamily="66" charset="0"/>
              </a:rPr>
              <a:t>Europe</a:t>
            </a:r>
            <a:r>
              <a:rPr lang="en-US" sz="1600" dirty="0">
                <a:solidFill>
                  <a:srgbClr val="00FFFF"/>
                </a:solidFill>
                <a:latin typeface="Comic Sans MS" panose="030F0702030302020204" pitchFamily="66" charset="0"/>
              </a:rPr>
              <a:t> and </a:t>
            </a:r>
            <a:r>
              <a:rPr lang="en-US" sz="1600" b="1" dirty="0">
                <a:solidFill>
                  <a:srgbClr val="00FFFF"/>
                </a:solidFill>
                <a:latin typeface="Comic Sans MS" panose="030F0702030302020204" pitchFamily="66" charset="0"/>
              </a:rPr>
              <a:t>North America</a:t>
            </a:r>
            <a:r>
              <a:rPr lang="en-US" sz="1600" dirty="0">
                <a:solidFill>
                  <a:srgbClr val="00FFFF"/>
                </a:solidFill>
                <a:latin typeface="Comic Sans MS" panose="030F0702030302020204" pitchFamily="66" charset="0"/>
              </a:rPr>
              <a:t> have </a:t>
            </a:r>
            <a:r>
              <a:rPr lang="en-US" sz="1600" b="1" dirty="0">
                <a:solidFill>
                  <a:srgbClr val="00FFFF"/>
                </a:solidFill>
                <a:latin typeface="Comic Sans MS" panose="030F0702030302020204" pitchFamily="66" charset="0"/>
              </a:rPr>
              <a:t>low Diphtheria cases</a:t>
            </a:r>
            <a:r>
              <a:rPr lang="en-US" sz="1600" dirty="0">
                <a:solidFill>
                  <a:srgbClr val="00FFFF"/>
                </a:solidFill>
                <a:latin typeface="Comic Sans MS" panose="030F0702030302020204" pitchFamily="66" charset="0"/>
              </a:rPr>
              <a:t> and </a:t>
            </a:r>
            <a:r>
              <a:rPr lang="en-US" sz="1600" b="1" dirty="0">
                <a:solidFill>
                  <a:srgbClr val="00FFFF"/>
                </a:solidFill>
                <a:latin typeface="Comic Sans MS" panose="030F0702030302020204" pitchFamily="66" charset="0"/>
              </a:rPr>
              <a:t>high Life Expectancy</a:t>
            </a:r>
            <a:r>
              <a:rPr lang="en-US" sz="1600" dirty="0">
                <a:solidFill>
                  <a:srgbClr val="00FFFF"/>
                </a:solidFill>
                <a:latin typeface="Comic Sans MS" panose="030F0702030302020204" pitchFamily="66" charset="0"/>
              </a:rPr>
              <a:t> due to strong vaccination programs.</a:t>
            </a:r>
          </a:p>
          <a:p>
            <a:r>
              <a:rPr lang="en-US" sz="1600" b="1" dirty="0">
                <a:solidFill>
                  <a:srgbClr val="00FFFF"/>
                </a:solidFill>
                <a:latin typeface="Comic Sans MS" panose="030F0702030302020204" pitchFamily="66" charset="0"/>
              </a:rPr>
              <a:t>Africa</a:t>
            </a:r>
            <a:r>
              <a:rPr lang="en-US" sz="1600" dirty="0">
                <a:solidFill>
                  <a:srgbClr val="00FFFF"/>
                </a:solidFill>
                <a:latin typeface="Comic Sans MS" panose="030F0702030302020204" pitchFamily="66" charset="0"/>
              </a:rPr>
              <a:t> has </a:t>
            </a:r>
            <a:r>
              <a:rPr lang="en-US" sz="1600" b="1" dirty="0">
                <a:solidFill>
                  <a:srgbClr val="00FFFF"/>
                </a:solidFill>
                <a:latin typeface="Comic Sans MS" panose="030F0702030302020204" pitchFamily="66" charset="0"/>
              </a:rPr>
              <a:t>more Diphtheria</a:t>
            </a:r>
            <a:r>
              <a:rPr lang="en-US" sz="1600" dirty="0">
                <a:solidFill>
                  <a:srgbClr val="00FFFF"/>
                </a:solidFill>
                <a:latin typeface="Comic Sans MS" panose="030F0702030302020204" pitchFamily="66" charset="0"/>
              </a:rPr>
              <a:t> and </a:t>
            </a:r>
            <a:r>
              <a:rPr lang="en-US" sz="1600" b="1" dirty="0">
                <a:solidFill>
                  <a:srgbClr val="00FFFF"/>
                </a:solidFill>
                <a:latin typeface="Comic Sans MS" panose="030F0702030302020204" pitchFamily="66" charset="0"/>
              </a:rPr>
              <a:t>shorter lifespans</a:t>
            </a:r>
            <a:r>
              <a:rPr lang="en-US" sz="1600" dirty="0">
                <a:solidFill>
                  <a:srgbClr val="00FFFF"/>
                </a:solidFill>
                <a:latin typeface="Comic Sans MS" panose="030F0702030302020204" pitchFamily="66" charset="0"/>
              </a:rPr>
              <a:t>, showing healthcare challenges.</a:t>
            </a:r>
          </a:p>
          <a:p>
            <a:r>
              <a:rPr lang="en-US" sz="1600" b="1" dirty="0">
                <a:solidFill>
                  <a:srgbClr val="00FFFF"/>
                </a:solidFill>
                <a:latin typeface="Comic Sans MS" panose="030F0702030302020204" pitchFamily="66" charset="0"/>
              </a:rPr>
              <a:t>Asia</a:t>
            </a:r>
            <a:r>
              <a:rPr lang="en-US" sz="1600" dirty="0">
                <a:solidFill>
                  <a:srgbClr val="00FFFF"/>
                </a:solidFill>
                <a:latin typeface="Comic Sans MS" panose="030F0702030302020204" pitchFamily="66" charset="0"/>
              </a:rPr>
              <a:t> shows </a:t>
            </a:r>
            <a:r>
              <a:rPr lang="en-US" sz="1600" b="1" dirty="0">
                <a:solidFill>
                  <a:srgbClr val="00FFFF"/>
                </a:solidFill>
                <a:latin typeface="Comic Sans MS" panose="030F0702030302020204" pitchFamily="66" charset="0"/>
              </a:rPr>
              <a:t>mixed results</a:t>
            </a:r>
            <a:r>
              <a:rPr lang="en-US" sz="1600" dirty="0">
                <a:solidFill>
                  <a:srgbClr val="00FFFF"/>
                </a:solidFill>
                <a:latin typeface="Comic Sans MS" panose="030F0702030302020204" pitchFamily="66" charset="0"/>
              </a:rPr>
              <a:t>, depending on each country's healthcare system.</a:t>
            </a:r>
          </a:p>
          <a:p>
            <a:r>
              <a:rPr lang="en-US" sz="1600" b="1" dirty="0">
                <a:solidFill>
                  <a:srgbClr val="00FFFF"/>
                </a:solidFill>
                <a:latin typeface="Comic Sans MS" panose="030F0702030302020204" pitchFamily="66" charset="0"/>
              </a:rPr>
              <a:t>South America</a:t>
            </a:r>
            <a:r>
              <a:rPr lang="en-US" sz="1600" dirty="0">
                <a:solidFill>
                  <a:srgbClr val="00FFFF"/>
                </a:solidFill>
                <a:latin typeface="Comic Sans MS" panose="030F0702030302020204" pitchFamily="66" charset="0"/>
              </a:rPr>
              <a:t> and </a:t>
            </a:r>
            <a:r>
              <a:rPr lang="en-US" sz="1600" b="1" dirty="0">
                <a:solidFill>
                  <a:srgbClr val="00FFFF"/>
                </a:solidFill>
                <a:latin typeface="Comic Sans MS" panose="030F0702030302020204" pitchFamily="66" charset="0"/>
              </a:rPr>
              <a:t>Oceania</a:t>
            </a:r>
            <a:r>
              <a:rPr lang="en-US" sz="1600" dirty="0">
                <a:solidFill>
                  <a:srgbClr val="00FFFF"/>
                </a:solidFill>
                <a:latin typeface="Comic Sans MS" panose="030F0702030302020204" pitchFamily="66" charset="0"/>
              </a:rPr>
              <a:t> generally have </a:t>
            </a:r>
            <a:r>
              <a:rPr lang="en-US" sz="1600" b="1" dirty="0">
                <a:solidFill>
                  <a:srgbClr val="00FFFF"/>
                </a:solidFill>
                <a:latin typeface="Comic Sans MS" panose="030F0702030302020204" pitchFamily="66" charset="0"/>
              </a:rPr>
              <a:t>moderate to high Life Expectancy</a:t>
            </a:r>
            <a:r>
              <a:rPr lang="en-US" sz="1600" dirty="0">
                <a:solidFill>
                  <a:srgbClr val="00FFFF"/>
                </a:solidFill>
                <a:latin typeface="Comic Sans MS" panose="030F0702030302020204" pitchFamily="66" charset="0"/>
              </a:rPr>
              <a:t> with </a:t>
            </a:r>
            <a:r>
              <a:rPr lang="en-US" sz="1600" b="1" dirty="0">
                <a:solidFill>
                  <a:srgbClr val="00FFFF"/>
                </a:solidFill>
                <a:latin typeface="Comic Sans MS" panose="030F0702030302020204" pitchFamily="66" charset="0"/>
              </a:rPr>
              <a:t>low Diphtheria cases</a:t>
            </a:r>
            <a:r>
              <a:rPr lang="en-US" sz="1600" dirty="0">
                <a:solidFill>
                  <a:srgbClr val="00FFFF"/>
                </a:solidFill>
                <a:latin typeface="Comic Sans MS" panose="030F0702030302020204" pitchFamily="66" charset="0"/>
              </a:rPr>
              <a:t>.</a:t>
            </a:r>
          </a:p>
          <a:p>
            <a:endParaRPr lang="en-US" sz="1600" dirty="0">
              <a:latin typeface="Comic Sans MS" panose="030F0702030302020204" pitchFamily="66" charset="0"/>
            </a:endParaRPr>
          </a:p>
          <a:p>
            <a:pPr marL="0" indent="0">
              <a:buNone/>
            </a:pPr>
            <a:r>
              <a:rPr lang="en-US" sz="1600" dirty="0">
                <a:latin typeface="Comic Sans MS" panose="030F0702030302020204" pitchFamily="66" charset="0"/>
              </a:rPr>
              <a:t> </a:t>
            </a:r>
            <a:r>
              <a:rPr lang="en-US" sz="1800" b="1" dirty="0">
                <a:solidFill>
                  <a:srgbClr val="FFFF00"/>
                </a:solidFill>
                <a:latin typeface="Comic Sans MS" panose="030F0702030302020204" pitchFamily="66" charset="0"/>
              </a:rPr>
              <a:t>Key Insight:</a:t>
            </a:r>
            <a:br>
              <a:rPr lang="en-US" sz="1800" dirty="0">
                <a:solidFill>
                  <a:srgbClr val="FFFF00"/>
                </a:solidFill>
                <a:latin typeface="Comic Sans MS" panose="030F0702030302020204" pitchFamily="66" charset="0"/>
              </a:rPr>
            </a:br>
            <a:r>
              <a:rPr lang="en-US" sz="1800" dirty="0">
                <a:solidFill>
                  <a:srgbClr val="FFFF00"/>
                </a:solidFill>
                <a:latin typeface="Comic Sans MS" panose="030F0702030302020204" pitchFamily="66" charset="0"/>
              </a:rPr>
              <a:t>Countries with </a:t>
            </a:r>
            <a:r>
              <a:rPr lang="en-US" sz="1800" b="1" dirty="0">
                <a:solidFill>
                  <a:srgbClr val="FFFF00"/>
                </a:solidFill>
                <a:latin typeface="Comic Sans MS" panose="030F0702030302020204" pitchFamily="66" charset="0"/>
              </a:rPr>
              <a:t>fewer Diphtheria cases</a:t>
            </a:r>
            <a:r>
              <a:rPr lang="en-US" sz="1800" dirty="0">
                <a:solidFill>
                  <a:srgbClr val="FFFF00"/>
                </a:solidFill>
                <a:latin typeface="Comic Sans MS" panose="030F0702030302020204" pitchFamily="66" charset="0"/>
              </a:rPr>
              <a:t> tend to have </a:t>
            </a:r>
            <a:r>
              <a:rPr lang="en-US" sz="1800" b="1" dirty="0">
                <a:solidFill>
                  <a:srgbClr val="FFFF00"/>
                </a:solidFill>
                <a:latin typeface="Comic Sans MS" panose="030F0702030302020204" pitchFamily="66" charset="0"/>
              </a:rPr>
              <a:t>longer lives</a:t>
            </a:r>
            <a:r>
              <a:rPr lang="en-US" sz="1800" dirty="0">
                <a:solidFill>
                  <a:srgbClr val="FFFF00"/>
                </a:solidFill>
                <a:latin typeface="Comic Sans MS" panose="030F0702030302020204" pitchFamily="66" charset="0"/>
              </a:rPr>
              <a:t>, proving the importance of </a:t>
            </a:r>
            <a:r>
              <a:rPr lang="en-US" sz="1800" b="1" dirty="0">
                <a:solidFill>
                  <a:srgbClr val="FFFF00"/>
                </a:solidFill>
                <a:latin typeface="Comic Sans MS" panose="030F0702030302020204" pitchFamily="66" charset="0"/>
              </a:rPr>
              <a:t>vaccination and disease prevention</a:t>
            </a:r>
            <a:r>
              <a:rPr lang="en-US" sz="1800" dirty="0">
                <a:solidFill>
                  <a:srgbClr val="FFFF00"/>
                </a:solidFill>
                <a:latin typeface="Comic Sans MS" panose="030F0702030302020204" pitchFamily="66" charset="0"/>
              </a:rPr>
              <a:t>.</a:t>
            </a:r>
          </a:p>
          <a:p>
            <a:endParaRPr lang="en-IN" sz="1600" dirty="0">
              <a:latin typeface="Comic Sans MS" panose="030F0702030302020204" pitchFamily="66" charset="0"/>
            </a:endParaRPr>
          </a:p>
        </p:txBody>
      </p:sp>
    </p:spTree>
    <p:extLst>
      <p:ext uri="{BB962C8B-B14F-4D97-AF65-F5344CB8AC3E}">
        <p14:creationId xmlns:p14="http://schemas.microsoft.com/office/powerpoint/2010/main" val="4087578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FA7F4-C658-5775-0D62-4F9EA11A624F}"/>
              </a:ext>
            </a:extLst>
          </p:cNvPr>
          <p:cNvSpPr>
            <a:spLocks noGrp="1"/>
          </p:cNvSpPr>
          <p:nvPr>
            <p:ph type="title"/>
          </p:nvPr>
        </p:nvSpPr>
        <p:spPr>
          <a:xfrm>
            <a:off x="217714" y="141515"/>
            <a:ext cx="11136086" cy="762000"/>
          </a:xfrm>
        </p:spPr>
        <p:txBody>
          <a:bodyPr/>
          <a:lstStyle/>
          <a:p>
            <a:r>
              <a:rPr lang="en-US" b="1" dirty="0">
                <a:latin typeface="+mn-lt"/>
              </a:rPr>
              <a:t>Key Insights </a:t>
            </a:r>
            <a:endParaRPr lang="en-IN" b="1" dirty="0">
              <a:latin typeface="+mn-lt"/>
            </a:endParaRPr>
          </a:p>
        </p:txBody>
      </p:sp>
      <p:graphicFrame>
        <p:nvGraphicFramePr>
          <p:cNvPr id="4" name="Content Placeholder 3">
            <a:extLst>
              <a:ext uri="{FF2B5EF4-FFF2-40B4-BE49-F238E27FC236}">
                <a16:creationId xmlns:a16="http://schemas.microsoft.com/office/drawing/2014/main" id="{C885EADE-48C8-8571-7360-A83CE5773BA7}"/>
              </a:ext>
            </a:extLst>
          </p:cNvPr>
          <p:cNvGraphicFramePr>
            <a:graphicFrameLocks noGrp="1"/>
          </p:cNvGraphicFramePr>
          <p:nvPr>
            <p:ph idx="1"/>
            <p:extLst>
              <p:ext uri="{D42A27DB-BD31-4B8C-83A1-F6EECF244321}">
                <p14:modId xmlns:p14="http://schemas.microsoft.com/office/powerpoint/2010/main" val="106647268"/>
              </p:ext>
            </p:extLst>
          </p:nvPr>
        </p:nvGraphicFramePr>
        <p:xfrm>
          <a:off x="217714" y="1088572"/>
          <a:ext cx="11636829" cy="5627918"/>
        </p:xfrm>
        <a:graphic>
          <a:graphicData uri="http://schemas.openxmlformats.org/drawingml/2006/table">
            <a:tbl>
              <a:tblPr>
                <a:tableStyleId>{616DA210-FB5B-4158-B5E0-FEB733F419BA}</a:tableStyleId>
              </a:tblPr>
              <a:tblGrid>
                <a:gridCol w="4090118">
                  <a:extLst>
                    <a:ext uri="{9D8B030D-6E8A-4147-A177-3AD203B41FA5}">
                      <a16:colId xmlns:a16="http://schemas.microsoft.com/office/drawing/2014/main" val="3215593293"/>
                    </a:ext>
                  </a:extLst>
                </a:gridCol>
                <a:gridCol w="7546711">
                  <a:extLst>
                    <a:ext uri="{9D8B030D-6E8A-4147-A177-3AD203B41FA5}">
                      <a16:colId xmlns:a16="http://schemas.microsoft.com/office/drawing/2014/main" val="1831935914"/>
                    </a:ext>
                  </a:extLst>
                </a:gridCol>
              </a:tblGrid>
              <a:tr h="424748">
                <a:tc>
                  <a:txBody>
                    <a:bodyPr/>
                    <a:lstStyle/>
                    <a:p>
                      <a:r>
                        <a:rPr lang="en-IN" sz="2000" b="1">
                          <a:solidFill>
                            <a:srgbClr val="FFFF00"/>
                          </a:solidFill>
                          <a:latin typeface="Comic Sans MS" panose="030F0702030302020204" pitchFamily="66" charset="0"/>
                        </a:rPr>
                        <a:t>Insight</a:t>
                      </a:r>
                      <a:endParaRPr lang="en-IN" sz="2000">
                        <a:solidFill>
                          <a:srgbClr val="FFFF00"/>
                        </a:solidFill>
                        <a:latin typeface="Comic Sans MS" panose="030F0702030302020204" pitchFamily="66" charset="0"/>
                      </a:endParaRPr>
                    </a:p>
                  </a:txBody>
                  <a:tcPr marL="82101" marR="82101" marT="41050" marB="41050" anchor="ctr"/>
                </a:tc>
                <a:tc>
                  <a:txBody>
                    <a:bodyPr/>
                    <a:lstStyle/>
                    <a:p>
                      <a:r>
                        <a:rPr lang="en-IN" sz="2000" b="1">
                          <a:solidFill>
                            <a:srgbClr val="00FFFF"/>
                          </a:solidFill>
                          <a:latin typeface="Comic Sans MS" panose="030F0702030302020204" pitchFamily="66" charset="0"/>
                        </a:rPr>
                        <a:t>Description</a:t>
                      </a:r>
                      <a:endParaRPr lang="en-IN" sz="2000">
                        <a:solidFill>
                          <a:srgbClr val="00FFFF"/>
                        </a:solidFill>
                        <a:latin typeface="Comic Sans MS" panose="030F0702030302020204" pitchFamily="66" charset="0"/>
                      </a:endParaRPr>
                    </a:p>
                  </a:txBody>
                  <a:tcPr marL="82101" marR="82101" marT="41050" marB="41050" anchor="ctr"/>
                </a:tc>
                <a:extLst>
                  <a:ext uri="{0D108BD9-81ED-4DB2-BD59-A6C34878D82A}">
                    <a16:rowId xmlns:a16="http://schemas.microsoft.com/office/drawing/2014/main" val="3169549837"/>
                  </a:ext>
                </a:extLst>
              </a:tr>
              <a:tr h="743310">
                <a:tc>
                  <a:txBody>
                    <a:bodyPr/>
                    <a:lstStyle/>
                    <a:p>
                      <a:r>
                        <a:rPr lang="en-US" sz="2000" b="1">
                          <a:solidFill>
                            <a:srgbClr val="FFFF00"/>
                          </a:solidFill>
                          <a:latin typeface="Comic Sans MS" panose="030F0702030302020204" pitchFamily="66" charset="0"/>
                        </a:rPr>
                        <a:t>Highest Avg. Diphtheria Rate (Continent)</a:t>
                      </a:r>
                      <a:endParaRPr lang="en-US" sz="2000">
                        <a:solidFill>
                          <a:srgbClr val="FFFF00"/>
                        </a:solidFill>
                        <a:latin typeface="Comic Sans MS" panose="030F0702030302020204" pitchFamily="66" charset="0"/>
                      </a:endParaRPr>
                    </a:p>
                  </a:txBody>
                  <a:tcPr marL="82101" marR="82101" marT="41050" marB="41050" anchor="ctr"/>
                </a:tc>
                <a:tc>
                  <a:txBody>
                    <a:bodyPr/>
                    <a:lstStyle/>
                    <a:p>
                      <a:r>
                        <a:rPr lang="en-US" sz="2000" b="1">
                          <a:solidFill>
                            <a:srgbClr val="00FFFF"/>
                          </a:solidFill>
                          <a:latin typeface="Comic Sans MS" panose="030F0702030302020204" pitchFamily="66" charset="0"/>
                        </a:rPr>
                        <a:t>Europe</a:t>
                      </a:r>
                      <a:r>
                        <a:rPr lang="en-US" sz="2000">
                          <a:solidFill>
                            <a:srgbClr val="00FFFF"/>
                          </a:solidFill>
                          <a:latin typeface="Comic Sans MS" panose="030F0702030302020204" pitchFamily="66" charset="0"/>
                        </a:rPr>
                        <a:t> leads with an average rate of </a:t>
                      </a:r>
                      <a:r>
                        <a:rPr lang="en-US" sz="2000" b="1">
                          <a:solidFill>
                            <a:srgbClr val="00FFFF"/>
                          </a:solidFill>
                          <a:latin typeface="Comic Sans MS" panose="030F0702030302020204" pitchFamily="66" charset="0"/>
                        </a:rPr>
                        <a:t>92.78%</a:t>
                      </a:r>
                      <a:r>
                        <a:rPr lang="en-US" sz="2000">
                          <a:solidFill>
                            <a:srgbClr val="00FFFF"/>
                          </a:solidFill>
                          <a:latin typeface="Comic Sans MS" panose="030F0702030302020204" pitchFamily="66" charset="0"/>
                        </a:rPr>
                        <a:t>, showing strong vaccination coverage.</a:t>
                      </a:r>
                    </a:p>
                  </a:txBody>
                  <a:tcPr marL="82101" marR="82101" marT="41050" marB="41050" anchor="ctr"/>
                </a:tc>
                <a:extLst>
                  <a:ext uri="{0D108BD9-81ED-4DB2-BD59-A6C34878D82A}">
                    <a16:rowId xmlns:a16="http://schemas.microsoft.com/office/drawing/2014/main" val="1420981136"/>
                  </a:ext>
                </a:extLst>
              </a:tr>
              <a:tr h="743310">
                <a:tc>
                  <a:txBody>
                    <a:bodyPr/>
                    <a:lstStyle/>
                    <a:p>
                      <a:r>
                        <a:rPr lang="en-US" sz="2000" b="1">
                          <a:solidFill>
                            <a:srgbClr val="FFFF00"/>
                          </a:solidFill>
                          <a:latin typeface="Comic Sans MS" panose="030F0702030302020204" pitchFamily="66" charset="0"/>
                        </a:rPr>
                        <a:t>Lowest Avg. Diphtheria Rate (Continent)</a:t>
                      </a:r>
                      <a:endParaRPr lang="en-US" sz="2000">
                        <a:solidFill>
                          <a:srgbClr val="FFFF00"/>
                        </a:solidFill>
                        <a:latin typeface="Comic Sans MS" panose="030F0702030302020204" pitchFamily="66" charset="0"/>
                      </a:endParaRPr>
                    </a:p>
                  </a:txBody>
                  <a:tcPr marL="82101" marR="82101" marT="41050" marB="41050" anchor="ctr"/>
                </a:tc>
                <a:tc>
                  <a:txBody>
                    <a:bodyPr/>
                    <a:lstStyle/>
                    <a:p>
                      <a:r>
                        <a:rPr lang="en-US" sz="2000" b="1">
                          <a:solidFill>
                            <a:srgbClr val="00FFFF"/>
                          </a:solidFill>
                          <a:latin typeface="Comic Sans MS" panose="030F0702030302020204" pitchFamily="66" charset="0"/>
                        </a:rPr>
                        <a:t>Africa</a:t>
                      </a:r>
                      <a:r>
                        <a:rPr lang="en-US" sz="2000">
                          <a:solidFill>
                            <a:srgbClr val="00FFFF"/>
                          </a:solidFill>
                          <a:latin typeface="Comic Sans MS" panose="030F0702030302020204" pitchFamily="66" charset="0"/>
                        </a:rPr>
                        <a:t> has the lowest average of </a:t>
                      </a:r>
                      <a:r>
                        <a:rPr lang="en-US" sz="2000" b="1">
                          <a:solidFill>
                            <a:srgbClr val="00FFFF"/>
                          </a:solidFill>
                          <a:latin typeface="Comic Sans MS" panose="030F0702030302020204" pitchFamily="66" charset="0"/>
                        </a:rPr>
                        <a:t>70%</a:t>
                      </a:r>
                      <a:r>
                        <a:rPr lang="en-US" sz="2000">
                          <a:solidFill>
                            <a:srgbClr val="00FFFF"/>
                          </a:solidFill>
                          <a:latin typeface="Comic Sans MS" panose="030F0702030302020204" pitchFamily="66" charset="0"/>
                        </a:rPr>
                        <a:t>, reflecting gaps in immunization.</a:t>
                      </a:r>
                    </a:p>
                  </a:txBody>
                  <a:tcPr marL="82101" marR="82101" marT="41050" marB="41050" anchor="ctr"/>
                </a:tc>
                <a:extLst>
                  <a:ext uri="{0D108BD9-81ED-4DB2-BD59-A6C34878D82A}">
                    <a16:rowId xmlns:a16="http://schemas.microsoft.com/office/drawing/2014/main" val="1261096818"/>
                  </a:ext>
                </a:extLst>
              </a:tr>
              <a:tr h="743310">
                <a:tc>
                  <a:txBody>
                    <a:bodyPr/>
                    <a:lstStyle/>
                    <a:p>
                      <a:r>
                        <a:rPr lang="en-US" sz="2000" b="1">
                          <a:solidFill>
                            <a:srgbClr val="FFFF00"/>
                          </a:solidFill>
                          <a:latin typeface="Comic Sans MS" panose="030F0702030302020204" pitchFamily="66" charset="0"/>
                        </a:rPr>
                        <a:t>Top Countries by Avg. Vaccination Rate</a:t>
                      </a:r>
                      <a:endParaRPr lang="en-US" sz="2000">
                        <a:solidFill>
                          <a:srgbClr val="FFFF00"/>
                        </a:solidFill>
                        <a:latin typeface="Comic Sans MS" panose="030F0702030302020204" pitchFamily="66" charset="0"/>
                      </a:endParaRPr>
                    </a:p>
                  </a:txBody>
                  <a:tcPr marL="82101" marR="82101" marT="41050" marB="41050" anchor="ctr"/>
                </a:tc>
                <a:tc>
                  <a:txBody>
                    <a:bodyPr/>
                    <a:lstStyle/>
                    <a:p>
                      <a:r>
                        <a:rPr lang="en-US" sz="2000" b="1">
                          <a:solidFill>
                            <a:srgbClr val="00FFFF"/>
                          </a:solidFill>
                          <a:latin typeface="Comic Sans MS" panose="030F0702030302020204" pitchFamily="66" charset="0"/>
                        </a:rPr>
                        <a:t>Hungary, Palau, Monaco, Niue</a:t>
                      </a:r>
                      <a:r>
                        <a:rPr lang="en-US" sz="2000">
                          <a:solidFill>
                            <a:srgbClr val="00FFFF"/>
                          </a:solidFill>
                          <a:latin typeface="Comic Sans MS" panose="030F0702030302020204" pitchFamily="66" charset="0"/>
                        </a:rPr>
                        <a:t> have the </a:t>
                      </a:r>
                      <a:r>
                        <a:rPr lang="en-US" sz="2000" b="1">
                          <a:solidFill>
                            <a:srgbClr val="00FFFF"/>
                          </a:solidFill>
                          <a:latin typeface="Comic Sans MS" panose="030F0702030302020204" pitchFamily="66" charset="0"/>
                        </a:rPr>
                        <a:t>highest average rate (99%)</a:t>
                      </a:r>
                      <a:r>
                        <a:rPr lang="en-US" sz="2000">
                          <a:solidFill>
                            <a:srgbClr val="00FFFF"/>
                          </a:solidFill>
                          <a:latin typeface="Comic Sans MS" panose="030F0702030302020204" pitchFamily="66" charset="0"/>
                        </a:rPr>
                        <a:t> over the years.</a:t>
                      </a:r>
                    </a:p>
                  </a:txBody>
                  <a:tcPr marL="82101" marR="82101" marT="41050" marB="41050" anchor="ctr"/>
                </a:tc>
                <a:extLst>
                  <a:ext uri="{0D108BD9-81ED-4DB2-BD59-A6C34878D82A}">
                    <a16:rowId xmlns:a16="http://schemas.microsoft.com/office/drawing/2014/main" val="4236066512"/>
                  </a:ext>
                </a:extLst>
              </a:tr>
              <a:tr h="743310">
                <a:tc>
                  <a:txBody>
                    <a:bodyPr/>
                    <a:lstStyle/>
                    <a:p>
                      <a:r>
                        <a:rPr lang="en-US" sz="2000" b="1">
                          <a:solidFill>
                            <a:srgbClr val="FFFF00"/>
                          </a:solidFill>
                          <a:latin typeface="Comic Sans MS" panose="030F0702030302020204" pitchFamily="66" charset="0"/>
                        </a:rPr>
                        <a:t>Lowest Avg. Diphtheria Rate (Country)</a:t>
                      </a:r>
                      <a:endParaRPr lang="en-US" sz="2000">
                        <a:solidFill>
                          <a:srgbClr val="FFFF00"/>
                        </a:solidFill>
                        <a:latin typeface="Comic Sans MS" panose="030F0702030302020204" pitchFamily="66" charset="0"/>
                      </a:endParaRPr>
                    </a:p>
                  </a:txBody>
                  <a:tcPr marL="82101" marR="82101" marT="41050" marB="41050" anchor="ctr"/>
                </a:tc>
                <a:tc>
                  <a:txBody>
                    <a:bodyPr/>
                    <a:lstStyle/>
                    <a:p>
                      <a:r>
                        <a:rPr lang="en-US" sz="2000" b="1">
                          <a:solidFill>
                            <a:srgbClr val="00FFFF"/>
                          </a:solidFill>
                          <a:latin typeface="Comic Sans MS" panose="030F0702030302020204" pitchFamily="66" charset="0"/>
                        </a:rPr>
                        <a:t>Tuvalu</a:t>
                      </a:r>
                      <a:r>
                        <a:rPr lang="en-US" sz="2000">
                          <a:solidFill>
                            <a:srgbClr val="00FFFF"/>
                          </a:solidFill>
                          <a:latin typeface="Comic Sans MS" panose="030F0702030302020204" pitchFamily="66" charset="0"/>
                        </a:rPr>
                        <a:t> has the </a:t>
                      </a:r>
                      <a:r>
                        <a:rPr lang="en-US" sz="2000" b="1">
                          <a:solidFill>
                            <a:srgbClr val="00FFFF"/>
                          </a:solidFill>
                          <a:latin typeface="Comic Sans MS" panose="030F0702030302020204" pitchFamily="66" charset="0"/>
                        </a:rPr>
                        <a:t>lowest average vaccination rate (9%)</a:t>
                      </a:r>
                      <a:r>
                        <a:rPr lang="en-US" sz="2000">
                          <a:solidFill>
                            <a:srgbClr val="00FFFF"/>
                          </a:solidFill>
                          <a:latin typeface="Comic Sans MS" panose="030F0702030302020204" pitchFamily="66" charset="0"/>
                        </a:rPr>
                        <a:t> over the years.</a:t>
                      </a:r>
                    </a:p>
                  </a:txBody>
                  <a:tcPr marL="82101" marR="82101" marT="41050" marB="41050" anchor="ctr"/>
                </a:tc>
                <a:extLst>
                  <a:ext uri="{0D108BD9-81ED-4DB2-BD59-A6C34878D82A}">
                    <a16:rowId xmlns:a16="http://schemas.microsoft.com/office/drawing/2014/main" val="3535768727"/>
                  </a:ext>
                </a:extLst>
              </a:tr>
              <a:tr h="743310">
                <a:tc>
                  <a:txBody>
                    <a:bodyPr/>
                    <a:lstStyle/>
                    <a:p>
                      <a:r>
                        <a:rPr lang="en-US" sz="2000" b="1">
                          <a:solidFill>
                            <a:srgbClr val="FFFF00"/>
                          </a:solidFill>
                          <a:latin typeface="Comic Sans MS" panose="030F0702030302020204" pitchFamily="66" charset="0"/>
                        </a:rPr>
                        <a:t>Lowest in Specific Year (2014)</a:t>
                      </a:r>
                      <a:endParaRPr lang="en-US" sz="2000">
                        <a:solidFill>
                          <a:srgbClr val="FFFF00"/>
                        </a:solidFill>
                        <a:latin typeface="Comic Sans MS" panose="030F0702030302020204" pitchFamily="66" charset="0"/>
                      </a:endParaRPr>
                    </a:p>
                  </a:txBody>
                  <a:tcPr marL="82101" marR="82101" marT="41050" marB="41050" anchor="ctr"/>
                </a:tc>
                <a:tc>
                  <a:txBody>
                    <a:bodyPr/>
                    <a:lstStyle/>
                    <a:p>
                      <a:r>
                        <a:rPr lang="en-US" sz="2000" b="1">
                          <a:solidFill>
                            <a:srgbClr val="00FFFF"/>
                          </a:solidFill>
                          <a:latin typeface="Comic Sans MS" panose="030F0702030302020204" pitchFamily="66" charset="0"/>
                        </a:rPr>
                        <a:t>Equatorial Guinea</a:t>
                      </a:r>
                      <a:r>
                        <a:rPr lang="en-US" sz="2000">
                          <a:solidFill>
                            <a:srgbClr val="00FFFF"/>
                          </a:solidFill>
                          <a:latin typeface="Comic Sans MS" panose="030F0702030302020204" pitchFamily="66" charset="0"/>
                        </a:rPr>
                        <a:t> had just </a:t>
                      </a:r>
                      <a:r>
                        <a:rPr lang="en-US" sz="2000" b="1">
                          <a:solidFill>
                            <a:srgbClr val="00FFFF"/>
                          </a:solidFill>
                          <a:latin typeface="Comic Sans MS" panose="030F0702030302020204" pitchFamily="66" charset="0"/>
                        </a:rPr>
                        <a:t>2% vaccination</a:t>
                      </a:r>
                      <a:r>
                        <a:rPr lang="en-US" sz="2000">
                          <a:solidFill>
                            <a:srgbClr val="00FFFF"/>
                          </a:solidFill>
                          <a:latin typeface="Comic Sans MS" panose="030F0702030302020204" pitchFamily="66" charset="0"/>
                        </a:rPr>
                        <a:t> in </a:t>
                      </a:r>
                      <a:r>
                        <a:rPr lang="en-US" sz="2000" b="1">
                          <a:solidFill>
                            <a:srgbClr val="00FFFF"/>
                          </a:solidFill>
                          <a:latin typeface="Comic Sans MS" panose="030F0702030302020204" pitchFamily="66" charset="0"/>
                        </a:rPr>
                        <a:t>2014</a:t>
                      </a:r>
                      <a:r>
                        <a:rPr lang="en-US" sz="2000">
                          <a:solidFill>
                            <a:srgbClr val="00FFFF"/>
                          </a:solidFill>
                          <a:latin typeface="Comic Sans MS" panose="030F0702030302020204" pitchFamily="66" charset="0"/>
                        </a:rPr>
                        <a:t>, the lowest recorded that year.</a:t>
                      </a:r>
                    </a:p>
                  </a:txBody>
                  <a:tcPr marL="82101" marR="82101" marT="41050" marB="41050" anchor="ctr"/>
                </a:tc>
                <a:extLst>
                  <a:ext uri="{0D108BD9-81ED-4DB2-BD59-A6C34878D82A}">
                    <a16:rowId xmlns:a16="http://schemas.microsoft.com/office/drawing/2014/main" val="1254649273"/>
                  </a:ext>
                </a:extLst>
              </a:tr>
              <a:tr h="743310">
                <a:tc>
                  <a:txBody>
                    <a:bodyPr/>
                    <a:lstStyle/>
                    <a:p>
                      <a:r>
                        <a:rPr lang="en-IN" sz="2000" b="1">
                          <a:solidFill>
                            <a:srgbClr val="FFFF00"/>
                          </a:solidFill>
                          <a:latin typeface="Comic Sans MS" panose="030F0702030302020204" pitchFamily="66" charset="0"/>
                        </a:rPr>
                        <a:t>Top Performers in 2015</a:t>
                      </a:r>
                      <a:endParaRPr lang="en-IN" sz="2000">
                        <a:solidFill>
                          <a:srgbClr val="FFFF00"/>
                        </a:solidFill>
                        <a:latin typeface="Comic Sans MS" panose="030F0702030302020204" pitchFamily="66" charset="0"/>
                      </a:endParaRPr>
                    </a:p>
                  </a:txBody>
                  <a:tcPr marL="82101" marR="82101" marT="41050" marB="41050" anchor="ctr"/>
                </a:tc>
                <a:tc>
                  <a:txBody>
                    <a:bodyPr/>
                    <a:lstStyle/>
                    <a:p>
                      <a:r>
                        <a:rPr lang="en-US" sz="2000" b="1">
                          <a:solidFill>
                            <a:srgbClr val="00FFFF"/>
                          </a:solidFill>
                          <a:latin typeface="Comic Sans MS" panose="030F0702030302020204" pitchFamily="66" charset="0"/>
                        </a:rPr>
                        <a:t>27 countries</a:t>
                      </a:r>
                      <a:r>
                        <a:rPr lang="en-US" sz="2000">
                          <a:solidFill>
                            <a:srgbClr val="00FFFF"/>
                          </a:solidFill>
                          <a:latin typeface="Comic Sans MS" panose="030F0702030302020204" pitchFamily="66" charset="0"/>
                        </a:rPr>
                        <a:t> achieved the </a:t>
                      </a:r>
                      <a:r>
                        <a:rPr lang="en-US" sz="2000" b="1">
                          <a:solidFill>
                            <a:srgbClr val="00FFFF"/>
                          </a:solidFill>
                          <a:latin typeface="Comic Sans MS" panose="030F0702030302020204" pitchFamily="66" charset="0"/>
                        </a:rPr>
                        <a:t>highest Diphtheria vaccination rate (likely ~99–100%)</a:t>
                      </a:r>
                      <a:r>
                        <a:rPr lang="en-US" sz="2000">
                          <a:solidFill>
                            <a:srgbClr val="00FFFF"/>
                          </a:solidFill>
                          <a:latin typeface="Comic Sans MS" panose="030F0702030302020204" pitchFamily="66" charset="0"/>
                        </a:rPr>
                        <a:t> in </a:t>
                      </a:r>
                      <a:r>
                        <a:rPr lang="en-US" sz="2000" b="1">
                          <a:solidFill>
                            <a:srgbClr val="00FFFF"/>
                          </a:solidFill>
                          <a:latin typeface="Comic Sans MS" panose="030F0702030302020204" pitchFamily="66" charset="0"/>
                        </a:rPr>
                        <a:t>2015</a:t>
                      </a:r>
                      <a:r>
                        <a:rPr lang="en-US" sz="2000">
                          <a:solidFill>
                            <a:srgbClr val="00FFFF"/>
                          </a:solidFill>
                          <a:latin typeface="Comic Sans MS" panose="030F0702030302020204" pitchFamily="66" charset="0"/>
                        </a:rPr>
                        <a:t>.</a:t>
                      </a:r>
                    </a:p>
                  </a:txBody>
                  <a:tcPr marL="82101" marR="82101" marT="41050" marB="41050" anchor="ctr"/>
                </a:tc>
                <a:extLst>
                  <a:ext uri="{0D108BD9-81ED-4DB2-BD59-A6C34878D82A}">
                    <a16:rowId xmlns:a16="http://schemas.microsoft.com/office/drawing/2014/main" val="3714997815"/>
                  </a:ext>
                </a:extLst>
              </a:tr>
              <a:tr h="743310">
                <a:tc>
                  <a:txBody>
                    <a:bodyPr/>
                    <a:lstStyle/>
                    <a:p>
                      <a:r>
                        <a:rPr lang="en-IN" sz="2000" b="1" dirty="0">
                          <a:solidFill>
                            <a:srgbClr val="FFFF00"/>
                          </a:solidFill>
                          <a:latin typeface="Comic Sans MS" panose="030F0702030302020204" pitchFamily="66" charset="0"/>
                        </a:rPr>
                        <a:t>Lowest in 2015</a:t>
                      </a:r>
                      <a:endParaRPr lang="en-IN" sz="2000" dirty="0">
                        <a:solidFill>
                          <a:srgbClr val="FFFF00"/>
                        </a:solidFill>
                        <a:latin typeface="Comic Sans MS" panose="030F0702030302020204" pitchFamily="66" charset="0"/>
                      </a:endParaRPr>
                    </a:p>
                  </a:txBody>
                  <a:tcPr marL="82101" marR="82101" marT="41050" marB="41050" anchor="ctr"/>
                </a:tc>
                <a:tc>
                  <a:txBody>
                    <a:bodyPr/>
                    <a:lstStyle/>
                    <a:p>
                      <a:r>
                        <a:rPr lang="en-US" sz="2000" b="1" dirty="0">
                          <a:solidFill>
                            <a:srgbClr val="00FFFF"/>
                          </a:solidFill>
                          <a:latin typeface="Comic Sans MS" panose="030F0702030302020204" pitchFamily="66" charset="0"/>
                        </a:rPr>
                        <a:t>Haiti</a:t>
                      </a:r>
                      <a:r>
                        <a:rPr lang="en-US" sz="2000" dirty="0">
                          <a:solidFill>
                            <a:srgbClr val="00FFFF"/>
                          </a:solidFill>
                          <a:latin typeface="Comic Sans MS" panose="030F0702030302020204" pitchFamily="66" charset="0"/>
                        </a:rPr>
                        <a:t> and </a:t>
                      </a:r>
                      <a:r>
                        <a:rPr lang="en-US" sz="2000" b="1" dirty="0">
                          <a:solidFill>
                            <a:srgbClr val="00FFFF"/>
                          </a:solidFill>
                          <a:latin typeface="Comic Sans MS" panose="030F0702030302020204" pitchFamily="66" charset="0"/>
                        </a:rPr>
                        <a:t>Philippines</a:t>
                      </a:r>
                      <a:r>
                        <a:rPr lang="en-US" sz="2000" dirty="0">
                          <a:solidFill>
                            <a:srgbClr val="00FFFF"/>
                          </a:solidFill>
                          <a:latin typeface="Comic Sans MS" panose="030F0702030302020204" pitchFamily="66" charset="0"/>
                        </a:rPr>
                        <a:t> had the </a:t>
                      </a:r>
                      <a:r>
                        <a:rPr lang="en-US" sz="2000" b="1" dirty="0">
                          <a:solidFill>
                            <a:srgbClr val="00FFFF"/>
                          </a:solidFill>
                          <a:latin typeface="Comic Sans MS" panose="030F0702030302020204" pitchFamily="66" charset="0"/>
                        </a:rPr>
                        <a:t>lowest Diphtheria rate (6%)</a:t>
                      </a:r>
                      <a:r>
                        <a:rPr lang="en-US" sz="2000" dirty="0">
                          <a:solidFill>
                            <a:srgbClr val="00FFFF"/>
                          </a:solidFill>
                          <a:latin typeface="Comic Sans MS" panose="030F0702030302020204" pitchFamily="66" charset="0"/>
                        </a:rPr>
                        <a:t> in </a:t>
                      </a:r>
                      <a:r>
                        <a:rPr lang="en-US" sz="2000" b="1" dirty="0">
                          <a:solidFill>
                            <a:srgbClr val="00FFFF"/>
                          </a:solidFill>
                          <a:latin typeface="Comic Sans MS" panose="030F0702030302020204" pitchFamily="66" charset="0"/>
                        </a:rPr>
                        <a:t>2015</a:t>
                      </a:r>
                      <a:r>
                        <a:rPr lang="en-US" sz="2000" dirty="0">
                          <a:solidFill>
                            <a:srgbClr val="00FFFF"/>
                          </a:solidFill>
                          <a:latin typeface="Comic Sans MS" panose="030F0702030302020204" pitchFamily="66" charset="0"/>
                        </a:rPr>
                        <a:t>.</a:t>
                      </a:r>
                    </a:p>
                  </a:txBody>
                  <a:tcPr marL="82101" marR="82101" marT="41050" marB="41050" anchor="ctr"/>
                </a:tc>
                <a:extLst>
                  <a:ext uri="{0D108BD9-81ED-4DB2-BD59-A6C34878D82A}">
                    <a16:rowId xmlns:a16="http://schemas.microsoft.com/office/drawing/2014/main" val="547081473"/>
                  </a:ext>
                </a:extLst>
              </a:tr>
            </a:tbl>
          </a:graphicData>
        </a:graphic>
      </p:graphicFrame>
    </p:spTree>
    <p:extLst>
      <p:ext uri="{BB962C8B-B14F-4D97-AF65-F5344CB8AC3E}">
        <p14:creationId xmlns:p14="http://schemas.microsoft.com/office/powerpoint/2010/main" val="3710655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65695-B044-A9C2-B066-7D780ADCD81E}"/>
              </a:ext>
            </a:extLst>
          </p:cNvPr>
          <p:cNvSpPr>
            <a:spLocks noGrp="1"/>
          </p:cNvSpPr>
          <p:nvPr>
            <p:ph type="title"/>
          </p:nvPr>
        </p:nvSpPr>
        <p:spPr>
          <a:xfrm>
            <a:off x="402771" y="152401"/>
            <a:ext cx="5617027" cy="990599"/>
          </a:xfrm>
        </p:spPr>
        <p:txBody>
          <a:bodyPr>
            <a:normAutofit/>
          </a:bodyPr>
          <a:lstStyle/>
          <a:p>
            <a:r>
              <a:rPr lang="en-US" dirty="0"/>
              <a:t> </a:t>
            </a:r>
            <a:r>
              <a:rPr lang="en-US" b="1" dirty="0">
                <a:solidFill>
                  <a:srgbClr val="00FFFF"/>
                </a:solidFill>
                <a:latin typeface="+mn-lt"/>
              </a:rPr>
              <a:t>14.GDP</a:t>
            </a:r>
            <a:endParaRPr lang="en-IN" b="1" dirty="0">
              <a:solidFill>
                <a:srgbClr val="00FFFF"/>
              </a:solidFill>
              <a:latin typeface="+mn-lt"/>
            </a:endParaRPr>
          </a:p>
        </p:txBody>
      </p:sp>
      <p:pic>
        <p:nvPicPr>
          <p:cNvPr id="6" name="Content Placeholder 5">
            <a:extLst>
              <a:ext uri="{FF2B5EF4-FFF2-40B4-BE49-F238E27FC236}">
                <a16:creationId xmlns:a16="http://schemas.microsoft.com/office/drawing/2014/main" id="{3B641C8D-A7C3-A7E4-B39E-074AA601B1FC}"/>
              </a:ext>
            </a:extLst>
          </p:cNvPr>
          <p:cNvPicPr>
            <a:picLocks noGrp="1" noChangeAspect="1"/>
          </p:cNvPicPr>
          <p:nvPr>
            <p:ph sz="half" idx="1"/>
          </p:nvPr>
        </p:nvPicPr>
        <p:blipFill>
          <a:blip r:embed="rId2"/>
          <a:stretch>
            <a:fillRect/>
          </a:stretch>
        </p:blipFill>
        <p:spPr>
          <a:xfrm>
            <a:off x="206829" y="1371599"/>
            <a:ext cx="5812971" cy="5121275"/>
          </a:xfrm>
        </p:spPr>
      </p:pic>
      <p:sp>
        <p:nvSpPr>
          <p:cNvPr id="4" name="Content Placeholder 3">
            <a:extLst>
              <a:ext uri="{FF2B5EF4-FFF2-40B4-BE49-F238E27FC236}">
                <a16:creationId xmlns:a16="http://schemas.microsoft.com/office/drawing/2014/main" id="{2539CCB6-986B-842A-68FC-E592F575FA59}"/>
              </a:ext>
            </a:extLst>
          </p:cNvPr>
          <p:cNvSpPr>
            <a:spLocks noGrp="1"/>
          </p:cNvSpPr>
          <p:nvPr>
            <p:ph sz="half" idx="2"/>
          </p:nvPr>
        </p:nvSpPr>
        <p:spPr>
          <a:xfrm>
            <a:off x="6172203" y="152401"/>
            <a:ext cx="5736768" cy="6476999"/>
          </a:xfrm>
        </p:spPr>
        <p:txBody>
          <a:bodyPr>
            <a:noAutofit/>
          </a:bodyPr>
          <a:lstStyle/>
          <a:p>
            <a:endParaRPr lang="en-US" sz="1600" dirty="0">
              <a:latin typeface="Comic Sans MS" panose="030F0702030302020204" pitchFamily="66" charset="0"/>
            </a:endParaRPr>
          </a:p>
          <a:p>
            <a:r>
              <a:rPr lang="en-US" sz="1600" dirty="0">
                <a:solidFill>
                  <a:srgbClr val="FFFF00"/>
                </a:solidFill>
                <a:latin typeface="Comic Sans MS" panose="030F0702030302020204" pitchFamily="66" charset="0"/>
              </a:rPr>
              <a:t>GDP (Gross Domestic Product) is the total amount of money a country earns from everything it produces and sells in a year — like goods, services, and business.</a:t>
            </a:r>
          </a:p>
          <a:p>
            <a:r>
              <a:rPr lang="en-US" sz="1600" dirty="0">
                <a:solidFill>
                  <a:srgbClr val="FFFF00"/>
                </a:solidFill>
                <a:latin typeface="Comic Sans MS" panose="030F0702030302020204" pitchFamily="66" charset="0"/>
              </a:rPr>
              <a:t>It shows how rich or poor a country is and how strong its economy is.</a:t>
            </a:r>
          </a:p>
          <a:p>
            <a:pPr marL="0" indent="0">
              <a:buNone/>
            </a:pPr>
            <a:endParaRPr lang="en-US" sz="1600" dirty="0">
              <a:latin typeface="Comic Sans MS" panose="030F0702030302020204" pitchFamily="66" charset="0"/>
            </a:endParaRPr>
          </a:p>
          <a:p>
            <a:pPr marL="0" indent="0">
              <a:buNone/>
            </a:pPr>
            <a:r>
              <a:rPr lang="en-US" sz="1600" dirty="0">
                <a:solidFill>
                  <a:srgbClr val="00FFFF"/>
                </a:solidFill>
                <a:latin typeface="Comic Sans MS" panose="030F0702030302020204" pitchFamily="66" charset="0"/>
              </a:rPr>
              <a:t>This plot shows how </a:t>
            </a:r>
            <a:r>
              <a:rPr lang="en-US" sz="1600" b="1" dirty="0">
                <a:solidFill>
                  <a:srgbClr val="00FFFF"/>
                </a:solidFill>
                <a:latin typeface="Comic Sans MS" panose="030F0702030302020204" pitchFamily="66" charset="0"/>
              </a:rPr>
              <a:t>GDP</a:t>
            </a:r>
            <a:r>
              <a:rPr lang="en-US" sz="1600" dirty="0">
                <a:solidFill>
                  <a:srgbClr val="00FFFF"/>
                </a:solidFill>
                <a:latin typeface="Comic Sans MS" panose="030F0702030302020204" pitchFamily="66" charset="0"/>
              </a:rPr>
              <a:t> relates to </a:t>
            </a:r>
            <a:r>
              <a:rPr lang="en-US" sz="1600" b="1" dirty="0">
                <a:solidFill>
                  <a:srgbClr val="00FFFF"/>
                </a:solidFill>
                <a:latin typeface="Comic Sans MS" panose="030F0702030302020204" pitchFamily="66" charset="0"/>
              </a:rPr>
              <a:t>Life Expectancy</a:t>
            </a:r>
            <a:r>
              <a:rPr lang="en-US" sz="1600" dirty="0">
                <a:solidFill>
                  <a:srgbClr val="00FFFF"/>
                </a:solidFill>
                <a:latin typeface="Comic Sans MS" panose="030F0702030302020204" pitchFamily="66" charset="0"/>
              </a:rPr>
              <a:t> across continents.</a:t>
            </a:r>
          </a:p>
          <a:p>
            <a:r>
              <a:rPr lang="en-US" sz="1600" b="1" dirty="0">
                <a:solidFill>
                  <a:srgbClr val="00FFFF"/>
                </a:solidFill>
                <a:latin typeface="Comic Sans MS" panose="030F0702030302020204" pitchFamily="66" charset="0"/>
              </a:rPr>
              <a:t>Europe &amp; Oceania</a:t>
            </a:r>
            <a:r>
              <a:rPr lang="en-US" sz="1600" dirty="0">
                <a:solidFill>
                  <a:srgbClr val="00FFFF"/>
                </a:solidFill>
                <a:latin typeface="Comic Sans MS" panose="030F0702030302020204" pitchFamily="66" charset="0"/>
              </a:rPr>
              <a:t>: High GDP, long life.</a:t>
            </a:r>
          </a:p>
          <a:p>
            <a:r>
              <a:rPr lang="en-US" sz="1600" b="1" dirty="0">
                <a:solidFill>
                  <a:srgbClr val="00FFFF"/>
                </a:solidFill>
                <a:latin typeface="Comic Sans MS" panose="030F0702030302020204" pitchFamily="66" charset="0"/>
              </a:rPr>
              <a:t>Africa</a:t>
            </a:r>
            <a:r>
              <a:rPr lang="en-US" sz="1600" dirty="0">
                <a:solidFill>
                  <a:srgbClr val="00FFFF"/>
                </a:solidFill>
                <a:latin typeface="Comic Sans MS" panose="030F0702030302020204" pitchFamily="66" charset="0"/>
              </a:rPr>
              <a:t>: Low GDP, shorter life.</a:t>
            </a:r>
          </a:p>
          <a:p>
            <a:r>
              <a:rPr lang="en-US" sz="1600" b="1" dirty="0">
                <a:solidFill>
                  <a:srgbClr val="00FFFF"/>
                </a:solidFill>
                <a:latin typeface="Comic Sans MS" panose="030F0702030302020204" pitchFamily="66" charset="0"/>
              </a:rPr>
              <a:t>Asia</a:t>
            </a:r>
            <a:r>
              <a:rPr lang="en-US" sz="1600" dirty="0">
                <a:solidFill>
                  <a:srgbClr val="00FFFF"/>
                </a:solidFill>
                <a:latin typeface="Comic Sans MS" panose="030F0702030302020204" pitchFamily="66" charset="0"/>
              </a:rPr>
              <a:t>: Mixed—some rich and healthy, others less so.</a:t>
            </a:r>
          </a:p>
          <a:p>
            <a:r>
              <a:rPr lang="en-US" sz="1600" b="1" dirty="0">
                <a:solidFill>
                  <a:srgbClr val="00FFFF"/>
                </a:solidFill>
                <a:latin typeface="Comic Sans MS" panose="030F0702030302020204" pitchFamily="66" charset="0"/>
              </a:rPr>
              <a:t>North America</a:t>
            </a:r>
            <a:r>
              <a:rPr lang="en-US" sz="1600" dirty="0">
                <a:solidFill>
                  <a:srgbClr val="00FFFF"/>
                </a:solidFill>
                <a:latin typeface="Comic Sans MS" panose="030F0702030302020204" pitchFamily="66" charset="0"/>
              </a:rPr>
              <a:t>: Mostly high GDP and life expectancy.</a:t>
            </a:r>
          </a:p>
          <a:p>
            <a:r>
              <a:rPr lang="en-US" sz="1600" b="1" dirty="0">
                <a:solidFill>
                  <a:srgbClr val="00FFFF"/>
                </a:solidFill>
                <a:latin typeface="Comic Sans MS" panose="030F0702030302020204" pitchFamily="66" charset="0"/>
              </a:rPr>
              <a:t>South America</a:t>
            </a:r>
            <a:r>
              <a:rPr lang="en-US" sz="1600" dirty="0">
                <a:solidFill>
                  <a:srgbClr val="00FFFF"/>
                </a:solidFill>
                <a:latin typeface="Comic Sans MS" panose="030F0702030302020204" pitchFamily="66" charset="0"/>
              </a:rPr>
              <a:t>: Moderate GDP, mixed outcomes.</a:t>
            </a:r>
          </a:p>
          <a:p>
            <a:r>
              <a:rPr lang="en-US" sz="1600" b="1" dirty="0">
                <a:solidFill>
                  <a:srgbClr val="FFFF00"/>
                </a:solidFill>
                <a:latin typeface="Comic Sans MS" panose="030F0702030302020204" pitchFamily="66" charset="0"/>
              </a:rPr>
              <a:t>Trend</a:t>
            </a:r>
            <a:r>
              <a:rPr lang="en-US" sz="1600" dirty="0">
                <a:solidFill>
                  <a:srgbClr val="FFFF00"/>
                </a:solidFill>
                <a:latin typeface="Comic Sans MS" panose="030F0702030302020204" pitchFamily="66" charset="0"/>
              </a:rPr>
              <a:t>:</a:t>
            </a:r>
            <a:br>
              <a:rPr lang="en-US" sz="1600" dirty="0">
                <a:solidFill>
                  <a:srgbClr val="FFFF00"/>
                </a:solidFill>
                <a:latin typeface="Comic Sans MS" panose="030F0702030302020204" pitchFamily="66" charset="0"/>
              </a:rPr>
            </a:br>
            <a:r>
              <a:rPr lang="en-US" sz="1600" b="1" dirty="0">
                <a:solidFill>
                  <a:srgbClr val="FFFF00"/>
                </a:solidFill>
                <a:latin typeface="Comic Sans MS" panose="030F0702030302020204" pitchFamily="66" charset="0"/>
              </a:rPr>
              <a:t>Higher GDP usually means longer life</a:t>
            </a:r>
            <a:r>
              <a:rPr lang="en-US" sz="1600" dirty="0">
                <a:solidFill>
                  <a:srgbClr val="FFFF00"/>
                </a:solidFill>
                <a:latin typeface="Comic Sans MS" panose="030F0702030302020204" pitchFamily="66" charset="0"/>
              </a:rPr>
              <a:t>, due to better healthcare and living conditions.</a:t>
            </a:r>
          </a:p>
          <a:p>
            <a:r>
              <a:rPr lang="en-US" sz="1600" dirty="0">
                <a:solidFill>
                  <a:srgbClr val="FFFF00"/>
                </a:solidFill>
                <a:latin typeface="Comic Sans MS" panose="030F0702030302020204" pitchFamily="66" charset="0"/>
              </a:rPr>
              <a:t>Some rich countries don’t live longer—</a:t>
            </a:r>
            <a:r>
              <a:rPr lang="en-US" sz="1600" b="1" dirty="0">
                <a:solidFill>
                  <a:srgbClr val="FFFF00"/>
                </a:solidFill>
                <a:latin typeface="Comic Sans MS" panose="030F0702030302020204" pitchFamily="66" charset="0"/>
              </a:rPr>
              <a:t>how money is used matters</a:t>
            </a:r>
            <a:r>
              <a:rPr lang="en-US" sz="1600" dirty="0">
                <a:solidFill>
                  <a:srgbClr val="FFFF00"/>
                </a:solidFill>
                <a:latin typeface="Comic Sans MS" panose="030F0702030302020204" pitchFamily="66" charset="0"/>
              </a:rPr>
              <a:t>.</a:t>
            </a:r>
            <a:br>
              <a:rPr lang="en-US" sz="1600" dirty="0">
                <a:solidFill>
                  <a:srgbClr val="FFFF00"/>
                </a:solidFill>
                <a:latin typeface="Comic Sans MS" panose="030F0702030302020204" pitchFamily="66" charset="0"/>
              </a:rPr>
            </a:br>
            <a:r>
              <a:rPr lang="en-US" sz="1600" b="1" dirty="0">
                <a:solidFill>
                  <a:srgbClr val="FFFF00"/>
                </a:solidFill>
                <a:latin typeface="Comic Sans MS" panose="030F0702030302020204" pitchFamily="66" charset="0"/>
              </a:rPr>
              <a:t>Wealth helps, but smart spending improves health most.</a:t>
            </a:r>
            <a:endParaRPr lang="en-US" sz="1600" dirty="0">
              <a:solidFill>
                <a:srgbClr val="FFFF00"/>
              </a:solidFill>
              <a:latin typeface="Comic Sans MS" panose="030F0702030302020204" pitchFamily="66" charset="0"/>
            </a:endParaRPr>
          </a:p>
          <a:p>
            <a:endParaRPr lang="en-IN" sz="1600" dirty="0"/>
          </a:p>
        </p:txBody>
      </p:sp>
    </p:spTree>
    <p:extLst>
      <p:ext uri="{BB962C8B-B14F-4D97-AF65-F5344CB8AC3E}">
        <p14:creationId xmlns:p14="http://schemas.microsoft.com/office/powerpoint/2010/main" val="11965534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C7B79-A872-BC6A-13A7-1E0BFD605014}"/>
              </a:ext>
            </a:extLst>
          </p:cNvPr>
          <p:cNvSpPr>
            <a:spLocks noGrp="1"/>
          </p:cNvSpPr>
          <p:nvPr>
            <p:ph type="title"/>
          </p:nvPr>
        </p:nvSpPr>
        <p:spPr>
          <a:xfrm>
            <a:off x="119743" y="130629"/>
            <a:ext cx="11419113" cy="794658"/>
          </a:xfrm>
        </p:spPr>
        <p:txBody>
          <a:bodyPr/>
          <a:lstStyle/>
          <a:p>
            <a:r>
              <a:rPr lang="en-US" b="1" dirty="0">
                <a:latin typeface="+mn-lt"/>
              </a:rPr>
              <a:t>KEY INSIGHTS:</a:t>
            </a:r>
            <a:endParaRPr lang="en-IN" b="1" dirty="0">
              <a:latin typeface="+mn-lt"/>
            </a:endParaRPr>
          </a:p>
        </p:txBody>
      </p:sp>
      <p:graphicFrame>
        <p:nvGraphicFramePr>
          <p:cNvPr id="4" name="Content Placeholder 3">
            <a:extLst>
              <a:ext uri="{FF2B5EF4-FFF2-40B4-BE49-F238E27FC236}">
                <a16:creationId xmlns:a16="http://schemas.microsoft.com/office/drawing/2014/main" id="{855F77D7-83B5-A4A8-27C0-BB1248AAE71C}"/>
              </a:ext>
            </a:extLst>
          </p:cNvPr>
          <p:cNvGraphicFramePr>
            <a:graphicFrameLocks noGrp="1"/>
          </p:cNvGraphicFramePr>
          <p:nvPr>
            <p:ph idx="1"/>
            <p:extLst>
              <p:ext uri="{D42A27DB-BD31-4B8C-83A1-F6EECF244321}">
                <p14:modId xmlns:p14="http://schemas.microsoft.com/office/powerpoint/2010/main" val="782193569"/>
              </p:ext>
            </p:extLst>
          </p:nvPr>
        </p:nvGraphicFramePr>
        <p:xfrm>
          <a:off x="217714" y="925287"/>
          <a:ext cx="11506200" cy="5802087"/>
        </p:xfrm>
        <a:graphic>
          <a:graphicData uri="http://schemas.openxmlformats.org/drawingml/2006/table">
            <a:tbl>
              <a:tblPr>
                <a:tableStyleId>{616DA210-FB5B-4158-B5E0-FEB733F419BA}</a:tableStyleId>
              </a:tblPr>
              <a:tblGrid>
                <a:gridCol w="5753100">
                  <a:extLst>
                    <a:ext uri="{9D8B030D-6E8A-4147-A177-3AD203B41FA5}">
                      <a16:colId xmlns:a16="http://schemas.microsoft.com/office/drawing/2014/main" val="1190865771"/>
                    </a:ext>
                  </a:extLst>
                </a:gridCol>
                <a:gridCol w="5753100">
                  <a:extLst>
                    <a:ext uri="{9D8B030D-6E8A-4147-A177-3AD203B41FA5}">
                      <a16:colId xmlns:a16="http://schemas.microsoft.com/office/drawing/2014/main" val="2839355308"/>
                    </a:ext>
                  </a:extLst>
                </a:gridCol>
              </a:tblGrid>
              <a:tr h="429475">
                <a:tc>
                  <a:txBody>
                    <a:bodyPr/>
                    <a:lstStyle/>
                    <a:p>
                      <a:r>
                        <a:rPr lang="en-IN" sz="1600" b="1">
                          <a:solidFill>
                            <a:srgbClr val="FFFF00"/>
                          </a:solidFill>
                          <a:latin typeface="Comic Sans MS" panose="030F0702030302020204" pitchFamily="66" charset="0"/>
                        </a:rPr>
                        <a:t>Insight</a:t>
                      </a:r>
                      <a:endParaRPr lang="en-IN" sz="1600">
                        <a:solidFill>
                          <a:srgbClr val="FFFF00"/>
                        </a:solidFill>
                        <a:latin typeface="Comic Sans MS" panose="030F0702030302020204" pitchFamily="66" charset="0"/>
                      </a:endParaRPr>
                    </a:p>
                  </a:txBody>
                  <a:tcPr marL="80580" marR="80580" marT="40290" marB="40290" anchor="ctr"/>
                </a:tc>
                <a:tc>
                  <a:txBody>
                    <a:bodyPr/>
                    <a:lstStyle/>
                    <a:p>
                      <a:r>
                        <a:rPr lang="en-IN" sz="1600" b="1">
                          <a:solidFill>
                            <a:srgbClr val="00FFFF"/>
                          </a:solidFill>
                          <a:latin typeface="Comic Sans MS" panose="030F0702030302020204" pitchFamily="66" charset="0"/>
                        </a:rPr>
                        <a:t>Description</a:t>
                      </a:r>
                      <a:endParaRPr lang="en-IN" sz="1600">
                        <a:solidFill>
                          <a:srgbClr val="00FFFF"/>
                        </a:solidFill>
                        <a:latin typeface="Comic Sans MS" panose="030F0702030302020204" pitchFamily="66" charset="0"/>
                      </a:endParaRPr>
                    </a:p>
                  </a:txBody>
                  <a:tcPr marL="80580" marR="80580" marT="40290" marB="40290" anchor="ctr"/>
                </a:tc>
                <a:extLst>
                  <a:ext uri="{0D108BD9-81ED-4DB2-BD59-A6C34878D82A}">
                    <a16:rowId xmlns:a16="http://schemas.microsoft.com/office/drawing/2014/main" val="3420014038"/>
                  </a:ext>
                </a:extLst>
              </a:tr>
              <a:tr h="752277">
                <a:tc>
                  <a:txBody>
                    <a:bodyPr/>
                    <a:lstStyle/>
                    <a:p>
                      <a:r>
                        <a:rPr lang="en-IN" sz="1600" b="1" dirty="0">
                          <a:solidFill>
                            <a:srgbClr val="FFFF00"/>
                          </a:solidFill>
                          <a:latin typeface="Comic Sans MS" panose="030F0702030302020204" pitchFamily="66" charset="0"/>
                        </a:rPr>
                        <a:t>Highest Average GDP (Continent)</a:t>
                      </a:r>
                      <a:endParaRPr lang="en-IN" sz="1600" dirty="0">
                        <a:solidFill>
                          <a:srgbClr val="FFFF00"/>
                        </a:solidFill>
                        <a:latin typeface="Comic Sans MS" panose="030F0702030302020204" pitchFamily="66" charset="0"/>
                      </a:endParaRPr>
                    </a:p>
                  </a:txBody>
                  <a:tcPr marL="80580" marR="80580" marT="40290" marB="40290" anchor="ctr"/>
                </a:tc>
                <a:tc>
                  <a:txBody>
                    <a:bodyPr/>
                    <a:lstStyle/>
                    <a:p>
                      <a:r>
                        <a:rPr lang="en-US" sz="1600" b="1">
                          <a:solidFill>
                            <a:srgbClr val="00FFFF"/>
                          </a:solidFill>
                          <a:latin typeface="Comic Sans MS" panose="030F0702030302020204" pitchFamily="66" charset="0"/>
                        </a:rPr>
                        <a:t>Europe</a:t>
                      </a:r>
                      <a:r>
                        <a:rPr lang="en-US" sz="1600">
                          <a:solidFill>
                            <a:srgbClr val="00FFFF"/>
                          </a:solidFill>
                          <a:latin typeface="Comic Sans MS" panose="030F0702030302020204" pitchFamily="66" charset="0"/>
                        </a:rPr>
                        <a:t> has the highest average GDP at </a:t>
                      </a:r>
                      <a:r>
                        <a:rPr lang="en-US" sz="1600" b="1">
                          <a:solidFill>
                            <a:srgbClr val="00FFFF"/>
                          </a:solidFill>
                          <a:latin typeface="Comic Sans MS" panose="030F0702030302020204" pitchFamily="66" charset="0"/>
                        </a:rPr>
                        <a:t>17,447.57</a:t>
                      </a:r>
                      <a:r>
                        <a:rPr lang="en-US" sz="1600">
                          <a:solidFill>
                            <a:srgbClr val="00FFFF"/>
                          </a:solidFill>
                          <a:latin typeface="Comic Sans MS" panose="030F0702030302020204" pitchFamily="66" charset="0"/>
                        </a:rPr>
                        <a:t>, showing strong economies.</a:t>
                      </a:r>
                    </a:p>
                  </a:txBody>
                  <a:tcPr marL="80580" marR="80580" marT="40290" marB="40290" anchor="ctr"/>
                </a:tc>
                <a:extLst>
                  <a:ext uri="{0D108BD9-81ED-4DB2-BD59-A6C34878D82A}">
                    <a16:rowId xmlns:a16="http://schemas.microsoft.com/office/drawing/2014/main" val="2693740434"/>
                  </a:ext>
                </a:extLst>
              </a:tr>
              <a:tr h="752277">
                <a:tc>
                  <a:txBody>
                    <a:bodyPr/>
                    <a:lstStyle/>
                    <a:p>
                      <a:r>
                        <a:rPr lang="en-IN" sz="1600" b="1">
                          <a:solidFill>
                            <a:srgbClr val="FFFF00"/>
                          </a:solidFill>
                          <a:latin typeface="Comic Sans MS" panose="030F0702030302020204" pitchFamily="66" charset="0"/>
                        </a:rPr>
                        <a:t>Lowest Average GDP (Continent)</a:t>
                      </a:r>
                      <a:endParaRPr lang="en-IN" sz="1600">
                        <a:solidFill>
                          <a:srgbClr val="FFFF00"/>
                        </a:solidFill>
                        <a:latin typeface="Comic Sans MS" panose="030F0702030302020204" pitchFamily="66" charset="0"/>
                      </a:endParaRPr>
                    </a:p>
                  </a:txBody>
                  <a:tcPr marL="80580" marR="80580" marT="40290" marB="40290" anchor="ctr"/>
                </a:tc>
                <a:tc>
                  <a:txBody>
                    <a:bodyPr/>
                    <a:lstStyle/>
                    <a:p>
                      <a:r>
                        <a:rPr lang="en-US" sz="1600" b="1">
                          <a:solidFill>
                            <a:srgbClr val="00FFFF"/>
                          </a:solidFill>
                          <a:latin typeface="Comic Sans MS" panose="030F0702030302020204" pitchFamily="66" charset="0"/>
                        </a:rPr>
                        <a:t>Africa</a:t>
                      </a:r>
                      <a:r>
                        <a:rPr lang="en-US" sz="1600">
                          <a:solidFill>
                            <a:srgbClr val="00FFFF"/>
                          </a:solidFill>
                          <a:latin typeface="Comic Sans MS" panose="030F0702030302020204" pitchFamily="66" charset="0"/>
                        </a:rPr>
                        <a:t> has the lowest average GDP at </a:t>
                      </a:r>
                      <a:r>
                        <a:rPr lang="en-US" sz="1600" b="1">
                          <a:solidFill>
                            <a:srgbClr val="00FFFF"/>
                          </a:solidFill>
                          <a:latin typeface="Comic Sans MS" panose="030F0702030302020204" pitchFamily="66" charset="0"/>
                        </a:rPr>
                        <a:t>1,554.45</a:t>
                      </a:r>
                      <a:r>
                        <a:rPr lang="en-US" sz="1600">
                          <a:solidFill>
                            <a:srgbClr val="00FFFF"/>
                          </a:solidFill>
                          <a:latin typeface="Comic Sans MS" panose="030F0702030302020204" pitchFamily="66" charset="0"/>
                        </a:rPr>
                        <a:t>, reflecting economic struggles.</a:t>
                      </a:r>
                    </a:p>
                  </a:txBody>
                  <a:tcPr marL="80580" marR="80580" marT="40290" marB="40290" anchor="ctr"/>
                </a:tc>
                <a:extLst>
                  <a:ext uri="{0D108BD9-81ED-4DB2-BD59-A6C34878D82A}">
                    <a16:rowId xmlns:a16="http://schemas.microsoft.com/office/drawing/2014/main" val="2426312625"/>
                  </a:ext>
                </a:extLst>
              </a:tr>
              <a:tr h="429475">
                <a:tc>
                  <a:txBody>
                    <a:bodyPr/>
                    <a:lstStyle/>
                    <a:p>
                      <a:r>
                        <a:rPr lang="en-IN" sz="1600" b="1">
                          <a:solidFill>
                            <a:srgbClr val="FFFF00"/>
                          </a:solidFill>
                          <a:latin typeface="Comic Sans MS" panose="030F0702030302020204" pitchFamily="66" charset="0"/>
                        </a:rPr>
                        <a:t>Highest Total GDP (Continent)</a:t>
                      </a:r>
                      <a:endParaRPr lang="en-IN" sz="1600">
                        <a:solidFill>
                          <a:srgbClr val="FFFF00"/>
                        </a:solidFill>
                        <a:latin typeface="Comic Sans MS" panose="030F0702030302020204" pitchFamily="66" charset="0"/>
                      </a:endParaRPr>
                    </a:p>
                  </a:txBody>
                  <a:tcPr marL="80580" marR="80580" marT="40290" marB="40290" anchor="ctr"/>
                </a:tc>
                <a:tc>
                  <a:txBody>
                    <a:bodyPr/>
                    <a:lstStyle/>
                    <a:p>
                      <a:r>
                        <a:rPr lang="en-US" sz="1600" b="1">
                          <a:solidFill>
                            <a:srgbClr val="00FFFF"/>
                          </a:solidFill>
                          <a:latin typeface="Comic Sans MS" panose="030F0702030302020204" pitchFamily="66" charset="0"/>
                        </a:rPr>
                        <a:t>Europe</a:t>
                      </a:r>
                      <a:r>
                        <a:rPr lang="en-US" sz="1600">
                          <a:solidFill>
                            <a:srgbClr val="00FFFF"/>
                          </a:solidFill>
                          <a:latin typeface="Comic Sans MS" panose="030F0702030302020204" pitchFamily="66" charset="0"/>
                        </a:rPr>
                        <a:t> has the highest total GDP over the years.</a:t>
                      </a:r>
                    </a:p>
                  </a:txBody>
                  <a:tcPr marL="80580" marR="80580" marT="40290" marB="40290" anchor="ctr"/>
                </a:tc>
                <a:extLst>
                  <a:ext uri="{0D108BD9-81ED-4DB2-BD59-A6C34878D82A}">
                    <a16:rowId xmlns:a16="http://schemas.microsoft.com/office/drawing/2014/main" val="733544797"/>
                  </a:ext>
                </a:extLst>
              </a:tr>
              <a:tr h="429475">
                <a:tc>
                  <a:txBody>
                    <a:bodyPr/>
                    <a:lstStyle/>
                    <a:p>
                      <a:r>
                        <a:rPr lang="en-IN" sz="1600" b="1">
                          <a:solidFill>
                            <a:srgbClr val="FFFF00"/>
                          </a:solidFill>
                          <a:latin typeface="Comic Sans MS" panose="030F0702030302020204" pitchFamily="66" charset="0"/>
                        </a:rPr>
                        <a:t>Lowest Total GDP (Continent)</a:t>
                      </a:r>
                      <a:endParaRPr lang="en-IN" sz="1600">
                        <a:solidFill>
                          <a:srgbClr val="FFFF00"/>
                        </a:solidFill>
                        <a:latin typeface="Comic Sans MS" panose="030F0702030302020204" pitchFamily="66" charset="0"/>
                      </a:endParaRPr>
                    </a:p>
                  </a:txBody>
                  <a:tcPr marL="80580" marR="80580" marT="40290" marB="40290" anchor="ctr"/>
                </a:tc>
                <a:tc>
                  <a:txBody>
                    <a:bodyPr/>
                    <a:lstStyle/>
                    <a:p>
                      <a:r>
                        <a:rPr lang="en-US" sz="1600" b="1">
                          <a:solidFill>
                            <a:srgbClr val="00FFFF"/>
                          </a:solidFill>
                          <a:latin typeface="Comic Sans MS" panose="030F0702030302020204" pitchFamily="66" charset="0"/>
                        </a:rPr>
                        <a:t>South America</a:t>
                      </a:r>
                      <a:r>
                        <a:rPr lang="en-US" sz="1600">
                          <a:solidFill>
                            <a:srgbClr val="00FFFF"/>
                          </a:solidFill>
                          <a:latin typeface="Comic Sans MS" panose="030F0702030302020204" pitchFamily="66" charset="0"/>
                        </a:rPr>
                        <a:t> has the lowest total GDP overall.</a:t>
                      </a:r>
                    </a:p>
                  </a:txBody>
                  <a:tcPr marL="80580" marR="80580" marT="40290" marB="40290" anchor="ctr"/>
                </a:tc>
                <a:extLst>
                  <a:ext uri="{0D108BD9-81ED-4DB2-BD59-A6C34878D82A}">
                    <a16:rowId xmlns:a16="http://schemas.microsoft.com/office/drawing/2014/main" val="1669411301"/>
                  </a:ext>
                </a:extLst>
              </a:tr>
              <a:tr h="752277">
                <a:tc>
                  <a:txBody>
                    <a:bodyPr/>
                    <a:lstStyle/>
                    <a:p>
                      <a:r>
                        <a:rPr lang="en-US" sz="1600" b="1">
                          <a:solidFill>
                            <a:srgbClr val="FFFF00"/>
                          </a:solidFill>
                          <a:latin typeface="Comic Sans MS" panose="030F0702030302020204" pitchFamily="66" charset="0"/>
                        </a:rPr>
                        <a:t>Top Countries by Total GDP (All Years)</a:t>
                      </a:r>
                      <a:endParaRPr lang="en-US" sz="1600">
                        <a:solidFill>
                          <a:srgbClr val="FFFF00"/>
                        </a:solidFill>
                        <a:latin typeface="Comic Sans MS" panose="030F0702030302020204" pitchFamily="66" charset="0"/>
                      </a:endParaRPr>
                    </a:p>
                  </a:txBody>
                  <a:tcPr marL="80580" marR="80580" marT="40290" marB="40290" anchor="ctr"/>
                </a:tc>
                <a:tc>
                  <a:txBody>
                    <a:bodyPr/>
                    <a:lstStyle/>
                    <a:p>
                      <a:r>
                        <a:rPr lang="en-US" sz="1600" b="1">
                          <a:solidFill>
                            <a:srgbClr val="00FFFF"/>
                          </a:solidFill>
                          <a:latin typeface="Comic Sans MS" panose="030F0702030302020204" pitchFamily="66" charset="0"/>
                        </a:rPr>
                        <a:t>Switzerland</a:t>
                      </a:r>
                      <a:r>
                        <a:rPr lang="en-US" sz="1600">
                          <a:solidFill>
                            <a:srgbClr val="00FFFF"/>
                          </a:solidFill>
                          <a:latin typeface="Comic Sans MS" panose="030F0702030302020204" pitchFamily="66" charset="0"/>
                        </a:rPr>
                        <a:t> ranks first, followed by </a:t>
                      </a:r>
                      <a:r>
                        <a:rPr lang="en-US" sz="1600" b="1">
                          <a:solidFill>
                            <a:srgbClr val="00FFFF"/>
                          </a:solidFill>
                          <a:latin typeface="Comic Sans MS" panose="030F0702030302020204" pitchFamily="66" charset="0"/>
                        </a:rPr>
                        <a:t>Luxembourg, Qatar, Netherlands, and Australia</a:t>
                      </a:r>
                      <a:r>
                        <a:rPr lang="en-US" sz="1600">
                          <a:solidFill>
                            <a:srgbClr val="00FFFF"/>
                          </a:solidFill>
                          <a:latin typeface="Comic Sans MS" panose="030F0702030302020204" pitchFamily="66" charset="0"/>
                        </a:rPr>
                        <a:t>.</a:t>
                      </a:r>
                    </a:p>
                  </a:txBody>
                  <a:tcPr marL="80580" marR="80580" marT="40290" marB="40290" anchor="ctr"/>
                </a:tc>
                <a:extLst>
                  <a:ext uri="{0D108BD9-81ED-4DB2-BD59-A6C34878D82A}">
                    <a16:rowId xmlns:a16="http://schemas.microsoft.com/office/drawing/2014/main" val="3470828255"/>
                  </a:ext>
                </a:extLst>
              </a:tr>
              <a:tr h="752277">
                <a:tc>
                  <a:txBody>
                    <a:bodyPr/>
                    <a:lstStyle/>
                    <a:p>
                      <a:r>
                        <a:rPr lang="en-IN" sz="1600" b="1">
                          <a:solidFill>
                            <a:srgbClr val="FFFF00"/>
                          </a:solidFill>
                          <a:latin typeface="Comic Sans MS" panose="030F0702030302020204" pitchFamily="66" charset="0"/>
                        </a:rPr>
                        <a:t>Lowest GDP (All Years)</a:t>
                      </a:r>
                      <a:endParaRPr lang="en-IN" sz="1600">
                        <a:solidFill>
                          <a:srgbClr val="FFFF00"/>
                        </a:solidFill>
                        <a:latin typeface="Comic Sans MS" panose="030F0702030302020204" pitchFamily="66" charset="0"/>
                      </a:endParaRPr>
                    </a:p>
                  </a:txBody>
                  <a:tcPr marL="80580" marR="80580" marT="40290" marB="40290" anchor="ctr"/>
                </a:tc>
                <a:tc>
                  <a:txBody>
                    <a:bodyPr/>
                    <a:lstStyle/>
                    <a:p>
                      <a:r>
                        <a:rPr lang="en-US" sz="1600" b="1">
                          <a:solidFill>
                            <a:srgbClr val="00FFFF"/>
                          </a:solidFill>
                          <a:latin typeface="Comic Sans MS" panose="030F0702030302020204" pitchFamily="66" charset="0"/>
                        </a:rPr>
                        <a:t>Nauru</a:t>
                      </a:r>
                      <a:r>
                        <a:rPr lang="en-US" sz="1600">
                          <a:solidFill>
                            <a:srgbClr val="00FFFF"/>
                          </a:solidFill>
                          <a:latin typeface="Comic Sans MS" panose="030F0702030302020204" pitchFamily="66" charset="0"/>
                        </a:rPr>
                        <a:t> has the lowest total GDP (</a:t>
                      </a:r>
                      <a:r>
                        <a:rPr lang="en-US" sz="1600" b="1">
                          <a:solidFill>
                            <a:srgbClr val="00FFFF"/>
                          </a:solidFill>
                          <a:latin typeface="Comic Sans MS" panose="030F0702030302020204" pitchFamily="66" charset="0"/>
                        </a:rPr>
                        <a:t>136.18</a:t>
                      </a:r>
                      <a:r>
                        <a:rPr lang="en-US" sz="1600">
                          <a:solidFill>
                            <a:srgbClr val="00FFFF"/>
                          </a:solidFill>
                          <a:latin typeface="Comic Sans MS" panose="030F0702030302020204" pitchFamily="66" charset="0"/>
                        </a:rPr>
                        <a:t>), followed by </a:t>
                      </a:r>
                      <a:r>
                        <a:rPr lang="en-US" sz="1600" b="1">
                          <a:solidFill>
                            <a:srgbClr val="00FFFF"/>
                          </a:solidFill>
                          <a:latin typeface="Comic Sans MS" panose="030F0702030302020204" pitchFamily="66" charset="0"/>
                        </a:rPr>
                        <a:t>Dominica (722)</a:t>
                      </a:r>
                      <a:r>
                        <a:rPr lang="en-US" sz="1600">
                          <a:solidFill>
                            <a:srgbClr val="00FFFF"/>
                          </a:solidFill>
                          <a:latin typeface="Comic Sans MS" panose="030F0702030302020204" pitchFamily="66" charset="0"/>
                        </a:rPr>
                        <a:t> and </a:t>
                      </a:r>
                      <a:r>
                        <a:rPr lang="en-US" sz="1600" b="1">
                          <a:solidFill>
                            <a:srgbClr val="00FFFF"/>
                          </a:solidFill>
                          <a:latin typeface="Comic Sans MS" panose="030F0702030302020204" pitchFamily="66" charset="0"/>
                        </a:rPr>
                        <a:t>Palau (1,932)</a:t>
                      </a:r>
                      <a:r>
                        <a:rPr lang="en-US" sz="1600">
                          <a:solidFill>
                            <a:srgbClr val="00FFFF"/>
                          </a:solidFill>
                          <a:latin typeface="Comic Sans MS" panose="030F0702030302020204" pitchFamily="66" charset="0"/>
                        </a:rPr>
                        <a:t>.</a:t>
                      </a:r>
                    </a:p>
                  </a:txBody>
                  <a:tcPr marL="80580" marR="80580" marT="40290" marB="40290" anchor="ctr"/>
                </a:tc>
                <a:extLst>
                  <a:ext uri="{0D108BD9-81ED-4DB2-BD59-A6C34878D82A}">
                    <a16:rowId xmlns:a16="http://schemas.microsoft.com/office/drawing/2014/main" val="3430762307"/>
                  </a:ext>
                </a:extLst>
              </a:tr>
              <a:tr h="752277">
                <a:tc>
                  <a:txBody>
                    <a:bodyPr/>
                    <a:lstStyle/>
                    <a:p>
                      <a:r>
                        <a:rPr lang="en-IN" sz="1600" b="1">
                          <a:solidFill>
                            <a:srgbClr val="FFFF00"/>
                          </a:solidFill>
                          <a:latin typeface="Comic Sans MS" panose="030F0702030302020204" pitchFamily="66" charset="0"/>
                        </a:rPr>
                        <a:t>Top GDP in 2015</a:t>
                      </a:r>
                      <a:endParaRPr lang="en-IN" sz="1600">
                        <a:solidFill>
                          <a:srgbClr val="FFFF00"/>
                        </a:solidFill>
                        <a:latin typeface="Comic Sans MS" panose="030F0702030302020204" pitchFamily="66" charset="0"/>
                      </a:endParaRPr>
                    </a:p>
                  </a:txBody>
                  <a:tcPr marL="80580" marR="80580" marT="40290" marB="40290" anchor="ctr"/>
                </a:tc>
                <a:tc>
                  <a:txBody>
                    <a:bodyPr/>
                    <a:lstStyle/>
                    <a:p>
                      <a:r>
                        <a:rPr lang="en-US" sz="1600" b="1">
                          <a:solidFill>
                            <a:srgbClr val="00FFFF"/>
                          </a:solidFill>
                          <a:latin typeface="Comic Sans MS" panose="030F0702030302020204" pitchFamily="66" charset="0"/>
                        </a:rPr>
                        <a:t>Qatar</a:t>
                      </a:r>
                      <a:r>
                        <a:rPr lang="en-US" sz="1600">
                          <a:solidFill>
                            <a:srgbClr val="00FFFF"/>
                          </a:solidFill>
                          <a:latin typeface="Comic Sans MS" panose="030F0702030302020204" pitchFamily="66" charset="0"/>
                        </a:rPr>
                        <a:t> had the highest GDP in </a:t>
                      </a:r>
                      <a:r>
                        <a:rPr lang="en-US" sz="1600" b="1">
                          <a:solidFill>
                            <a:srgbClr val="00FFFF"/>
                          </a:solidFill>
                          <a:latin typeface="Comic Sans MS" panose="030F0702030302020204" pitchFamily="66" charset="0"/>
                        </a:rPr>
                        <a:t>2015</a:t>
                      </a:r>
                      <a:r>
                        <a:rPr lang="en-US" sz="1600">
                          <a:solidFill>
                            <a:srgbClr val="00FFFF"/>
                          </a:solidFill>
                          <a:latin typeface="Comic Sans MS" panose="030F0702030302020204" pitchFamily="66" charset="0"/>
                        </a:rPr>
                        <a:t>, followed by </a:t>
                      </a:r>
                      <a:r>
                        <a:rPr lang="en-US" sz="1600" b="1">
                          <a:solidFill>
                            <a:srgbClr val="00FFFF"/>
                          </a:solidFill>
                          <a:latin typeface="Comic Sans MS" panose="030F0702030302020204" pitchFamily="66" charset="0"/>
                        </a:rPr>
                        <a:t>Australia, Singapore, Netherlands, and Austria</a:t>
                      </a:r>
                      <a:r>
                        <a:rPr lang="en-US" sz="1600">
                          <a:solidFill>
                            <a:srgbClr val="00FFFF"/>
                          </a:solidFill>
                          <a:latin typeface="Comic Sans MS" panose="030F0702030302020204" pitchFamily="66" charset="0"/>
                        </a:rPr>
                        <a:t>.</a:t>
                      </a:r>
                    </a:p>
                  </a:txBody>
                  <a:tcPr marL="80580" marR="80580" marT="40290" marB="40290" anchor="ctr"/>
                </a:tc>
                <a:extLst>
                  <a:ext uri="{0D108BD9-81ED-4DB2-BD59-A6C34878D82A}">
                    <a16:rowId xmlns:a16="http://schemas.microsoft.com/office/drawing/2014/main" val="3624973076"/>
                  </a:ext>
                </a:extLst>
              </a:tr>
              <a:tr h="752277">
                <a:tc>
                  <a:txBody>
                    <a:bodyPr/>
                    <a:lstStyle/>
                    <a:p>
                      <a:r>
                        <a:rPr lang="en-IN" sz="1600" b="1" dirty="0">
                          <a:solidFill>
                            <a:srgbClr val="FFFF00"/>
                          </a:solidFill>
                          <a:latin typeface="Comic Sans MS" panose="030F0702030302020204" pitchFamily="66" charset="0"/>
                        </a:rPr>
                        <a:t>Lowest GDP in 2015</a:t>
                      </a:r>
                      <a:endParaRPr lang="en-IN" sz="1600" dirty="0">
                        <a:solidFill>
                          <a:srgbClr val="FFFF00"/>
                        </a:solidFill>
                        <a:latin typeface="Comic Sans MS" panose="030F0702030302020204" pitchFamily="66" charset="0"/>
                      </a:endParaRPr>
                    </a:p>
                  </a:txBody>
                  <a:tcPr marL="80580" marR="80580" marT="40290" marB="40290" anchor="ctr"/>
                </a:tc>
                <a:tc>
                  <a:txBody>
                    <a:bodyPr/>
                    <a:lstStyle/>
                    <a:p>
                      <a:r>
                        <a:rPr lang="en-US" sz="1600" b="1" dirty="0">
                          <a:solidFill>
                            <a:srgbClr val="00FFFF"/>
                          </a:solidFill>
                          <a:latin typeface="Comic Sans MS" panose="030F0702030302020204" pitchFamily="66" charset="0"/>
                        </a:rPr>
                        <a:t>Burundi</a:t>
                      </a:r>
                      <a:r>
                        <a:rPr lang="en-US" sz="1600" dirty="0">
                          <a:solidFill>
                            <a:srgbClr val="00FFFF"/>
                          </a:solidFill>
                          <a:latin typeface="Comic Sans MS" panose="030F0702030302020204" pitchFamily="66" charset="0"/>
                        </a:rPr>
                        <a:t> had the lowest GDP (</a:t>
                      </a:r>
                      <a:r>
                        <a:rPr lang="en-US" sz="1600" b="1" dirty="0">
                          <a:solidFill>
                            <a:srgbClr val="00FFFF"/>
                          </a:solidFill>
                          <a:latin typeface="Comic Sans MS" panose="030F0702030302020204" pitchFamily="66" charset="0"/>
                        </a:rPr>
                        <a:t>33.68</a:t>
                      </a:r>
                      <a:r>
                        <a:rPr lang="en-US" sz="1600" dirty="0">
                          <a:solidFill>
                            <a:srgbClr val="00FFFF"/>
                          </a:solidFill>
                          <a:latin typeface="Comic Sans MS" panose="030F0702030302020204" pitchFamily="66" charset="0"/>
                        </a:rPr>
                        <a:t>), followed by </a:t>
                      </a:r>
                      <a:r>
                        <a:rPr lang="en-US" sz="1600" b="1" dirty="0">
                          <a:solidFill>
                            <a:srgbClr val="00FFFF"/>
                          </a:solidFill>
                          <a:latin typeface="Comic Sans MS" panose="030F0702030302020204" pitchFamily="66" charset="0"/>
                        </a:rPr>
                        <a:t>Madagascar (41)</a:t>
                      </a:r>
                      <a:r>
                        <a:rPr lang="en-US" sz="1600" dirty="0">
                          <a:solidFill>
                            <a:srgbClr val="00FFFF"/>
                          </a:solidFill>
                          <a:latin typeface="Comic Sans MS" panose="030F0702030302020204" pitchFamily="66" charset="0"/>
                        </a:rPr>
                        <a:t> and </a:t>
                      </a:r>
                      <a:r>
                        <a:rPr lang="en-US" sz="1600" b="1" dirty="0">
                          <a:solidFill>
                            <a:srgbClr val="00FFFF"/>
                          </a:solidFill>
                          <a:latin typeface="Comic Sans MS" panose="030F0702030302020204" pitchFamily="66" charset="0"/>
                        </a:rPr>
                        <a:t>Azerbaijan (55)</a:t>
                      </a:r>
                      <a:r>
                        <a:rPr lang="en-US" sz="1600" dirty="0">
                          <a:solidFill>
                            <a:srgbClr val="00FFFF"/>
                          </a:solidFill>
                          <a:latin typeface="Comic Sans MS" panose="030F0702030302020204" pitchFamily="66" charset="0"/>
                        </a:rPr>
                        <a:t>.</a:t>
                      </a:r>
                    </a:p>
                  </a:txBody>
                  <a:tcPr marL="80580" marR="80580" marT="40290" marB="40290" anchor="ctr"/>
                </a:tc>
                <a:extLst>
                  <a:ext uri="{0D108BD9-81ED-4DB2-BD59-A6C34878D82A}">
                    <a16:rowId xmlns:a16="http://schemas.microsoft.com/office/drawing/2014/main" val="1596190134"/>
                  </a:ext>
                </a:extLst>
              </a:tr>
            </a:tbl>
          </a:graphicData>
        </a:graphic>
      </p:graphicFrame>
    </p:spTree>
    <p:extLst>
      <p:ext uri="{BB962C8B-B14F-4D97-AF65-F5344CB8AC3E}">
        <p14:creationId xmlns:p14="http://schemas.microsoft.com/office/powerpoint/2010/main" val="1753926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24FFC-9662-7B2E-F43D-D61484D5444A}"/>
              </a:ext>
            </a:extLst>
          </p:cNvPr>
          <p:cNvSpPr>
            <a:spLocks noGrp="1"/>
          </p:cNvSpPr>
          <p:nvPr>
            <p:ph type="title"/>
          </p:nvPr>
        </p:nvSpPr>
        <p:spPr>
          <a:xfrm>
            <a:off x="272143" y="365126"/>
            <a:ext cx="5987143" cy="810531"/>
          </a:xfrm>
        </p:spPr>
        <p:txBody>
          <a:bodyPr/>
          <a:lstStyle/>
          <a:p>
            <a:r>
              <a:rPr lang="en-US" b="1" dirty="0">
                <a:latin typeface="+mn-lt"/>
              </a:rPr>
              <a:t>15. HIV/Aids</a:t>
            </a:r>
            <a:endParaRPr lang="en-IN" b="1" dirty="0">
              <a:latin typeface="+mn-lt"/>
            </a:endParaRPr>
          </a:p>
        </p:txBody>
      </p:sp>
      <p:pic>
        <p:nvPicPr>
          <p:cNvPr id="6" name="Content Placeholder 5">
            <a:extLst>
              <a:ext uri="{FF2B5EF4-FFF2-40B4-BE49-F238E27FC236}">
                <a16:creationId xmlns:a16="http://schemas.microsoft.com/office/drawing/2014/main" id="{B34A199F-8D01-E2AA-78BB-1D1434D029EB}"/>
              </a:ext>
            </a:extLst>
          </p:cNvPr>
          <p:cNvPicPr>
            <a:picLocks noGrp="1" noChangeAspect="1"/>
          </p:cNvPicPr>
          <p:nvPr>
            <p:ph sz="half" idx="1"/>
          </p:nvPr>
        </p:nvPicPr>
        <p:blipFill>
          <a:blip r:embed="rId2"/>
          <a:stretch>
            <a:fillRect/>
          </a:stretch>
        </p:blipFill>
        <p:spPr>
          <a:xfrm>
            <a:off x="163286" y="1457704"/>
            <a:ext cx="5856514" cy="5035170"/>
          </a:xfrm>
        </p:spPr>
      </p:pic>
      <p:sp>
        <p:nvSpPr>
          <p:cNvPr id="4" name="Content Placeholder 3">
            <a:extLst>
              <a:ext uri="{FF2B5EF4-FFF2-40B4-BE49-F238E27FC236}">
                <a16:creationId xmlns:a16="http://schemas.microsoft.com/office/drawing/2014/main" id="{60C5977D-9930-442D-CB9B-319917878A70}"/>
              </a:ext>
            </a:extLst>
          </p:cNvPr>
          <p:cNvSpPr>
            <a:spLocks noGrp="1"/>
          </p:cNvSpPr>
          <p:nvPr>
            <p:ph sz="half" idx="2"/>
          </p:nvPr>
        </p:nvSpPr>
        <p:spPr>
          <a:xfrm>
            <a:off x="6422571" y="185057"/>
            <a:ext cx="5856514" cy="6672943"/>
          </a:xfrm>
        </p:spPr>
        <p:txBody>
          <a:bodyPr>
            <a:noAutofit/>
          </a:bodyPr>
          <a:lstStyle/>
          <a:p>
            <a:r>
              <a:rPr lang="en-US" sz="1600" dirty="0">
                <a:solidFill>
                  <a:srgbClr val="FFFF00"/>
                </a:solidFill>
                <a:latin typeface="Comic Sans MS" panose="030F0702030302020204" pitchFamily="66" charset="0"/>
              </a:rPr>
              <a:t>Number of deaths caused by HIV/AIDS per 1,000 people in a country for a specific year.</a:t>
            </a:r>
          </a:p>
          <a:p>
            <a:pPr marL="0" indent="0">
              <a:buNone/>
            </a:pPr>
            <a:r>
              <a:rPr lang="en-US" sz="1600" dirty="0">
                <a:solidFill>
                  <a:srgbClr val="FFFF00"/>
                </a:solidFill>
                <a:latin typeface="Comic Sans MS" panose="030F0702030302020204" pitchFamily="66" charset="0"/>
              </a:rPr>
              <a:t>   This scatter plot shows how </a:t>
            </a:r>
            <a:r>
              <a:rPr lang="en-US" sz="1600" b="1" dirty="0">
                <a:solidFill>
                  <a:srgbClr val="FFFF00"/>
                </a:solidFill>
                <a:latin typeface="Comic Sans MS" panose="030F0702030302020204" pitchFamily="66" charset="0"/>
              </a:rPr>
              <a:t>HIV/AIDS prevalence</a:t>
            </a:r>
            <a:r>
              <a:rPr lang="en-US" sz="1600" dirty="0">
                <a:solidFill>
                  <a:srgbClr val="FFFF00"/>
                </a:solidFill>
                <a:latin typeface="Comic Sans MS" panose="030F0702030302020204" pitchFamily="66" charset="0"/>
              </a:rPr>
              <a:t> affects </a:t>
            </a:r>
            <a:r>
              <a:rPr lang="en-US" sz="1600" b="1" dirty="0">
                <a:solidFill>
                  <a:srgbClr val="FFFF00"/>
                </a:solidFill>
                <a:latin typeface="Comic Sans MS" panose="030F0702030302020204" pitchFamily="66" charset="0"/>
              </a:rPr>
              <a:t>Life  Expectancy</a:t>
            </a:r>
            <a:r>
              <a:rPr lang="en-US" sz="1600" dirty="0">
                <a:solidFill>
                  <a:srgbClr val="FFFF00"/>
                </a:solidFill>
                <a:latin typeface="Comic Sans MS" panose="030F0702030302020204" pitchFamily="66" charset="0"/>
              </a:rPr>
              <a:t> across continents.</a:t>
            </a:r>
          </a:p>
          <a:p>
            <a:endParaRPr lang="en-US" sz="1600" dirty="0">
              <a:latin typeface="Comic Sans MS" panose="030F0702030302020204" pitchFamily="66" charset="0"/>
            </a:endParaRPr>
          </a:p>
          <a:p>
            <a:r>
              <a:rPr lang="en-US" sz="1600" b="1" dirty="0">
                <a:solidFill>
                  <a:srgbClr val="FFFF00"/>
                </a:solidFill>
                <a:latin typeface="Comic Sans MS" panose="030F0702030302020204" pitchFamily="66" charset="0"/>
              </a:rPr>
              <a:t>1 Main Trend:</a:t>
            </a:r>
          </a:p>
          <a:p>
            <a:r>
              <a:rPr lang="en-US" sz="1600" b="1" dirty="0">
                <a:latin typeface="Comic Sans MS" panose="030F0702030302020204" pitchFamily="66" charset="0"/>
              </a:rPr>
              <a:t>Higher HIV/AIDS rates = Lower Life Expectancy</a:t>
            </a:r>
            <a:r>
              <a:rPr lang="en-US" sz="1600" dirty="0">
                <a:latin typeface="Comic Sans MS" panose="030F0702030302020204" pitchFamily="66" charset="0"/>
              </a:rPr>
              <a:t>.</a:t>
            </a:r>
          </a:p>
          <a:p>
            <a:r>
              <a:rPr lang="en-US" sz="1600" dirty="0">
                <a:latin typeface="Comic Sans MS" panose="030F0702030302020204" pitchFamily="66" charset="0"/>
              </a:rPr>
              <a:t>Countries with very high HIV cases often have </a:t>
            </a:r>
            <a:r>
              <a:rPr lang="en-US" sz="1600" b="1" dirty="0">
                <a:latin typeface="Comic Sans MS" panose="030F0702030302020204" pitchFamily="66" charset="0"/>
              </a:rPr>
              <a:t>life expectancy below 50 years</a:t>
            </a:r>
            <a:r>
              <a:rPr lang="en-US" sz="1600" dirty="0">
                <a:latin typeface="Comic Sans MS" panose="030F0702030302020204" pitchFamily="66" charset="0"/>
              </a:rPr>
              <a:t>.</a:t>
            </a:r>
          </a:p>
          <a:p>
            <a:pPr marL="0" indent="0">
              <a:buNone/>
            </a:pPr>
            <a:r>
              <a:rPr lang="en-US" sz="1600" b="1" dirty="0">
                <a:solidFill>
                  <a:srgbClr val="FFFF00"/>
                </a:solidFill>
                <a:latin typeface="Comic Sans MS" panose="030F0702030302020204" pitchFamily="66" charset="0"/>
              </a:rPr>
              <a:t>2 Regional Patterns:</a:t>
            </a:r>
          </a:p>
          <a:p>
            <a:r>
              <a:rPr lang="en-US" sz="1600" b="1" dirty="0">
                <a:latin typeface="Comic Sans MS" panose="030F0702030302020204" pitchFamily="66" charset="0"/>
              </a:rPr>
              <a:t>Africa</a:t>
            </a:r>
            <a:r>
              <a:rPr lang="en-US" sz="1600" dirty="0">
                <a:latin typeface="Comic Sans MS" panose="030F0702030302020204" pitchFamily="66" charset="0"/>
              </a:rPr>
              <a:t> has the </a:t>
            </a:r>
            <a:r>
              <a:rPr lang="en-US" sz="1600" b="1" dirty="0">
                <a:latin typeface="Comic Sans MS" panose="030F0702030302020204" pitchFamily="66" charset="0"/>
              </a:rPr>
              <a:t>highest HIV/AIDS rates</a:t>
            </a:r>
            <a:r>
              <a:rPr lang="en-US" sz="1600" dirty="0">
                <a:latin typeface="Comic Sans MS" panose="030F0702030302020204" pitchFamily="66" charset="0"/>
              </a:rPr>
              <a:t> and </a:t>
            </a:r>
            <a:r>
              <a:rPr lang="en-US" sz="1600" b="1" dirty="0">
                <a:latin typeface="Comic Sans MS" panose="030F0702030302020204" pitchFamily="66" charset="0"/>
              </a:rPr>
              <a:t>lowest life expectancy</a:t>
            </a:r>
            <a:r>
              <a:rPr lang="en-US" sz="1600" dirty="0">
                <a:latin typeface="Comic Sans MS" panose="030F0702030302020204" pitchFamily="66" charset="0"/>
              </a:rPr>
              <a:t>.</a:t>
            </a:r>
          </a:p>
          <a:p>
            <a:r>
              <a:rPr lang="en-US" sz="1600" b="1" dirty="0">
                <a:latin typeface="Comic Sans MS" panose="030F0702030302020204" pitchFamily="66" charset="0"/>
              </a:rPr>
              <a:t>Europe &amp; North America</a:t>
            </a:r>
            <a:r>
              <a:rPr lang="en-US" sz="1600" dirty="0">
                <a:latin typeface="Comic Sans MS" panose="030F0702030302020204" pitchFamily="66" charset="0"/>
              </a:rPr>
              <a:t> have </a:t>
            </a:r>
            <a:r>
              <a:rPr lang="en-US" sz="1600" b="1" dirty="0">
                <a:latin typeface="Comic Sans MS" panose="030F0702030302020204" pitchFamily="66" charset="0"/>
              </a:rPr>
              <a:t>low HIV rates</a:t>
            </a:r>
            <a:r>
              <a:rPr lang="en-US" sz="1600" dirty="0">
                <a:latin typeface="Comic Sans MS" panose="030F0702030302020204" pitchFamily="66" charset="0"/>
              </a:rPr>
              <a:t> and </a:t>
            </a:r>
            <a:r>
              <a:rPr lang="en-US" sz="1600" b="1" dirty="0">
                <a:latin typeface="Comic Sans MS" panose="030F0702030302020204" pitchFamily="66" charset="0"/>
              </a:rPr>
              <a:t>high life expectancy</a:t>
            </a:r>
            <a:r>
              <a:rPr lang="en-US" sz="1600" dirty="0">
                <a:latin typeface="Comic Sans MS" panose="030F0702030302020204" pitchFamily="66" charset="0"/>
              </a:rPr>
              <a:t>, thanks to strong healthcare.</a:t>
            </a:r>
          </a:p>
          <a:p>
            <a:r>
              <a:rPr lang="en-US" sz="1600" b="1" dirty="0">
                <a:latin typeface="Comic Sans MS" panose="030F0702030302020204" pitchFamily="66" charset="0"/>
              </a:rPr>
              <a:t>Asia &amp; Oceania</a:t>
            </a:r>
            <a:r>
              <a:rPr lang="en-US" sz="1600" dirty="0">
                <a:latin typeface="Comic Sans MS" panose="030F0702030302020204" pitchFamily="66" charset="0"/>
              </a:rPr>
              <a:t> show </a:t>
            </a:r>
            <a:r>
              <a:rPr lang="en-US" sz="1600" b="1" dirty="0">
                <a:latin typeface="Comic Sans MS" panose="030F0702030302020204" pitchFamily="66" charset="0"/>
              </a:rPr>
              <a:t>low HIV prevalence</a:t>
            </a:r>
            <a:r>
              <a:rPr lang="en-US" sz="1600" dirty="0">
                <a:latin typeface="Comic Sans MS" panose="030F0702030302020204" pitchFamily="66" charset="0"/>
              </a:rPr>
              <a:t> and </a:t>
            </a:r>
            <a:r>
              <a:rPr lang="en-US" sz="1600" b="1" dirty="0">
                <a:latin typeface="Comic Sans MS" panose="030F0702030302020204" pitchFamily="66" charset="0"/>
              </a:rPr>
              <a:t>better life outcomes</a:t>
            </a:r>
            <a:r>
              <a:rPr lang="en-US" sz="1600" dirty="0">
                <a:latin typeface="Comic Sans MS" panose="030F0702030302020204" pitchFamily="66" charset="0"/>
              </a:rPr>
              <a:t>.</a:t>
            </a:r>
          </a:p>
          <a:p>
            <a:r>
              <a:rPr lang="en-US" sz="1600" b="1" dirty="0">
                <a:latin typeface="Comic Sans MS" panose="030F0702030302020204" pitchFamily="66" charset="0"/>
              </a:rPr>
              <a:t>South America</a:t>
            </a:r>
            <a:r>
              <a:rPr lang="en-US" sz="1600" dirty="0">
                <a:latin typeface="Comic Sans MS" panose="030F0702030302020204" pitchFamily="66" charset="0"/>
              </a:rPr>
              <a:t> has </a:t>
            </a:r>
            <a:r>
              <a:rPr lang="en-US" sz="1600" b="1" dirty="0">
                <a:latin typeface="Comic Sans MS" panose="030F0702030302020204" pitchFamily="66" charset="0"/>
              </a:rPr>
              <a:t>moderate HIV rates</a:t>
            </a:r>
            <a:r>
              <a:rPr lang="en-US" sz="1600" dirty="0">
                <a:latin typeface="Comic Sans MS" panose="030F0702030302020204" pitchFamily="66" charset="0"/>
              </a:rPr>
              <a:t> and </a:t>
            </a:r>
            <a:r>
              <a:rPr lang="en-US" sz="1600" b="1" dirty="0">
                <a:latin typeface="Comic Sans MS" panose="030F0702030302020204" pitchFamily="66" charset="0"/>
              </a:rPr>
              <a:t>mixed life expectancy</a:t>
            </a:r>
            <a:r>
              <a:rPr lang="en-US" sz="1600" dirty="0">
                <a:latin typeface="Comic Sans MS" panose="030F0702030302020204" pitchFamily="66" charset="0"/>
              </a:rPr>
              <a:t>.</a:t>
            </a:r>
          </a:p>
          <a:p>
            <a:endParaRPr lang="en-US" sz="1600" dirty="0">
              <a:latin typeface="Comic Sans MS" panose="030F0702030302020204" pitchFamily="66" charset="0"/>
            </a:endParaRPr>
          </a:p>
          <a:p>
            <a:pPr marL="0" indent="0">
              <a:buNone/>
            </a:pPr>
            <a:r>
              <a:rPr lang="en-US" sz="1600" dirty="0">
                <a:solidFill>
                  <a:srgbClr val="FFFF00"/>
                </a:solidFill>
                <a:latin typeface="Comic Sans MS" panose="030F0702030302020204" pitchFamily="66" charset="0"/>
              </a:rPr>
              <a:t>3. </a:t>
            </a:r>
            <a:r>
              <a:rPr lang="en-US" sz="1600" b="1" dirty="0">
                <a:solidFill>
                  <a:srgbClr val="FFFF00"/>
                </a:solidFill>
                <a:latin typeface="Comic Sans MS" panose="030F0702030302020204" pitchFamily="66" charset="0"/>
              </a:rPr>
              <a:t>Takeaway:</a:t>
            </a:r>
            <a:br>
              <a:rPr lang="en-US" sz="1600" dirty="0">
                <a:latin typeface="Comic Sans MS" panose="030F0702030302020204" pitchFamily="66" charset="0"/>
              </a:rPr>
            </a:br>
            <a:r>
              <a:rPr lang="en-US" sz="1600" b="1" dirty="0">
                <a:latin typeface="Comic Sans MS" panose="030F0702030302020204" pitchFamily="66" charset="0"/>
              </a:rPr>
              <a:t>HIV/AIDS greatly reduces life expectancy</a:t>
            </a:r>
            <a:r>
              <a:rPr lang="en-US" sz="1600" dirty="0">
                <a:latin typeface="Comic Sans MS" panose="030F0702030302020204" pitchFamily="66" charset="0"/>
              </a:rPr>
              <a:t>, especially in Africa.</a:t>
            </a:r>
          </a:p>
          <a:p>
            <a:endParaRPr lang="en-US" sz="1600" dirty="0">
              <a:latin typeface="Comic Sans MS" panose="030F0702030302020204" pitchFamily="66" charset="0"/>
            </a:endParaRPr>
          </a:p>
          <a:p>
            <a:endParaRPr lang="en-IN" sz="1600" dirty="0">
              <a:latin typeface="Comic Sans MS" panose="030F0702030302020204" pitchFamily="66" charset="0"/>
            </a:endParaRPr>
          </a:p>
        </p:txBody>
      </p:sp>
    </p:spTree>
    <p:extLst>
      <p:ext uri="{BB962C8B-B14F-4D97-AF65-F5344CB8AC3E}">
        <p14:creationId xmlns:p14="http://schemas.microsoft.com/office/powerpoint/2010/main" val="4228321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BCB80-A857-6102-B410-E771A3A8A1AE}"/>
              </a:ext>
            </a:extLst>
          </p:cNvPr>
          <p:cNvSpPr>
            <a:spLocks noGrp="1"/>
          </p:cNvSpPr>
          <p:nvPr>
            <p:ph type="title"/>
          </p:nvPr>
        </p:nvSpPr>
        <p:spPr>
          <a:xfrm>
            <a:off x="217714" y="195944"/>
            <a:ext cx="4554312" cy="674913"/>
          </a:xfrm>
        </p:spPr>
        <p:txBody>
          <a:bodyPr>
            <a:noAutofit/>
          </a:bodyPr>
          <a:lstStyle/>
          <a:p>
            <a:r>
              <a:rPr lang="en-US" sz="4400" b="1" dirty="0">
                <a:solidFill>
                  <a:srgbClr val="7030A0"/>
                </a:solidFill>
                <a:latin typeface="+mn-lt"/>
              </a:rPr>
              <a:t>Key Insights</a:t>
            </a:r>
            <a:endParaRPr lang="en-IN" sz="4400" b="1" dirty="0">
              <a:solidFill>
                <a:srgbClr val="7030A0"/>
              </a:solidFill>
              <a:latin typeface="+mn-lt"/>
            </a:endParaRPr>
          </a:p>
        </p:txBody>
      </p:sp>
      <p:graphicFrame>
        <p:nvGraphicFramePr>
          <p:cNvPr id="6" name="Content Placeholder 5">
            <a:extLst>
              <a:ext uri="{FF2B5EF4-FFF2-40B4-BE49-F238E27FC236}">
                <a16:creationId xmlns:a16="http://schemas.microsoft.com/office/drawing/2014/main" id="{6B5C53C7-31D9-DE1A-53A6-0A034E6D2887}"/>
              </a:ext>
            </a:extLst>
          </p:cNvPr>
          <p:cNvGraphicFramePr>
            <a:graphicFrameLocks noGrp="1"/>
          </p:cNvGraphicFramePr>
          <p:nvPr>
            <p:ph idx="1"/>
            <p:extLst>
              <p:ext uri="{D42A27DB-BD31-4B8C-83A1-F6EECF244321}">
                <p14:modId xmlns:p14="http://schemas.microsoft.com/office/powerpoint/2010/main" val="2659490462"/>
              </p:ext>
            </p:extLst>
          </p:nvPr>
        </p:nvGraphicFramePr>
        <p:xfrm>
          <a:off x="5183187" y="195944"/>
          <a:ext cx="6878184" cy="6652576"/>
        </p:xfrm>
        <a:graphic>
          <a:graphicData uri="http://schemas.openxmlformats.org/drawingml/2006/table">
            <a:tbl>
              <a:tblPr>
                <a:tableStyleId>{616DA210-FB5B-4158-B5E0-FEB733F419BA}</a:tableStyleId>
              </a:tblPr>
              <a:tblGrid>
                <a:gridCol w="3439092">
                  <a:extLst>
                    <a:ext uri="{9D8B030D-6E8A-4147-A177-3AD203B41FA5}">
                      <a16:colId xmlns:a16="http://schemas.microsoft.com/office/drawing/2014/main" val="3088140102"/>
                    </a:ext>
                  </a:extLst>
                </a:gridCol>
                <a:gridCol w="3439092">
                  <a:extLst>
                    <a:ext uri="{9D8B030D-6E8A-4147-A177-3AD203B41FA5}">
                      <a16:colId xmlns:a16="http://schemas.microsoft.com/office/drawing/2014/main" val="1214646831"/>
                    </a:ext>
                  </a:extLst>
                </a:gridCol>
              </a:tblGrid>
              <a:tr h="444127">
                <a:tc>
                  <a:txBody>
                    <a:bodyPr/>
                    <a:lstStyle/>
                    <a:p>
                      <a:r>
                        <a:rPr lang="en-IN" sz="2000" b="1" dirty="0">
                          <a:solidFill>
                            <a:srgbClr val="FFFF00"/>
                          </a:solidFill>
                          <a:latin typeface="Comic Sans MS" panose="030F0702030302020204" pitchFamily="66" charset="0"/>
                        </a:rPr>
                        <a:t>Insight</a:t>
                      </a:r>
                      <a:endParaRPr lang="en-IN" sz="2000" dirty="0">
                        <a:solidFill>
                          <a:srgbClr val="FFFF00"/>
                        </a:solidFill>
                        <a:latin typeface="Comic Sans MS" panose="030F0702030302020204" pitchFamily="66" charset="0"/>
                      </a:endParaRPr>
                    </a:p>
                  </a:txBody>
                  <a:tcPr marL="53671" marR="53671" marT="26836" marB="26836" anchor="ctr"/>
                </a:tc>
                <a:tc>
                  <a:txBody>
                    <a:bodyPr/>
                    <a:lstStyle/>
                    <a:p>
                      <a:r>
                        <a:rPr lang="en-IN" sz="1600" b="1">
                          <a:solidFill>
                            <a:srgbClr val="00FFFF"/>
                          </a:solidFill>
                          <a:latin typeface="Comic Sans MS" panose="030F0702030302020204" pitchFamily="66" charset="0"/>
                        </a:rPr>
                        <a:t>Description</a:t>
                      </a:r>
                      <a:endParaRPr lang="en-IN" sz="1600">
                        <a:solidFill>
                          <a:srgbClr val="00FFFF"/>
                        </a:solidFill>
                        <a:latin typeface="Comic Sans MS" panose="030F0702030302020204" pitchFamily="66" charset="0"/>
                      </a:endParaRPr>
                    </a:p>
                  </a:txBody>
                  <a:tcPr marL="53671" marR="53671" marT="26836" marB="26836" anchor="ctr"/>
                </a:tc>
                <a:extLst>
                  <a:ext uri="{0D108BD9-81ED-4DB2-BD59-A6C34878D82A}">
                    <a16:rowId xmlns:a16="http://schemas.microsoft.com/office/drawing/2014/main" val="2177390166"/>
                  </a:ext>
                </a:extLst>
              </a:tr>
              <a:tr h="1116961">
                <a:tc>
                  <a:txBody>
                    <a:bodyPr/>
                    <a:lstStyle/>
                    <a:p>
                      <a:r>
                        <a:rPr lang="en-US" sz="2000" b="1">
                          <a:solidFill>
                            <a:srgbClr val="FFFF00"/>
                          </a:solidFill>
                          <a:latin typeface="Comic Sans MS" panose="030F0702030302020204" pitchFamily="66" charset="0"/>
                        </a:rPr>
                        <a:t>Continent with Highest Average HIV/AIDS Rate</a:t>
                      </a:r>
                      <a:endParaRPr lang="en-US" sz="2000">
                        <a:solidFill>
                          <a:srgbClr val="FFFF00"/>
                        </a:solidFill>
                        <a:latin typeface="Comic Sans MS" panose="030F0702030302020204" pitchFamily="66" charset="0"/>
                      </a:endParaRPr>
                    </a:p>
                  </a:txBody>
                  <a:tcPr marL="53671" marR="53671" marT="26836" marB="26836" anchor="ctr"/>
                </a:tc>
                <a:tc>
                  <a:txBody>
                    <a:bodyPr/>
                    <a:lstStyle/>
                    <a:p>
                      <a:r>
                        <a:rPr lang="en-US" sz="1600" b="1">
                          <a:solidFill>
                            <a:srgbClr val="00FFFF"/>
                          </a:solidFill>
                          <a:latin typeface="Comic Sans MS" panose="030F0702030302020204" pitchFamily="66" charset="0"/>
                        </a:rPr>
                        <a:t>Africa</a:t>
                      </a:r>
                      <a:r>
                        <a:rPr lang="en-US" sz="1600">
                          <a:solidFill>
                            <a:srgbClr val="00FFFF"/>
                          </a:solidFill>
                          <a:latin typeface="Comic Sans MS" panose="030F0702030302020204" pitchFamily="66" charset="0"/>
                        </a:rPr>
                        <a:t> has the highest average HIV/AIDS rate over the years at </a:t>
                      </a:r>
                      <a:r>
                        <a:rPr lang="en-US" sz="1600" b="1">
                          <a:solidFill>
                            <a:srgbClr val="00FFFF"/>
                          </a:solidFill>
                          <a:latin typeface="Comic Sans MS" panose="030F0702030302020204" pitchFamily="66" charset="0"/>
                        </a:rPr>
                        <a:t>5.4%</a:t>
                      </a:r>
                      <a:r>
                        <a:rPr lang="en-US" sz="1600">
                          <a:solidFill>
                            <a:srgbClr val="00FFFF"/>
                          </a:solidFill>
                          <a:latin typeface="Comic Sans MS" panose="030F0702030302020204" pitchFamily="66" charset="0"/>
                        </a:rPr>
                        <a:t>, showing a major ongoing health concern.</a:t>
                      </a:r>
                    </a:p>
                  </a:txBody>
                  <a:tcPr marL="53671" marR="53671" marT="26836" marB="26836" anchor="ctr"/>
                </a:tc>
                <a:extLst>
                  <a:ext uri="{0D108BD9-81ED-4DB2-BD59-A6C34878D82A}">
                    <a16:rowId xmlns:a16="http://schemas.microsoft.com/office/drawing/2014/main" val="4231635571"/>
                  </a:ext>
                </a:extLst>
              </a:tr>
              <a:tr h="983618">
                <a:tc>
                  <a:txBody>
                    <a:bodyPr/>
                    <a:lstStyle/>
                    <a:p>
                      <a:r>
                        <a:rPr lang="en-US" sz="2000" b="1" dirty="0">
                          <a:solidFill>
                            <a:srgbClr val="FFFF00"/>
                          </a:solidFill>
                          <a:latin typeface="Comic Sans MS" panose="030F0702030302020204" pitchFamily="66" charset="0"/>
                        </a:rPr>
                        <a:t>Continent with Lowest Average HIV/AIDS Rate</a:t>
                      </a:r>
                      <a:endParaRPr lang="en-US" sz="2000" dirty="0">
                        <a:solidFill>
                          <a:srgbClr val="FFFF00"/>
                        </a:solidFill>
                        <a:latin typeface="Comic Sans MS" panose="030F0702030302020204" pitchFamily="66" charset="0"/>
                      </a:endParaRPr>
                    </a:p>
                  </a:txBody>
                  <a:tcPr marL="53671" marR="53671" marT="26836" marB="26836" anchor="ctr"/>
                </a:tc>
                <a:tc>
                  <a:txBody>
                    <a:bodyPr/>
                    <a:lstStyle/>
                    <a:p>
                      <a:r>
                        <a:rPr lang="en-US" sz="1600" b="1">
                          <a:solidFill>
                            <a:srgbClr val="00FFFF"/>
                          </a:solidFill>
                          <a:latin typeface="Comic Sans MS" panose="030F0702030302020204" pitchFamily="66" charset="0"/>
                        </a:rPr>
                        <a:t>Europe</a:t>
                      </a:r>
                      <a:r>
                        <a:rPr lang="en-US" sz="1600">
                          <a:solidFill>
                            <a:srgbClr val="00FFFF"/>
                          </a:solidFill>
                          <a:latin typeface="Comic Sans MS" panose="030F0702030302020204" pitchFamily="66" charset="0"/>
                        </a:rPr>
                        <a:t> has the lowest average HIV/AIDS rate at just </a:t>
                      </a:r>
                      <a:r>
                        <a:rPr lang="en-US" sz="1600" b="1">
                          <a:solidFill>
                            <a:srgbClr val="00FFFF"/>
                          </a:solidFill>
                          <a:latin typeface="Comic Sans MS" panose="030F0702030302020204" pitchFamily="66" charset="0"/>
                        </a:rPr>
                        <a:t>0.11%</a:t>
                      </a:r>
                      <a:r>
                        <a:rPr lang="en-US" sz="1600">
                          <a:solidFill>
                            <a:srgbClr val="00FFFF"/>
                          </a:solidFill>
                          <a:latin typeface="Comic Sans MS" panose="030F0702030302020204" pitchFamily="66" charset="0"/>
                        </a:rPr>
                        <a:t>, reflecting strong disease control and prevention programs.</a:t>
                      </a:r>
                    </a:p>
                  </a:txBody>
                  <a:tcPr marL="53671" marR="53671" marT="26836" marB="26836" anchor="ctr"/>
                </a:tc>
                <a:extLst>
                  <a:ext uri="{0D108BD9-81ED-4DB2-BD59-A6C34878D82A}">
                    <a16:rowId xmlns:a16="http://schemas.microsoft.com/office/drawing/2014/main" val="3993776875"/>
                  </a:ext>
                </a:extLst>
              </a:tr>
              <a:tr h="780544">
                <a:tc>
                  <a:txBody>
                    <a:bodyPr/>
                    <a:lstStyle/>
                    <a:p>
                      <a:r>
                        <a:rPr lang="en-US" sz="2000" b="1">
                          <a:solidFill>
                            <a:srgbClr val="FFFF00"/>
                          </a:solidFill>
                          <a:latin typeface="Comic Sans MS" panose="030F0702030302020204" pitchFamily="66" charset="0"/>
                        </a:rPr>
                        <a:t>Country with Highest Average HIV/AIDS Rate</a:t>
                      </a:r>
                      <a:endParaRPr lang="en-US" sz="2000">
                        <a:solidFill>
                          <a:srgbClr val="FFFF00"/>
                        </a:solidFill>
                        <a:latin typeface="Comic Sans MS" panose="030F0702030302020204" pitchFamily="66" charset="0"/>
                      </a:endParaRPr>
                    </a:p>
                  </a:txBody>
                  <a:tcPr marL="53671" marR="53671" marT="26836" marB="26836" anchor="ctr"/>
                </a:tc>
                <a:tc>
                  <a:txBody>
                    <a:bodyPr/>
                    <a:lstStyle/>
                    <a:p>
                      <a:r>
                        <a:rPr lang="en-US" sz="1600" b="1">
                          <a:solidFill>
                            <a:srgbClr val="00FFFF"/>
                          </a:solidFill>
                          <a:latin typeface="Comic Sans MS" panose="030F0702030302020204" pitchFamily="66" charset="0"/>
                        </a:rPr>
                        <a:t>Swaziland (now Eswatini)</a:t>
                      </a:r>
                      <a:r>
                        <a:rPr lang="en-US" sz="1600">
                          <a:solidFill>
                            <a:srgbClr val="00FFFF"/>
                          </a:solidFill>
                          <a:latin typeface="Comic Sans MS" panose="030F0702030302020204" pitchFamily="66" charset="0"/>
                        </a:rPr>
                        <a:t> had the </a:t>
                      </a:r>
                      <a:r>
                        <a:rPr lang="en-US" sz="1600" b="1">
                          <a:solidFill>
                            <a:srgbClr val="00FFFF"/>
                          </a:solidFill>
                          <a:latin typeface="Comic Sans MS" panose="030F0702030302020204" pitchFamily="66" charset="0"/>
                        </a:rPr>
                        <a:t>highest average HIV/AIDS prevalence</a:t>
                      </a:r>
                      <a:r>
                        <a:rPr lang="en-US" sz="1600">
                          <a:solidFill>
                            <a:srgbClr val="00FFFF"/>
                          </a:solidFill>
                          <a:latin typeface="Comic Sans MS" panose="030F0702030302020204" pitchFamily="66" charset="0"/>
                        </a:rPr>
                        <a:t> over the years at </a:t>
                      </a:r>
                      <a:r>
                        <a:rPr lang="en-US" sz="1600" b="1">
                          <a:solidFill>
                            <a:srgbClr val="00FFFF"/>
                          </a:solidFill>
                          <a:latin typeface="Comic Sans MS" panose="030F0702030302020204" pitchFamily="66" charset="0"/>
                        </a:rPr>
                        <a:t>32%</a:t>
                      </a:r>
                      <a:r>
                        <a:rPr lang="en-US" sz="1600">
                          <a:solidFill>
                            <a:srgbClr val="00FFFF"/>
                          </a:solidFill>
                          <a:latin typeface="Comic Sans MS" panose="030F0702030302020204" pitchFamily="66" charset="0"/>
                        </a:rPr>
                        <a:t>.</a:t>
                      </a:r>
                    </a:p>
                  </a:txBody>
                  <a:tcPr marL="53671" marR="53671" marT="26836" marB="26836" anchor="ctr"/>
                </a:tc>
                <a:extLst>
                  <a:ext uri="{0D108BD9-81ED-4DB2-BD59-A6C34878D82A}">
                    <a16:rowId xmlns:a16="http://schemas.microsoft.com/office/drawing/2014/main" val="1566482892"/>
                  </a:ext>
                </a:extLst>
              </a:tr>
              <a:tr h="780544">
                <a:tc>
                  <a:txBody>
                    <a:bodyPr/>
                    <a:lstStyle/>
                    <a:p>
                      <a:r>
                        <a:rPr lang="en-IN" sz="2000" b="1">
                          <a:solidFill>
                            <a:srgbClr val="FFFF00"/>
                          </a:solidFill>
                          <a:latin typeface="Comic Sans MS" panose="030F0702030302020204" pitchFamily="66" charset="0"/>
                        </a:rPr>
                        <a:t>Other High Average Countries</a:t>
                      </a:r>
                      <a:endParaRPr lang="en-IN" sz="2000">
                        <a:solidFill>
                          <a:srgbClr val="FFFF00"/>
                        </a:solidFill>
                        <a:latin typeface="Comic Sans MS" panose="030F0702030302020204" pitchFamily="66" charset="0"/>
                      </a:endParaRPr>
                    </a:p>
                  </a:txBody>
                  <a:tcPr marL="53671" marR="53671" marT="26836" marB="26836" anchor="ctr"/>
                </a:tc>
                <a:tc>
                  <a:txBody>
                    <a:bodyPr/>
                    <a:lstStyle/>
                    <a:p>
                      <a:r>
                        <a:rPr lang="en-US" sz="1600" b="1" dirty="0">
                          <a:solidFill>
                            <a:srgbClr val="00FFFF"/>
                          </a:solidFill>
                          <a:latin typeface="Comic Sans MS" panose="030F0702030302020204" pitchFamily="66" charset="0"/>
                        </a:rPr>
                        <a:t>Zimbabwe</a:t>
                      </a:r>
                      <a:r>
                        <a:rPr lang="en-US" sz="1600" dirty="0">
                          <a:solidFill>
                            <a:srgbClr val="00FFFF"/>
                          </a:solidFill>
                          <a:latin typeface="Comic Sans MS" panose="030F0702030302020204" pitchFamily="66" charset="0"/>
                        </a:rPr>
                        <a:t> and </a:t>
                      </a:r>
                      <a:r>
                        <a:rPr lang="en-US" sz="1600" b="1" dirty="0">
                          <a:solidFill>
                            <a:srgbClr val="00FFFF"/>
                          </a:solidFill>
                          <a:latin typeface="Comic Sans MS" panose="030F0702030302020204" pitchFamily="66" charset="0"/>
                        </a:rPr>
                        <a:t>Lesotho</a:t>
                      </a:r>
                      <a:r>
                        <a:rPr lang="en-US" sz="1600" dirty="0">
                          <a:solidFill>
                            <a:srgbClr val="00FFFF"/>
                          </a:solidFill>
                          <a:latin typeface="Comic Sans MS" panose="030F0702030302020204" pitchFamily="66" charset="0"/>
                        </a:rPr>
                        <a:t> follow with high average HIV/AIDS rates of </a:t>
                      </a:r>
                      <a:r>
                        <a:rPr lang="en-US" sz="1600" b="1" dirty="0">
                          <a:solidFill>
                            <a:srgbClr val="00FFFF"/>
                          </a:solidFill>
                          <a:latin typeface="Comic Sans MS" panose="030F0702030302020204" pitchFamily="66" charset="0"/>
                        </a:rPr>
                        <a:t>23%</a:t>
                      </a:r>
                      <a:r>
                        <a:rPr lang="en-US" sz="1600" dirty="0">
                          <a:solidFill>
                            <a:srgbClr val="00FFFF"/>
                          </a:solidFill>
                          <a:latin typeface="Comic Sans MS" panose="030F0702030302020204" pitchFamily="66" charset="0"/>
                        </a:rPr>
                        <a:t> and </a:t>
                      </a:r>
                      <a:r>
                        <a:rPr lang="en-US" sz="1600" b="1" dirty="0">
                          <a:solidFill>
                            <a:srgbClr val="00FFFF"/>
                          </a:solidFill>
                          <a:latin typeface="Comic Sans MS" panose="030F0702030302020204" pitchFamily="66" charset="0"/>
                        </a:rPr>
                        <a:t>22%</a:t>
                      </a:r>
                      <a:r>
                        <a:rPr lang="en-US" sz="1600" dirty="0">
                          <a:solidFill>
                            <a:srgbClr val="00FFFF"/>
                          </a:solidFill>
                          <a:latin typeface="Comic Sans MS" panose="030F0702030302020204" pitchFamily="66" charset="0"/>
                        </a:rPr>
                        <a:t> respectively.</a:t>
                      </a:r>
                    </a:p>
                  </a:txBody>
                  <a:tcPr marL="53671" marR="53671" marT="26836" marB="26836" anchor="ctr"/>
                </a:tc>
                <a:extLst>
                  <a:ext uri="{0D108BD9-81ED-4DB2-BD59-A6C34878D82A}">
                    <a16:rowId xmlns:a16="http://schemas.microsoft.com/office/drawing/2014/main" val="1454133375"/>
                  </a:ext>
                </a:extLst>
              </a:tr>
              <a:tr h="2382090">
                <a:tc>
                  <a:txBody>
                    <a:bodyPr/>
                    <a:lstStyle/>
                    <a:p>
                      <a:r>
                        <a:rPr lang="en-US" sz="2000" b="1" dirty="0">
                          <a:solidFill>
                            <a:srgbClr val="FFFF00"/>
                          </a:solidFill>
                          <a:latin typeface="Comic Sans MS" panose="030F0702030302020204" pitchFamily="66" charset="0"/>
                        </a:rPr>
                        <a:t>Swaziland's Highest Recorded Annual Rates</a:t>
                      </a:r>
                      <a:endParaRPr lang="en-US" sz="2000" dirty="0">
                        <a:solidFill>
                          <a:srgbClr val="FFFF00"/>
                        </a:solidFill>
                        <a:latin typeface="Comic Sans MS" panose="030F0702030302020204" pitchFamily="66" charset="0"/>
                      </a:endParaRPr>
                    </a:p>
                  </a:txBody>
                  <a:tcPr marL="53671" marR="53671" marT="26836" marB="26836" anchor="ctr"/>
                </a:tc>
                <a:tc>
                  <a:txBody>
                    <a:bodyPr/>
                    <a:lstStyle/>
                    <a:p>
                      <a:r>
                        <a:rPr lang="en-US" sz="1600" dirty="0">
                          <a:solidFill>
                            <a:srgbClr val="00FFFF"/>
                          </a:solidFill>
                          <a:latin typeface="Comic Sans MS" panose="030F0702030302020204" pitchFamily="66" charset="0"/>
                        </a:rPr>
                        <a:t>Swaziland recorded the </a:t>
                      </a:r>
                      <a:r>
                        <a:rPr lang="en-US" sz="1600" b="1" dirty="0">
                          <a:solidFill>
                            <a:srgbClr val="00FFFF"/>
                          </a:solidFill>
                          <a:latin typeface="Comic Sans MS" panose="030F0702030302020204" pitchFamily="66" charset="0"/>
                        </a:rPr>
                        <a:t>highest individual yearly HIV/AIDS rates</a:t>
                      </a:r>
                      <a:r>
                        <a:rPr lang="en-US" sz="1600" dirty="0">
                          <a:solidFill>
                            <a:srgbClr val="00FFFF"/>
                          </a:solidFill>
                          <a:latin typeface="Comic Sans MS" panose="030F0702030302020204" pitchFamily="66" charset="0"/>
                        </a:rPr>
                        <a:t>:</a:t>
                      </a:r>
                    </a:p>
                    <a:p>
                      <a:endParaRPr lang="en-US" sz="1600" dirty="0">
                        <a:solidFill>
                          <a:srgbClr val="00FFFF"/>
                        </a:solidFill>
                        <a:latin typeface="Comic Sans MS" panose="030F0702030302020204" pitchFamily="66" charset="0"/>
                      </a:endParaRPr>
                    </a:p>
                    <a:p>
                      <a:r>
                        <a:rPr lang="en-US" sz="1600" b="1" dirty="0">
                          <a:solidFill>
                            <a:srgbClr val="00FFFF"/>
                          </a:solidFill>
                          <a:latin typeface="Comic Sans MS" panose="030F0702030302020204" pitchFamily="66" charset="0"/>
                        </a:rPr>
                        <a:t>2002:</a:t>
                      </a:r>
                      <a:r>
                        <a:rPr lang="en-US" sz="1600" dirty="0">
                          <a:solidFill>
                            <a:srgbClr val="00FFFF"/>
                          </a:solidFill>
                          <a:latin typeface="Comic Sans MS" panose="030F0702030302020204" pitchFamily="66" charset="0"/>
                        </a:rPr>
                        <a:t> 49.9%</a:t>
                      </a:r>
                    </a:p>
                    <a:p>
                      <a:r>
                        <a:rPr lang="en-US" sz="1600" b="1" dirty="0">
                          <a:solidFill>
                            <a:srgbClr val="00FFFF"/>
                          </a:solidFill>
                          <a:latin typeface="Comic Sans MS" panose="030F0702030302020204" pitchFamily="66" charset="0"/>
                        </a:rPr>
                        <a:t>2003:</a:t>
                      </a:r>
                      <a:r>
                        <a:rPr lang="en-US" sz="1600" dirty="0">
                          <a:solidFill>
                            <a:srgbClr val="00FFFF"/>
                          </a:solidFill>
                          <a:latin typeface="Comic Sans MS" panose="030F0702030302020204" pitchFamily="66" charset="0"/>
                        </a:rPr>
                        <a:t> 50.06%</a:t>
                      </a:r>
                    </a:p>
                    <a:p>
                      <a:r>
                        <a:rPr lang="en-US" sz="1600" b="1" dirty="0">
                          <a:solidFill>
                            <a:srgbClr val="00FFFF"/>
                          </a:solidFill>
                          <a:latin typeface="Comic Sans MS" panose="030F0702030302020204" pitchFamily="66" charset="0"/>
                        </a:rPr>
                        <a:t>2004:</a:t>
                      </a:r>
                      <a:r>
                        <a:rPr lang="en-US" sz="1600" dirty="0">
                          <a:solidFill>
                            <a:srgbClr val="00FFFF"/>
                          </a:solidFill>
                          <a:latin typeface="Comic Sans MS" panose="030F0702030302020204" pitchFamily="66" charset="0"/>
                        </a:rPr>
                        <a:t> 50.03%</a:t>
                      </a:r>
                      <a:br>
                        <a:rPr lang="en-US" sz="1600" dirty="0">
                          <a:solidFill>
                            <a:srgbClr val="00FFFF"/>
                          </a:solidFill>
                          <a:latin typeface="Comic Sans MS" panose="030F0702030302020204" pitchFamily="66" charset="0"/>
                        </a:rPr>
                      </a:br>
                      <a:endParaRPr lang="en-US" sz="1600" dirty="0">
                        <a:solidFill>
                          <a:srgbClr val="00FFFF"/>
                        </a:solidFill>
                        <a:latin typeface="Comic Sans MS" panose="030F0702030302020204" pitchFamily="66" charset="0"/>
                      </a:endParaRPr>
                    </a:p>
                    <a:p>
                      <a:endParaRPr lang="en-US" sz="1600" dirty="0">
                        <a:solidFill>
                          <a:srgbClr val="00FFFF"/>
                        </a:solidFill>
                        <a:latin typeface="Comic Sans MS" panose="030F0702030302020204" pitchFamily="66" charset="0"/>
                      </a:endParaRPr>
                    </a:p>
                    <a:p>
                      <a:endParaRPr lang="en-US" sz="1600" dirty="0">
                        <a:solidFill>
                          <a:srgbClr val="00FFFF"/>
                        </a:solidFill>
                        <a:latin typeface="Comic Sans MS" panose="030F0702030302020204" pitchFamily="66" charset="0"/>
                      </a:endParaRPr>
                    </a:p>
                  </a:txBody>
                  <a:tcPr marL="53671" marR="53671" marT="26836" marB="26836" anchor="ctr"/>
                </a:tc>
                <a:extLst>
                  <a:ext uri="{0D108BD9-81ED-4DB2-BD59-A6C34878D82A}">
                    <a16:rowId xmlns:a16="http://schemas.microsoft.com/office/drawing/2014/main" val="2197309115"/>
                  </a:ext>
                </a:extLst>
              </a:tr>
            </a:tbl>
          </a:graphicData>
        </a:graphic>
      </p:graphicFrame>
      <p:sp>
        <p:nvSpPr>
          <p:cNvPr id="4" name="Text Placeholder 3">
            <a:extLst>
              <a:ext uri="{FF2B5EF4-FFF2-40B4-BE49-F238E27FC236}">
                <a16:creationId xmlns:a16="http://schemas.microsoft.com/office/drawing/2014/main" id="{C461E1D4-923F-5409-987D-7616333B0246}"/>
              </a:ext>
            </a:extLst>
          </p:cNvPr>
          <p:cNvSpPr>
            <a:spLocks noGrp="1"/>
          </p:cNvSpPr>
          <p:nvPr>
            <p:ph type="body" sz="half" idx="2"/>
          </p:nvPr>
        </p:nvSpPr>
        <p:spPr>
          <a:xfrm>
            <a:off x="217714" y="1360715"/>
            <a:ext cx="4554312" cy="5127172"/>
          </a:xfrm>
        </p:spPr>
        <p:txBody>
          <a:bodyPr>
            <a:normAutofit/>
          </a:bodyPr>
          <a:lstStyle/>
          <a:p>
            <a:r>
              <a:rPr lang="en-US" sz="2400" dirty="0">
                <a:solidFill>
                  <a:srgbClr val="92D050"/>
                </a:solidFill>
                <a:latin typeface="Comic Sans MS" panose="030F0702030302020204" pitchFamily="66" charset="0"/>
              </a:rPr>
              <a:t>| </a:t>
            </a:r>
            <a:r>
              <a:rPr lang="en-US" sz="2400" b="1" dirty="0">
                <a:solidFill>
                  <a:srgbClr val="92D050"/>
                </a:solidFill>
                <a:latin typeface="Comic Sans MS" panose="030F0702030302020204" pitchFamily="66" charset="0"/>
              </a:rPr>
              <a:t>Top 3 Countries by HIV/AIDS in 2015</a:t>
            </a:r>
          </a:p>
          <a:p>
            <a:endParaRPr lang="en-US" sz="2400" b="1" dirty="0">
              <a:latin typeface="Comic Sans MS" panose="030F0702030302020204" pitchFamily="66" charset="0"/>
            </a:endParaRPr>
          </a:p>
          <a:p>
            <a:r>
              <a:rPr lang="en-US" sz="2400" dirty="0">
                <a:latin typeface="Comic Sans MS" panose="030F0702030302020204" pitchFamily="66" charset="0"/>
              </a:rPr>
              <a:t> </a:t>
            </a:r>
            <a:r>
              <a:rPr lang="en-US" sz="2400" b="1" dirty="0">
                <a:solidFill>
                  <a:srgbClr val="00FFFF"/>
                </a:solidFill>
                <a:latin typeface="Comic Sans MS" panose="030F0702030302020204" pitchFamily="66" charset="0"/>
              </a:rPr>
              <a:t>Swaziland:</a:t>
            </a:r>
            <a:r>
              <a:rPr lang="en-US" sz="2400" dirty="0">
                <a:solidFill>
                  <a:srgbClr val="00FFFF"/>
                </a:solidFill>
                <a:latin typeface="Comic Sans MS" panose="030F0702030302020204" pitchFamily="66" charset="0"/>
              </a:rPr>
              <a:t> 50.6%</a:t>
            </a:r>
          </a:p>
          <a:p>
            <a:r>
              <a:rPr lang="en-US" sz="2400" b="1" dirty="0">
                <a:solidFill>
                  <a:srgbClr val="00FFFF"/>
                </a:solidFill>
                <a:latin typeface="Comic Sans MS" panose="030F0702030302020204" pitchFamily="66" charset="0"/>
              </a:rPr>
              <a:t>Zimbabwe:</a:t>
            </a:r>
            <a:r>
              <a:rPr lang="en-US" sz="2400" dirty="0">
                <a:solidFill>
                  <a:srgbClr val="00FFFF"/>
                </a:solidFill>
                <a:latin typeface="Comic Sans MS" panose="030F0702030302020204" pitchFamily="66" charset="0"/>
              </a:rPr>
              <a:t> 43.5%</a:t>
            </a:r>
          </a:p>
          <a:p>
            <a:r>
              <a:rPr lang="en-US" sz="2400" b="1" dirty="0">
                <a:solidFill>
                  <a:srgbClr val="00FFFF"/>
                </a:solidFill>
                <a:latin typeface="Comic Sans MS" panose="030F0702030302020204" pitchFamily="66" charset="0"/>
              </a:rPr>
              <a:t>Botswana:</a:t>
            </a:r>
            <a:r>
              <a:rPr lang="en-US" sz="2400" dirty="0">
                <a:solidFill>
                  <a:srgbClr val="00FFFF"/>
                </a:solidFill>
                <a:latin typeface="Comic Sans MS" panose="030F0702030302020204" pitchFamily="66" charset="0"/>
              </a:rPr>
              <a:t> 38.8%</a:t>
            </a:r>
          </a:p>
          <a:p>
            <a:br>
              <a:rPr lang="en-US" sz="2400" dirty="0">
                <a:latin typeface="Comic Sans MS" panose="030F0702030302020204" pitchFamily="66" charset="0"/>
              </a:rPr>
            </a:br>
            <a:r>
              <a:rPr lang="en-US" sz="2400" dirty="0">
                <a:solidFill>
                  <a:srgbClr val="92D050"/>
                </a:solidFill>
                <a:latin typeface="Comic Sans MS" panose="030F0702030302020204" pitchFamily="66" charset="0"/>
              </a:rPr>
              <a:t>These countries had the </a:t>
            </a:r>
            <a:r>
              <a:rPr lang="en-US" sz="2400" b="1" dirty="0">
                <a:solidFill>
                  <a:srgbClr val="92D050"/>
                </a:solidFill>
                <a:latin typeface="Comic Sans MS" panose="030F0702030302020204" pitchFamily="66" charset="0"/>
              </a:rPr>
              <a:t>most severe HIV/AIDS cases that year</a:t>
            </a:r>
            <a:r>
              <a:rPr lang="en-US" sz="2400" dirty="0">
                <a:solidFill>
                  <a:srgbClr val="92D050"/>
                </a:solidFill>
                <a:latin typeface="Comic Sans MS" panose="030F0702030302020204" pitchFamily="66" charset="0"/>
              </a:rPr>
              <a:t>. |</a:t>
            </a:r>
          </a:p>
          <a:p>
            <a:endParaRPr lang="en-IN" sz="2400" dirty="0">
              <a:latin typeface="Comic Sans MS" panose="030F0702030302020204" pitchFamily="66" charset="0"/>
            </a:endParaRPr>
          </a:p>
        </p:txBody>
      </p:sp>
    </p:spTree>
    <p:extLst>
      <p:ext uri="{BB962C8B-B14F-4D97-AF65-F5344CB8AC3E}">
        <p14:creationId xmlns:p14="http://schemas.microsoft.com/office/powerpoint/2010/main" val="247670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46AF-439C-653F-34D4-04E2C8F16089}"/>
              </a:ext>
            </a:extLst>
          </p:cNvPr>
          <p:cNvSpPr>
            <a:spLocks noGrp="1"/>
          </p:cNvSpPr>
          <p:nvPr>
            <p:ph type="title"/>
          </p:nvPr>
        </p:nvSpPr>
        <p:spPr>
          <a:xfrm>
            <a:off x="511629" y="304801"/>
            <a:ext cx="10994571" cy="1066799"/>
          </a:xfrm>
        </p:spPr>
        <p:txBody>
          <a:bodyPr>
            <a:normAutofit/>
          </a:bodyPr>
          <a:lstStyle/>
          <a:p>
            <a:r>
              <a:rPr lang="en-US" b="1" dirty="0">
                <a:latin typeface="+mn-lt"/>
              </a:rPr>
              <a:t>16.Income Composition of Resources</a:t>
            </a:r>
            <a:endParaRPr lang="en-IN" b="1" dirty="0">
              <a:latin typeface="+mn-lt"/>
            </a:endParaRPr>
          </a:p>
        </p:txBody>
      </p:sp>
      <p:sp>
        <p:nvSpPr>
          <p:cNvPr id="3" name="Content Placeholder 2">
            <a:extLst>
              <a:ext uri="{FF2B5EF4-FFF2-40B4-BE49-F238E27FC236}">
                <a16:creationId xmlns:a16="http://schemas.microsoft.com/office/drawing/2014/main" id="{0E89DF33-88EB-73A6-638C-C348370BCA9C}"/>
              </a:ext>
            </a:extLst>
          </p:cNvPr>
          <p:cNvSpPr>
            <a:spLocks noGrp="1"/>
          </p:cNvSpPr>
          <p:nvPr>
            <p:ph idx="1"/>
          </p:nvPr>
        </p:nvSpPr>
        <p:spPr>
          <a:xfrm>
            <a:off x="359229" y="1825625"/>
            <a:ext cx="11473542" cy="4351338"/>
          </a:xfrm>
        </p:spPr>
        <p:txBody>
          <a:bodyPr>
            <a:normAutofit fontScale="92500" lnSpcReduction="10000"/>
          </a:bodyPr>
          <a:lstStyle/>
          <a:p>
            <a:r>
              <a:rPr lang="en-US" dirty="0">
                <a:solidFill>
                  <a:srgbClr val="00FFFF"/>
                </a:solidFill>
                <a:latin typeface="Comic Sans MS" panose="030F0702030302020204" pitchFamily="66" charset="0"/>
              </a:rPr>
              <a:t>Income composition of resources  represent a composite index score between 0 and 1.</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 It measures the access to and quality of resources that contribute  to a decent standard of living in a country. </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Higher values (close to 1) mean people have better income, education, and standard of living.</a:t>
            </a:r>
          </a:p>
          <a:p>
            <a:endParaRPr lang="en-US" dirty="0">
              <a:solidFill>
                <a:srgbClr val="00FFFF"/>
              </a:solidFill>
              <a:latin typeface="Comic Sans MS" panose="030F0702030302020204" pitchFamily="66" charset="0"/>
            </a:endParaRPr>
          </a:p>
          <a:p>
            <a:r>
              <a:rPr lang="en-US" dirty="0">
                <a:solidFill>
                  <a:srgbClr val="00FFFF"/>
                </a:solidFill>
                <a:latin typeface="Comic Sans MS" panose="030F0702030302020204" pitchFamily="66" charset="0"/>
              </a:rPr>
              <a:t>Lower values (closer to 0) mean there is less access to these resources.</a:t>
            </a:r>
            <a:endParaRPr lang="en-IN" dirty="0">
              <a:solidFill>
                <a:srgbClr val="00FFFF"/>
              </a:solidFill>
              <a:latin typeface="Comic Sans MS" panose="030F0702030302020204" pitchFamily="66" charset="0"/>
            </a:endParaRPr>
          </a:p>
          <a:p>
            <a:endParaRPr lang="en-IN" dirty="0">
              <a:solidFill>
                <a:srgbClr val="00FFFF"/>
              </a:solidFill>
            </a:endParaRPr>
          </a:p>
        </p:txBody>
      </p:sp>
    </p:spTree>
    <p:extLst>
      <p:ext uri="{BB962C8B-B14F-4D97-AF65-F5344CB8AC3E}">
        <p14:creationId xmlns:p14="http://schemas.microsoft.com/office/powerpoint/2010/main" val="3264153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3EEA9-7DBF-4EAA-39BA-03DD17943885}"/>
              </a:ext>
            </a:extLst>
          </p:cNvPr>
          <p:cNvSpPr>
            <a:spLocks noGrp="1"/>
          </p:cNvSpPr>
          <p:nvPr>
            <p:ph type="title"/>
          </p:nvPr>
        </p:nvSpPr>
        <p:spPr>
          <a:xfrm>
            <a:off x="130630" y="87086"/>
            <a:ext cx="11832770" cy="473643"/>
          </a:xfrm>
        </p:spPr>
        <p:txBody>
          <a:bodyPr>
            <a:noAutofit/>
          </a:bodyPr>
          <a:lstStyle/>
          <a:p>
            <a:r>
              <a:rPr lang="en-US" sz="3600" b="1" dirty="0">
                <a:latin typeface="+mn-lt"/>
              </a:rPr>
              <a:t>16.1 Income Composition of Resources vs Life Expectancy</a:t>
            </a:r>
            <a:endParaRPr lang="en-IN" sz="3600" b="1" dirty="0">
              <a:latin typeface="+mn-lt"/>
            </a:endParaRPr>
          </a:p>
        </p:txBody>
      </p:sp>
      <p:pic>
        <p:nvPicPr>
          <p:cNvPr id="6" name="Content Placeholder 5">
            <a:extLst>
              <a:ext uri="{FF2B5EF4-FFF2-40B4-BE49-F238E27FC236}">
                <a16:creationId xmlns:a16="http://schemas.microsoft.com/office/drawing/2014/main" id="{470B3629-4090-F060-EDD4-000499990BFC}"/>
              </a:ext>
            </a:extLst>
          </p:cNvPr>
          <p:cNvPicPr>
            <a:picLocks noGrp="1" noChangeAspect="1"/>
          </p:cNvPicPr>
          <p:nvPr>
            <p:ph sz="half" idx="1"/>
          </p:nvPr>
        </p:nvPicPr>
        <p:blipFill>
          <a:blip r:embed="rId2"/>
          <a:stretch>
            <a:fillRect/>
          </a:stretch>
        </p:blipFill>
        <p:spPr>
          <a:xfrm>
            <a:off x="130630" y="957943"/>
            <a:ext cx="5769427" cy="5704114"/>
          </a:xfrm>
        </p:spPr>
      </p:pic>
      <p:sp>
        <p:nvSpPr>
          <p:cNvPr id="7" name="Rectangle 1">
            <a:extLst>
              <a:ext uri="{FF2B5EF4-FFF2-40B4-BE49-F238E27FC236}">
                <a16:creationId xmlns:a16="http://schemas.microsoft.com/office/drawing/2014/main" id="{1B710FC1-5BAC-A0E9-EB00-836EFC182E79}"/>
              </a:ext>
            </a:extLst>
          </p:cNvPr>
          <p:cNvSpPr>
            <a:spLocks noGrp="1" noChangeArrowheads="1"/>
          </p:cNvSpPr>
          <p:nvPr>
            <p:ph sz="half" idx="2"/>
          </p:nvPr>
        </p:nvSpPr>
        <p:spPr bwMode="auto">
          <a:xfrm>
            <a:off x="6096000" y="837728"/>
            <a:ext cx="596537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FFFF00"/>
                </a:solidFill>
                <a:effectLst/>
                <a:latin typeface="Comic Sans MS" panose="030F0702030302020204" pitchFamily="66" charset="0"/>
              </a:rPr>
              <a:t>This scatter plot shows how a country’s </a:t>
            </a:r>
            <a:r>
              <a:rPr kumimoji="0" lang="en-US" altLang="en-US" sz="1800" b="1" i="0" u="none" strike="noStrike" cap="none" normalizeH="0" baseline="0" dirty="0">
                <a:ln>
                  <a:noFill/>
                </a:ln>
                <a:solidFill>
                  <a:srgbClr val="FFFF00"/>
                </a:solidFill>
                <a:effectLst/>
                <a:latin typeface="Comic Sans MS" panose="030F0702030302020204" pitchFamily="66" charset="0"/>
              </a:rPr>
              <a:t>income composition</a:t>
            </a:r>
            <a:r>
              <a:rPr kumimoji="0" lang="en-US" altLang="en-US" sz="1800" b="0" i="0" u="none" strike="noStrike" cap="none" normalizeH="0" baseline="0" dirty="0">
                <a:ln>
                  <a:noFill/>
                </a:ln>
                <a:solidFill>
                  <a:srgbClr val="FFFF00"/>
                </a:solidFill>
                <a:effectLst/>
                <a:latin typeface="Comic Sans MS" panose="030F0702030302020204" pitchFamily="66" charset="0"/>
              </a:rPr>
              <a:t> relates to </a:t>
            </a:r>
            <a:r>
              <a:rPr kumimoji="0" lang="en-US" altLang="en-US" sz="1800" b="1" i="0" u="none" strike="noStrike" cap="none" normalizeH="0" baseline="0" dirty="0">
                <a:ln>
                  <a:noFill/>
                </a:ln>
                <a:solidFill>
                  <a:srgbClr val="FFFF00"/>
                </a:solidFill>
                <a:effectLst/>
                <a:latin typeface="Comic Sans MS" panose="030F0702030302020204" pitchFamily="66" charset="0"/>
              </a:rPr>
              <a:t>life expectancy</a:t>
            </a:r>
            <a:r>
              <a:rPr kumimoji="0" lang="en-US" altLang="en-US" sz="1800" b="0" i="0" u="none" strike="noStrike" cap="none" normalizeH="0" baseline="0" dirty="0">
                <a:ln>
                  <a:noFill/>
                </a:ln>
                <a:solidFill>
                  <a:srgbClr val="FFFF00"/>
                </a:solidFill>
                <a:effectLst/>
                <a:latin typeface="Comic Sans MS" panose="030F0702030302020204" pitchFamily="66" charset="0"/>
              </a:rPr>
              <a:t> across continents.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FFFF0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FF00"/>
                </a:solidFill>
                <a:effectLst/>
                <a:latin typeface="Comic Sans MS" panose="030F0702030302020204" pitchFamily="66" charset="0"/>
              </a:rPr>
              <a:t> Main Trend: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Higher income resources = Longer life</a:t>
            </a:r>
            <a:r>
              <a:rPr kumimoji="0" lang="en-US" altLang="en-US" sz="1800" b="0" i="0" u="none" strike="noStrike" cap="none" normalizeH="0" baseline="0" dirty="0">
                <a:ln>
                  <a:noFill/>
                </a:ln>
                <a:solidFill>
                  <a:schemeClr val="tx1"/>
                </a:solidFill>
                <a:effectLst/>
                <a:latin typeface="Comic Sans MS" panose="030F0702030302020204" pitchFamily="66"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omic Sans MS" panose="030F0702030302020204" pitchFamily="66" charset="0"/>
              </a:rPr>
              <a:t>Countries with </a:t>
            </a:r>
            <a:r>
              <a:rPr kumimoji="0" lang="en-US" altLang="en-US" sz="1800" b="1" i="0" u="none" strike="noStrike" cap="none" normalizeH="0" baseline="0" dirty="0">
                <a:ln>
                  <a:noFill/>
                </a:ln>
                <a:solidFill>
                  <a:schemeClr val="tx1"/>
                </a:solidFill>
                <a:effectLst/>
                <a:latin typeface="Comic Sans MS" panose="030F0702030302020204" pitchFamily="66" charset="0"/>
              </a:rPr>
              <a:t>low income levels</a:t>
            </a:r>
            <a:r>
              <a:rPr kumimoji="0" lang="en-US" altLang="en-US" sz="1800" b="0" i="0" u="none" strike="noStrike" cap="none" normalizeH="0" baseline="0" dirty="0">
                <a:ln>
                  <a:noFill/>
                </a:ln>
                <a:solidFill>
                  <a:schemeClr val="tx1"/>
                </a:solidFill>
                <a:effectLst/>
                <a:latin typeface="Comic Sans MS" panose="030F0702030302020204" pitchFamily="66" charset="0"/>
              </a:rPr>
              <a:t> often have </a:t>
            </a:r>
            <a:r>
              <a:rPr kumimoji="0" lang="en-US" altLang="en-US" sz="1800" b="1" i="0" u="none" strike="noStrike" cap="none" normalizeH="0" baseline="0" dirty="0">
                <a:ln>
                  <a:noFill/>
                </a:ln>
                <a:solidFill>
                  <a:schemeClr val="tx1"/>
                </a:solidFill>
                <a:effectLst/>
                <a:latin typeface="Comic Sans MS" panose="030F0702030302020204" pitchFamily="66" charset="0"/>
              </a:rPr>
              <a:t>life expectancy below 60 years</a:t>
            </a:r>
            <a:r>
              <a:rPr kumimoji="0" lang="en-US" altLang="en-US" sz="1800" b="0" i="0" u="none" strike="noStrike" cap="none" normalizeH="0" baseline="0" dirty="0">
                <a:ln>
                  <a:noFill/>
                </a:ln>
                <a:solidFill>
                  <a:schemeClr val="tx1"/>
                </a:solidFill>
                <a:effectLst/>
                <a:latin typeface="Comic Sans MS" panose="030F0702030302020204" pitchFamily="66"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FFFF0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FF00"/>
                </a:solidFill>
                <a:effectLst/>
                <a:latin typeface="Comic Sans MS" panose="030F0702030302020204" pitchFamily="66" charset="0"/>
              </a:rPr>
              <a:t> Regional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Africa</a:t>
            </a:r>
            <a:r>
              <a:rPr kumimoji="0" lang="en-US" altLang="en-US" sz="1800" b="0" i="0" u="none" strike="noStrike" cap="none" normalizeH="0" baseline="0" dirty="0">
                <a:ln>
                  <a:noFill/>
                </a:ln>
                <a:solidFill>
                  <a:schemeClr val="tx1"/>
                </a:solidFill>
                <a:effectLst/>
                <a:latin typeface="Comic Sans MS" panose="030F0702030302020204" pitchFamily="66" charset="0"/>
              </a:rPr>
              <a:t>: Low income and low life expectancy.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Europe &amp; North America</a:t>
            </a:r>
            <a:r>
              <a:rPr kumimoji="0" lang="en-US" altLang="en-US" sz="1800" b="0" i="0" u="none" strike="noStrike" cap="none" normalizeH="0" baseline="0" dirty="0">
                <a:ln>
                  <a:noFill/>
                </a:ln>
                <a:solidFill>
                  <a:schemeClr val="tx1"/>
                </a:solidFill>
                <a:effectLst/>
                <a:latin typeface="Comic Sans MS" panose="030F0702030302020204" pitchFamily="66" charset="0"/>
              </a:rPr>
              <a:t>: High income and long life.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Asia</a:t>
            </a:r>
            <a:r>
              <a:rPr kumimoji="0" lang="en-US" altLang="en-US" sz="1800" b="0" i="0" u="none" strike="noStrike" cap="none" normalizeH="0" baseline="0" dirty="0">
                <a:ln>
                  <a:noFill/>
                </a:ln>
                <a:solidFill>
                  <a:schemeClr val="tx1"/>
                </a:solidFill>
                <a:effectLst/>
                <a:latin typeface="Comic Sans MS" panose="030F0702030302020204" pitchFamily="66" charset="0"/>
              </a:rPr>
              <a:t>: Mixed income levels and life expectancy.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South America &amp; Oceania</a:t>
            </a:r>
            <a:r>
              <a:rPr kumimoji="0" lang="en-US" altLang="en-US" sz="1800" b="0" i="0" u="none" strike="noStrike" cap="none" normalizeH="0" baseline="0" dirty="0">
                <a:ln>
                  <a:noFill/>
                </a:ln>
                <a:solidFill>
                  <a:schemeClr val="tx1"/>
                </a:solidFill>
                <a:effectLst/>
                <a:latin typeface="Comic Sans MS" panose="030F0702030302020204" pitchFamily="66" charset="0"/>
              </a:rPr>
              <a:t>: Moderate to high income, with good life expectancy.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FFFF00"/>
                </a:solidFill>
                <a:effectLst/>
                <a:latin typeface="Comic Sans MS" panose="030F0702030302020204" pitchFamily="66" charset="0"/>
              </a:rPr>
              <a:t> </a:t>
            </a:r>
            <a:r>
              <a:rPr kumimoji="0" lang="en-US" altLang="en-US" sz="1800" b="1" i="0" u="none" strike="noStrike" cap="none" normalizeH="0" baseline="0" dirty="0">
                <a:ln>
                  <a:noFill/>
                </a:ln>
                <a:solidFill>
                  <a:srgbClr val="FFFF00"/>
                </a:solidFill>
                <a:effectLst/>
                <a:latin typeface="Comic Sans MS" panose="030F0702030302020204" pitchFamily="66" charset="0"/>
              </a:rPr>
              <a:t>Takeaway:</a:t>
            </a:r>
            <a:br>
              <a:rPr kumimoji="0" lang="en-US" altLang="en-US" sz="1800" b="0" i="0" u="none" strike="noStrike" cap="none" normalizeH="0" baseline="0" dirty="0">
                <a:ln>
                  <a:noFill/>
                </a:ln>
                <a:solidFill>
                  <a:schemeClr val="tx1"/>
                </a:solidFill>
                <a:effectLst/>
                <a:latin typeface="Comic Sans MS" panose="030F0702030302020204" pitchFamily="66" charset="0"/>
              </a:rPr>
            </a:br>
            <a:r>
              <a:rPr kumimoji="0" lang="en-US" altLang="en-US" sz="1800" b="1" i="0" u="none" strike="noStrike" cap="none" normalizeH="0" baseline="0" dirty="0">
                <a:ln>
                  <a:noFill/>
                </a:ln>
                <a:solidFill>
                  <a:schemeClr val="tx1"/>
                </a:solidFill>
                <a:effectLst/>
                <a:latin typeface="Comic Sans MS" panose="030F0702030302020204" pitchFamily="66" charset="0"/>
              </a:rPr>
              <a:t>Better income and resources lead to healthier, longer lives</a:t>
            </a:r>
            <a:r>
              <a:rPr kumimoji="0" lang="en-US" altLang="en-US" sz="1800" b="0" i="0" u="none" strike="noStrike" cap="none" normalizeH="0" baseline="0" dirty="0">
                <a:ln>
                  <a:noFill/>
                </a:ln>
                <a:solidFill>
                  <a:schemeClr val="tx1"/>
                </a:solidFill>
                <a:effectLst/>
                <a:latin typeface="Comic Sans MS" panose="030F0702030302020204" pitchFamily="66" charset="0"/>
              </a:rPr>
              <a:t>. Economic growth and investment in social services can improve health outcomes globally.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omic Sans MS" panose="030F0702030302020204" pitchFamily="66" charset="0"/>
            </a:endParaRPr>
          </a:p>
        </p:txBody>
      </p:sp>
    </p:spTree>
    <p:extLst>
      <p:ext uri="{BB962C8B-B14F-4D97-AF65-F5344CB8AC3E}">
        <p14:creationId xmlns:p14="http://schemas.microsoft.com/office/powerpoint/2010/main" val="1171540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921CF-6A8C-7395-1C48-5E8281B785BC}"/>
              </a:ext>
            </a:extLst>
          </p:cNvPr>
          <p:cNvSpPr>
            <a:spLocks noGrp="1"/>
          </p:cNvSpPr>
          <p:nvPr>
            <p:ph type="title"/>
          </p:nvPr>
        </p:nvSpPr>
        <p:spPr>
          <a:xfrm>
            <a:off x="130629" y="108857"/>
            <a:ext cx="11462657" cy="794657"/>
          </a:xfrm>
        </p:spPr>
        <p:txBody>
          <a:bodyPr>
            <a:normAutofit/>
          </a:bodyPr>
          <a:lstStyle/>
          <a:p>
            <a:r>
              <a:rPr lang="en-US" b="1" dirty="0"/>
              <a:t>Other key insight</a:t>
            </a:r>
            <a:endParaRPr lang="en-IN" b="1" dirty="0"/>
          </a:p>
        </p:txBody>
      </p:sp>
      <p:graphicFrame>
        <p:nvGraphicFramePr>
          <p:cNvPr id="4" name="Content Placeholder 3">
            <a:extLst>
              <a:ext uri="{FF2B5EF4-FFF2-40B4-BE49-F238E27FC236}">
                <a16:creationId xmlns:a16="http://schemas.microsoft.com/office/drawing/2014/main" id="{AC921EB5-9BE8-6F52-6CC7-CBBE95E9788D}"/>
              </a:ext>
            </a:extLst>
          </p:cNvPr>
          <p:cNvGraphicFramePr>
            <a:graphicFrameLocks noGrp="1"/>
          </p:cNvGraphicFramePr>
          <p:nvPr>
            <p:ph idx="1"/>
            <p:extLst>
              <p:ext uri="{D42A27DB-BD31-4B8C-83A1-F6EECF244321}">
                <p14:modId xmlns:p14="http://schemas.microsoft.com/office/powerpoint/2010/main" val="3799142774"/>
              </p:ext>
            </p:extLst>
          </p:nvPr>
        </p:nvGraphicFramePr>
        <p:xfrm>
          <a:off x="283028" y="1077685"/>
          <a:ext cx="11310258" cy="5595255"/>
        </p:xfrm>
        <a:graphic>
          <a:graphicData uri="http://schemas.openxmlformats.org/drawingml/2006/table">
            <a:tbl>
              <a:tblPr>
                <a:tableStyleId>{616DA210-FB5B-4158-B5E0-FEB733F419BA}</a:tableStyleId>
              </a:tblPr>
              <a:tblGrid>
                <a:gridCol w="5655129">
                  <a:extLst>
                    <a:ext uri="{9D8B030D-6E8A-4147-A177-3AD203B41FA5}">
                      <a16:colId xmlns:a16="http://schemas.microsoft.com/office/drawing/2014/main" val="3613657970"/>
                    </a:ext>
                  </a:extLst>
                </a:gridCol>
                <a:gridCol w="5655129">
                  <a:extLst>
                    <a:ext uri="{9D8B030D-6E8A-4147-A177-3AD203B41FA5}">
                      <a16:colId xmlns:a16="http://schemas.microsoft.com/office/drawing/2014/main" val="1718528616"/>
                    </a:ext>
                  </a:extLst>
                </a:gridCol>
              </a:tblGrid>
              <a:tr h="658265">
                <a:tc>
                  <a:txBody>
                    <a:bodyPr/>
                    <a:lstStyle/>
                    <a:p>
                      <a:r>
                        <a:rPr lang="en-IN" b="1">
                          <a:solidFill>
                            <a:srgbClr val="FFFF00"/>
                          </a:solidFill>
                          <a:latin typeface="Comic Sans MS" panose="030F0702030302020204" pitchFamily="66" charset="0"/>
                        </a:rPr>
                        <a:t>Insight</a:t>
                      </a:r>
                      <a:endParaRPr lang="en-IN">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Details</a:t>
                      </a:r>
                      <a:endParaRPr lang="en-IN">
                        <a:solidFill>
                          <a:srgbClr val="00FFFF"/>
                        </a:solidFill>
                        <a:latin typeface="Comic Sans MS" panose="030F0702030302020204" pitchFamily="66" charset="0"/>
                      </a:endParaRPr>
                    </a:p>
                  </a:txBody>
                  <a:tcPr anchor="ctr"/>
                </a:tc>
                <a:extLst>
                  <a:ext uri="{0D108BD9-81ED-4DB2-BD59-A6C34878D82A}">
                    <a16:rowId xmlns:a16="http://schemas.microsoft.com/office/drawing/2014/main" val="3128005582"/>
                  </a:ext>
                </a:extLst>
              </a:tr>
              <a:tr h="658265">
                <a:tc>
                  <a:txBody>
                    <a:bodyPr/>
                    <a:lstStyle/>
                    <a:p>
                      <a:r>
                        <a:rPr lang="en-IN" b="1" dirty="0">
                          <a:solidFill>
                            <a:srgbClr val="FFFF00"/>
                          </a:solidFill>
                          <a:latin typeface="Comic Sans MS" panose="030F0702030302020204" pitchFamily="66" charset="0"/>
                        </a:rPr>
                        <a:t>Top Continent</a:t>
                      </a:r>
                      <a:endParaRPr lang="en-IN" dirty="0">
                        <a:solidFill>
                          <a:srgbClr val="FFFF00"/>
                        </a:solidFill>
                        <a:latin typeface="Comic Sans MS" panose="030F0702030302020204" pitchFamily="66" charset="0"/>
                      </a:endParaRPr>
                    </a:p>
                  </a:txBody>
                  <a:tcPr anchor="ctr"/>
                </a:tc>
                <a:tc>
                  <a:txBody>
                    <a:bodyPr/>
                    <a:lstStyle/>
                    <a:p>
                      <a:r>
                        <a:rPr lang="en-US" b="1">
                          <a:solidFill>
                            <a:srgbClr val="00FFFF"/>
                          </a:solidFill>
                          <a:latin typeface="Comic Sans MS" panose="030F0702030302020204" pitchFamily="66" charset="0"/>
                        </a:rPr>
                        <a:t>Europe</a:t>
                      </a:r>
                      <a:r>
                        <a:rPr lang="en-US">
                          <a:solidFill>
                            <a:srgbClr val="00FFFF"/>
                          </a:solidFill>
                          <a:latin typeface="Comic Sans MS" panose="030F0702030302020204" pitchFamily="66" charset="0"/>
                        </a:rPr>
                        <a:t> – Highest average income composition (0.80).</a:t>
                      </a:r>
                    </a:p>
                  </a:txBody>
                  <a:tcPr anchor="ctr"/>
                </a:tc>
                <a:extLst>
                  <a:ext uri="{0D108BD9-81ED-4DB2-BD59-A6C34878D82A}">
                    <a16:rowId xmlns:a16="http://schemas.microsoft.com/office/drawing/2014/main" val="2551993135"/>
                  </a:ext>
                </a:extLst>
              </a:tr>
              <a:tr h="1151965">
                <a:tc>
                  <a:txBody>
                    <a:bodyPr/>
                    <a:lstStyle/>
                    <a:p>
                      <a:r>
                        <a:rPr lang="en-IN" b="1">
                          <a:solidFill>
                            <a:srgbClr val="FFFF00"/>
                          </a:solidFill>
                          <a:latin typeface="Comic Sans MS" panose="030F0702030302020204" pitchFamily="66" charset="0"/>
                        </a:rPr>
                        <a:t>Lowest Continent</a:t>
                      </a:r>
                      <a:endParaRPr lang="en-IN">
                        <a:solidFill>
                          <a:srgbClr val="FFFF00"/>
                        </a:solidFill>
                        <a:latin typeface="Comic Sans MS" panose="030F0702030302020204" pitchFamily="66" charset="0"/>
                      </a:endParaRPr>
                    </a:p>
                  </a:txBody>
                  <a:tcPr anchor="ctr"/>
                </a:tc>
                <a:tc>
                  <a:txBody>
                    <a:bodyPr/>
                    <a:lstStyle/>
                    <a:p>
                      <a:r>
                        <a:rPr lang="en-US" b="1">
                          <a:solidFill>
                            <a:srgbClr val="00FFFF"/>
                          </a:solidFill>
                          <a:latin typeface="Comic Sans MS" panose="030F0702030302020204" pitchFamily="66" charset="0"/>
                        </a:rPr>
                        <a:t>Africa</a:t>
                      </a:r>
                      <a:r>
                        <a:rPr lang="en-US">
                          <a:solidFill>
                            <a:srgbClr val="00FFFF"/>
                          </a:solidFill>
                          <a:latin typeface="Comic Sans MS" panose="030F0702030302020204" pitchFamily="66" charset="0"/>
                        </a:rPr>
                        <a:t> – Lowest average, showing economic challenges.</a:t>
                      </a:r>
                    </a:p>
                  </a:txBody>
                  <a:tcPr anchor="ctr"/>
                </a:tc>
                <a:extLst>
                  <a:ext uri="{0D108BD9-81ED-4DB2-BD59-A6C34878D82A}">
                    <a16:rowId xmlns:a16="http://schemas.microsoft.com/office/drawing/2014/main" val="2766801832"/>
                  </a:ext>
                </a:extLst>
              </a:tr>
              <a:tr h="658265">
                <a:tc>
                  <a:txBody>
                    <a:bodyPr/>
                    <a:lstStyle/>
                    <a:p>
                      <a:r>
                        <a:rPr lang="en-US" b="1">
                          <a:solidFill>
                            <a:srgbClr val="FFFF00"/>
                          </a:solidFill>
                          <a:latin typeface="Comic Sans MS" panose="030F0702030302020204" pitchFamily="66" charset="0"/>
                        </a:rPr>
                        <a:t>Top Countries (Avg, All Years)</a:t>
                      </a:r>
                      <a:endParaRPr lang="en-US">
                        <a:solidFill>
                          <a:srgbClr val="FFFF00"/>
                        </a:solidFill>
                        <a:latin typeface="Comic Sans MS" panose="030F0702030302020204" pitchFamily="66" charset="0"/>
                      </a:endParaRPr>
                    </a:p>
                  </a:txBody>
                  <a:tcPr anchor="ctr"/>
                </a:tc>
                <a:tc>
                  <a:txBody>
                    <a:bodyPr/>
                    <a:lstStyle/>
                    <a:p>
                      <a:r>
                        <a:rPr lang="en-IN" b="1">
                          <a:solidFill>
                            <a:srgbClr val="00FFFF"/>
                          </a:solidFill>
                          <a:latin typeface="Comic Sans MS" panose="030F0702030302020204" pitchFamily="66" charset="0"/>
                        </a:rPr>
                        <a:t>Norway (0.93)</a:t>
                      </a:r>
                      <a:r>
                        <a:rPr lang="en-IN">
                          <a:solidFill>
                            <a:srgbClr val="00FFFF"/>
                          </a:solidFill>
                          <a:latin typeface="Comic Sans MS" panose="030F0702030302020204" pitchFamily="66" charset="0"/>
                        </a:rPr>
                        <a:t>, </a:t>
                      </a:r>
                      <a:r>
                        <a:rPr lang="en-IN" b="1">
                          <a:solidFill>
                            <a:srgbClr val="00FFFF"/>
                          </a:solidFill>
                          <a:latin typeface="Comic Sans MS" panose="030F0702030302020204" pitchFamily="66" charset="0"/>
                        </a:rPr>
                        <a:t>Australia (0.918)</a:t>
                      </a:r>
                      <a:r>
                        <a:rPr lang="en-IN">
                          <a:solidFill>
                            <a:srgbClr val="00FFFF"/>
                          </a:solidFill>
                          <a:latin typeface="Comic Sans MS" panose="030F0702030302020204" pitchFamily="66" charset="0"/>
                        </a:rPr>
                        <a:t>, </a:t>
                      </a:r>
                      <a:r>
                        <a:rPr lang="en-IN" b="1">
                          <a:solidFill>
                            <a:srgbClr val="00FFFF"/>
                          </a:solidFill>
                          <a:latin typeface="Comic Sans MS" panose="030F0702030302020204" pitchFamily="66" charset="0"/>
                        </a:rPr>
                        <a:t>Switzerland (0.911)</a:t>
                      </a:r>
                      <a:r>
                        <a:rPr lang="en-IN">
                          <a:solidFill>
                            <a:srgbClr val="00FFFF"/>
                          </a:solidFill>
                          <a:latin typeface="Comic Sans MS" panose="030F0702030302020204" pitchFamily="66" charset="0"/>
                        </a:rPr>
                        <a:t>.</a:t>
                      </a:r>
                    </a:p>
                  </a:txBody>
                  <a:tcPr anchor="ctr"/>
                </a:tc>
                <a:extLst>
                  <a:ext uri="{0D108BD9-81ED-4DB2-BD59-A6C34878D82A}">
                    <a16:rowId xmlns:a16="http://schemas.microsoft.com/office/drawing/2014/main" val="1902961327"/>
                  </a:ext>
                </a:extLst>
              </a:tr>
              <a:tr h="1151965">
                <a:tc>
                  <a:txBody>
                    <a:bodyPr/>
                    <a:lstStyle/>
                    <a:p>
                      <a:r>
                        <a:rPr lang="en-US" b="1">
                          <a:solidFill>
                            <a:srgbClr val="FFFF00"/>
                          </a:solidFill>
                          <a:latin typeface="Comic Sans MS" panose="030F0702030302020204" pitchFamily="66" charset="0"/>
                        </a:rPr>
                        <a:t>Lowest Countries (Avg, All Years)</a:t>
                      </a:r>
                      <a:endParaRPr lang="en-US">
                        <a:solidFill>
                          <a:srgbClr val="FFFF00"/>
                        </a:solidFill>
                        <a:latin typeface="Comic Sans MS" panose="030F0702030302020204" pitchFamily="66" charset="0"/>
                      </a:endParaRPr>
                    </a:p>
                  </a:txBody>
                  <a:tcPr anchor="ctr"/>
                </a:tc>
                <a:tc>
                  <a:txBody>
                    <a:bodyPr/>
                    <a:lstStyle/>
                    <a:p>
                      <a:r>
                        <a:rPr lang="fi-FI" b="1" dirty="0">
                          <a:solidFill>
                            <a:srgbClr val="00FFFF"/>
                          </a:solidFill>
                          <a:latin typeface="Comic Sans MS" panose="030F0702030302020204" pitchFamily="66" charset="0"/>
                        </a:rPr>
                        <a:t>South Sudan (0.13)</a:t>
                      </a:r>
                      <a:r>
                        <a:rPr lang="fi-FI" dirty="0">
                          <a:solidFill>
                            <a:srgbClr val="00FFFF"/>
                          </a:solidFill>
                          <a:latin typeface="Comic Sans MS" panose="030F0702030302020204" pitchFamily="66" charset="0"/>
                        </a:rPr>
                        <a:t>, </a:t>
                      </a:r>
                      <a:r>
                        <a:rPr lang="fi-FI" b="1" dirty="0">
                          <a:solidFill>
                            <a:srgbClr val="00FFFF"/>
                          </a:solidFill>
                          <a:latin typeface="Comic Sans MS" panose="030F0702030302020204" pitchFamily="66" charset="0"/>
                        </a:rPr>
                        <a:t>Bhutan (0.18)</a:t>
                      </a:r>
                      <a:r>
                        <a:rPr lang="fi-FI" dirty="0">
                          <a:solidFill>
                            <a:srgbClr val="00FFFF"/>
                          </a:solidFill>
                          <a:latin typeface="Comic Sans MS" panose="030F0702030302020204" pitchFamily="66" charset="0"/>
                        </a:rPr>
                        <a:t>, </a:t>
                      </a:r>
                      <a:r>
                        <a:rPr lang="fi-FI" b="1" dirty="0">
                          <a:solidFill>
                            <a:srgbClr val="00FFFF"/>
                          </a:solidFill>
                          <a:latin typeface="Comic Sans MS" panose="030F0702030302020204" pitchFamily="66" charset="0"/>
                        </a:rPr>
                        <a:t>Turkmenistan (0.20)</a:t>
                      </a:r>
                      <a:r>
                        <a:rPr lang="fi-FI" dirty="0">
                          <a:solidFill>
                            <a:srgbClr val="00FFFF"/>
                          </a:solidFill>
                          <a:latin typeface="Comic Sans MS" panose="030F0702030302020204" pitchFamily="66" charset="0"/>
                        </a:rPr>
                        <a:t>.</a:t>
                      </a:r>
                    </a:p>
                  </a:txBody>
                  <a:tcPr anchor="ctr"/>
                </a:tc>
                <a:extLst>
                  <a:ext uri="{0D108BD9-81ED-4DB2-BD59-A6C34878D82A}">
                    <a16:rowId xmlns:a16="http://schemas.microsoft.com/office/drawing/2014/main" val="3339302646"/>
                  </a:ext>
                </a:extLst>
              </a:tr>
              <a:tr h="658265">
                <a:tc>
                  <a:txBody>
                    <a:bodyPr/>
                    <a:lstStyle/>
                    <a:p>
                      <a:r>
                        <a:rPr lang="en-IN" b="1">
                          <a:solidFill>
                            <a:srgbClr val="FFFF00"/>
                          </a:solidFill>
                          <a:latin typeface="Comic Sans MS" panose="030F0702030302020204" pitchFamily="66" charset="0"/>
                        </a:rPr>
                        <a:t>Top Countries (2015)</a:t>
                      </a:r>
                      <a:endParaRPr lang="en-IN">
                        <a:solidFill>
                          <a:srgbClr val="FFFF00"/>
                        </a:solidFill>
                        <a:latin typeface="Comic Sans MS" panose="030F0702030302020204" pitchFamily="66" charset="0"/>
                      </a:endParaRPr>
                    </a:p>
                  </a:txBody>
                  <a:tcPr anchor="ctr"/>
                </a:tc>
                <a:tc>
                  <a:txBody>
                    <a:bodyPr/>
                    <a:lstStyle/>
                    <a:p>
                      <a:r>
                        <a:rPr lang="de-DE" b="1">
                          <a:solidFill>
                            <a:srgbClr val="00FFFF"/>
                          </a:solidFill>
                          <a:latin typeface="Comic Sans MS" panose="030F0702030302020204" pitchFamily="66" charset="0"/>
                        </a:rPr>
                        <a:t>Norway (0.94)</a:t>
                      </a:r>
                      <a:r>
                        <a:rPr lang="de-DE">
                          <a:solidFill>
                            <a:srgbClr val="00FFFF"/>
                          </a:solidFill>
                          <a:latin typeface="Comic Sans MS" panose="030F0702030302020204" pitchFamily="66" charset="0"/>
                        </a:rPr>
                        <a:t>, </a:t>
                      </a:r>
                      <a:r>
                        <a:rPr lang="de-DE" b="1">
                          <a:solidFill>
                            <a:srgbClr val="00FFFF"/>
                          </a:solidFill>
                          <a:latin typeface="Comic Sans MS" panose="030F0702030302020204" pitchFamily="66" charset="0"/>
                        </a:rPr>
                        <a:t>Switzerland (0.93)</a:t>
                      </a:r>
                      <a:r>
                        <a:rPr lang="de-DE">
                          <a:solidFill>
                            <a:srgbClr val="00FFFF"/>
                          </a:solidFill>
                          <a:latin typeface="Comic Sans MS" panose="030F0702030302020204" pitchFamily="66" charset="0"/>
                        </a:rPr>
                        <a:t>, </a:t>
                      </a:r>
                      <a:r>
                        <a:rPr lang="de-DE" b="1">
                          <a:solidFill>
                            <a:srgbClr val="00FFFF"/>
                          </a:solidFill>
                          <a:latin typeface="Comic Sans MS" panose="030F0702030302020204" pitchFamily="66" charset="0"/>
                        </a:rPr>
                        <a:t>Australia (0.93)</a:t>
                      </a:r>
                      <a:r>
                        <a:rPr lang="de-DE">
                          <a:solidFill>
                            <a:srgbClr val="00FFFF"/>
                          </a:solidFill>
                          <a:latin typeface="Comic Sans MS" panose="030F0702030302020204" pitchFamily="66" charset="0"/>
                        </a:rPr>
                        <a:t>.</a:t>
                      </a:r>
                    </a:p>
                  </a:txBody>
                  <a:tcPr anchor="ctr"/>
                </a:tc>
                <a:extLst>
                  <a:ext uri="{0D108BD9-81ED-4DB2-BD59-A6C34878D82A}">
                    <a16:rowId xmlns:a16="http://schemas.microsoft.com/office/drawing/2014/main" val="2576956704"/>
                  </a:ext>
                </a:extLst>
              </a:tr>
              <a:tr h="658265">
                <a:tc>
                  <a:txBody>
                    <a:bodyPr/>
                    <a:lstStyle/>
                    <a:p>
                      <a:r>
                        <a:rPr lang="en-IN" b="1" dirty="0">
                          <a:solidFill>
                            <a:srgbClr val="FFFF00"/>
                          </a:solidFill>
                          <a:latin typeface="Comic Sans MS" panose="030F0702030302020204" pitchFamily="66" charset="0"/>
                        </a:rPr>
                        <a:t>Lowest Countries (2015)</a:t>
                      </a:r>
                      <a:endParaRPr lang="en-IN" dirty="0">
                        <a:solidFill>
                          <a:srgbClr val="FFFF00"/>
                        </a:solidFill>
                        <a:latin typeface="Comic Sans MS" panose="030F0702030302020204" pitchFamily="66" charset="0"/>
                      </a:endParaRPr>
                    </a:p>
                  </a:txBody>
                  <a:tcPr anchor="ctr"/>
                </a:tc>
                <a:tc>
                  <a:txBody>
                    <a:bodyPr/>
                    <a:lstStyle/>
                    <a:p>
                      <a:r>
                        <a:rPr lang="en-US" b="1" dirty="0">
                          <a:solidFill>
                            <a:srgbClr val="00FFFF"/>
                          </a:solidFill>
                          <a:latin typeface="Comic Sans MS" panose="030F0702030302020204" pitchFamily="66" charset="0"/>
                        </a:rPr>
                        <a:t>Central African Rep. (0.34)</a:t>
                      </a:r>
                      <a:r>
                        <a:rPr lang="en-US" dirty="0">
                          <a:solidFill>
                            <a:srgbClr val="00FFFF"/>
                          </a:solidFill>
                          <a:latin typeface="Comic Sans MS" panose="030F0702030302020204" pitchFamily="66" charset="0"/>
                        </a:rPr>
                        <a:t>, </a:t>
                      </a:r>
                      <a:r>
                        <a:rPr lang="en-US" b="1" dirty="0">
                          <a:solidFill>
                            <a:srgbClr val="00FFFF"/>
                          </a:solidFill>
                          <a:latin typeface="Comic Sans MS" panose="030F0702030302020204" pitchFamily="66" charset="0"/>
                        </a:rPr>
                        <a:t>Niger (0.35)</a:t>
                      </a:r>
                      <a:r>
                        <a:rPr lang="en-US" dirty="0">
                          <a:solidFill>
                            <a:srgbClr val="00FFFF"/>
                          </a:solidFill>
                          <a:latin typeface="Comic Sans MS" panose="030F0702030302020204" pitchFamily="66" charset="0"/>
                        </a:rPr>
                        <a:t>, </a:t>
                      </a:r>
                      <a:r>
                        <a:rPr lang="en-US" b="1" dirty="0">
                          <a:solidFill>
                            <a:srgbClr val="00FFFF"/>
                          </a:solidFill>
                          <a:latin typeface="Comic Sans MS" panose="030F0702030302020204" pitchFamily="66" charset="0"/>
                        </a:rPr>
                        <a:t>Chad (0.39)</a:t>
                      </a:r>
                      <a:r>
                        <a:rPr lang="en-US" dirty="0">
                          <a:solidFill>
                            <a:srgbClr val="00FFFF"/>
                          </a:solidFill>
                          <a:latin typeface="Comic Sans MS" panose="030F0702030302020204" pitchFamily="66" charset="0"/>
                        </a:rPr>
                        <a:t>.</a:t>
                      </a:r>
                    </a:p>
                  </a:txBody>
                  <a:tcPr anchor="ctr"/>
                </a:tc>
                <a:extLst>
                  <a:ext uri="{0D108BD9-81ED-4DB2-BD59-A6C34878D82A}">
                    <a16:rowId xmlns:a16="http://schemas.microsoft.com/office/drawing/2014/main" val="1768844836"/>
                  </a:ext>
                </a:extLst>
              </a:tr>
            </a:tbl>
          </a:graphicData>
        </a:graphic>
      </p:graphicFrame>
    </p:spTree>
    <p:extLst>
      <p:ext uri="{BB962C8B-B14F-4D97-AF65-F5344CB8AC3E}">
        <p14:creationId xmlns:p14="http://schemas.microsoft.com/office/powerpoint/2010/main" val="375643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7F8D3-F690-0786-0757-4B9FEAA4FBCC}"/>
              </a:ext>
            </a:extLst>
          </p:cNvPr>
          <p:cNvSpPr>
            <a:spLocks noGrp="1"/>
          </p:cNvSpPr>
          <p:nvPr>
            <p:ph type="title"/>
          </p:nvPr>
        </p:nvSpPr>
        <p:spPr>
          <a:xfrm>
            <a:off x="337457" y="246385"/>
            <a:ext cx="11016343" cy="842186"/>
          </a:xfrm>
        </p:spPr>
        <p:txBody>
          <a:bodyPr/>
          <a:lstStyle/>
          <a:p>
            <a:r>
              <a:rPr lang="en-US" dirty="0">
                <a:latin typeface="+mn-lt"/>
              </a:rPr>
              <a:t>17 . Schooling</a:t>
            </a:r>
            <a:endParaRPr lang="en-IN" dirty="0">
              <a:latin typeface="+mn-lt"/>
            </a:endParaRPr>
          </a:p>
        </p:txBody>
      </p:sp>
      <p:pic>
        <p:nvPicPr>
          <p:cNvPr id="6" name="Content Placeholder 5">
            <a:extLst>
              <a:ext uri="{FF2B5EF4-FFF2-40B4-BE49-F238E27FC236}">
                <a16:creationId xmlns:a16="http://schemas.microsoft.com/office/drawing/2014/main" id="{0BB7645E-01D8-F6BC-E582-A8EBA0863C93}"/>
              </a:ext>
            </a:extLst>
          </p:cNvPr>
          <p:cNvPicPr>
            <a:picLocks noGrp="1" noChangeAspect="1"/>
          </p:cNvPicPr>
          <p:nvPr>
            <p:ph sz="half" idx="1"/>
          </p:nvPr>
        </p:nvPicPr>
        <p:blipFill>
          <a:blip r:embed="rId2"/>
          <a:stretch>
            <a:fillRect/>
          </a:stretch>
        </p:blipFill>
        <p:spPr>
          <a:xfrm>
            <a:off x="163286" y="1230086"/>
            <a:ext cx="5856514" cy="5497285"/>
          </a:xfrm>
        </p:spPr>
      </p:pic>
      <p:sp>
        <p:nvSpPr>
          <p:cNvPr id="4" name="Content Placeholder 3">
            <a:extLst>
              <a:ext uri="{FF2B5EF4-FFF2-40B4-BE49-F238E27FC236}">
                <a16:creationId xmlns:a16="http://schemas.microsoft.com/office/drawing/2014/main" id="{978FC147-A293-D150-A4E3-CE41ABD6CB13}"/>
              </a:ext>
            </a:extLst>
          </p:cNvPr>
          <p:cNvSpPr>
            <a:spLocks noGrp="1"/>
          </p:cNvSpPr>
          <p:nvPr>
            <p:ph sz="half" idx="2"/>
          </p:nvPr>
        </p:nvSpPr>
        <p:spPr>
          <a:xfrm>
            <a:off x="6172199" y="163286"/>
            <a:ext cx="5932715" cy="6564085"/>
          </a:xfrm>
        </p:spPr>
        <p:txBody>
          <a:bodyPr>
            <a:noAutofit/>
          </a:bodyPr>
          <a:lstStyle/>
          <a:p>
            <a:r>
              <a:rPr lang="en-US" sz="2000" dirty="0">
                <a:solidFill>
                  <a:srgbClr val="FFFF00"/>
                </a:solidFill>
                <a:latin typeface="Comic Sans MS" panose="030F0702030302020204" pitchFamily="66" charset="0"/>
              </a:rPr>
              <a:t>Schooling shows how many years of education (like primary, secondary, and possibly college) people typically get in a country.</a:t>
            </a:r>
          </a:p>
          <a:p>
            <a:endParaRPr lang="en-IN" sz="2000" dirty="0">
              <a:latin typeface="Comic Sans MS" panose="030F0702030302020204" pitchFamily="66" charset="0"/>
            </a:endParaRPr>
          </a:p>
          <a:p>
            <a:r>
              <a:rPr lang="en-US" sz="2000" dirty="0">
                <a:solidFill>
                  <a:srgbClr val="00FFFF"/>
                </a:solidFill>
                <a:latin typeface="Comic Sans MS" panose="030F0702030302020204" pitchFamily="66" charset="0"/>
              </a:rPr>
              <a:t>The scatter plot shows a positive relationship between schooling and life expectancy across continents.   </a:t>
            </a:r>
          </a:p>
          <a:p>
            <a:endParaRPr lang="en-US" sz="2000" dirty="0">
              <a:solidFill>
                <a:srgbClr val="00FFFF"/>
              </a:solidFill>
              <a:latin typeface="Comic Sans MS" panose="030F0702030302020204" pitchFamily="66" charset="0"/>
            </a:endParaRPr>
          </a:p>
          <a:p>
            <a:r>
              <a:rPr lang="en-US" sz="2000" dirty="0">
                <a:solidFill>
                  <a:srgbClr val="00FFFF"/>
                </a:solidFill>
                <a:latin typeface="Comic Sans MS" panose="030F0702030302020204" pitchFamily="66" charset="0"/>
              </a:rPr>
              <a:t> Higher schooling levels generally correspond to longer life spans.   </a:t>
            </a:r>
          </a:p>
          <a:p>
            <a:r>
              <a:rPr lang="en-US" sz="2000" dirty="0">
                <a:latin typeface="Comic Sans MS" panose="030F0702030302020204" pitchFamily="66" charset="0"/>
              </a:rPr>
              <a:t> </a:t>
            </a:r>
            <a:r>
              <a:rPr lang="en-US" sz="2000" dirty="0">
                <a:solidFill>
                  <a:srgbClr val="FFFF00"/>
                </a:solidFill>
                <a:latin typeface="Comic Sans MS" panose="030F0702030302020204" pitchFamily="66" charset="0"/>
              </a:rPr>
              <a:t>Europe and Asia lead in life expectancy at similar education levels, while </a:t>
            </a:r>
          </a:p>
          <a:p>
            <a:r>
              <a:rPr lang="en-US" sz="2000" dirty="0">
                <a:solidFill>
                  <a:srgbClr val="FFFF00"/>
                </a:solidFill>
                <a:latin typeface="Comic Sans MS" panose="030F0702030302020204" pitchFamily="66" charset="0"/>
              </a:rPr>
              <a:t>Africa shows lower and more varied outcom</a:t>
            </a:r>
            <a:r>
              <a:rPr lang="en-US" sz="2000" dirty="0">
                <a:latin typeface="Comic Sans MS" panose="030F0702030302020204" pitchFamily="66" charset="0"/>
              </a:rPr>
              <a:t>es.   </a:t>
            </a:r>
          </a:p>
          <a:p>
            <a:r>
              <a:rPr lang="en-US" sz="2000" dirty="0">
                <a:latin typeface="Comic Sans MS" panose="030F0702030302020204" pitchFamily="66" charset="0"/>
              </a:rPr>
              <a:t> </a:t>
            </a:r>
            <a:r>
              <a:rPr lang="en-US" sz="2000" dirty="0">
                <a:solidFill>
                  <a:srgbClr val="00FFFF"/>
                </a:solidFill>
                <a:latin typeface="Comic Sans MS" panose="030F0702030302020204" pitchFamily="66" charset="0"/>
              </a:rPr>
              <a:t>North America and Oceania maintain consistently high life expectancy, whereas South America falls in a moderate range</a:t>
            </a:r>
            <a:r>
              <a:rPr lang="en-US" sz="2000" dirty="0">
                <a:latin typeface="Comic Sans MS" panose="030F0702030302020204" pitchFamily="66" charset="0"/>
              </a:rPr>
              <a:t>.</a:t>
            </a:r>
          </a:p>
          <a:p>
            <a:endParaRPr lang="en-US" sz="2000" dirty="0">
              <a:latin typeface="Comic Sans MS" panose="030F0702030302020204" pitchFamily="66" charset="0"/>
            </a:endParaRPr>
          </a:p>
          <a:p>
            <a:r>
              <a:rPr lang="en-US" sz="2000" dirty="0">
                <a:solidFill>
                  <a:srgbClr val="FFFF00"/>
                </a:solidFill>
                <a:latin typeface="Comic Sans MS" panose="030F0702030302020204" pitchFamily="66" charset="0"/>
              </a:rPr>
              <a:t>Overall, education is a strong global predictor of life expectancy, though regional disparities exist.</a:t>
            </a:r>
            <a:endParaRPr lang="en-IN" sz="2000" dirty="0">
              <a:solidFill>
                <a:srgbClr val="FFFF00"/>
              </a:solidFill>
              <a:latin typeface="Comic Sans MS" panose="030F0702030302020204" pitchFamily="66" charset="0"/>
            </a:endParaRPr>
          </a:p>
          <a:p>
            <a:endParaRPr lang="en-IN" sz="2000" dirty="0">
              <a:latin typeface="Comic Sans MS" panose="030F0702030302020204" pitchFamily="66" charset="0"/>
            </a:endParaRPr>
          </a:p>
        </p:txBody>
      </p:sp>
    </p:spTree>
    <p:extLst>
      <p:ext uri="{BB962C8B-B14F-4D97-AF65-F5344CB8AC3E}">
        <p14:creationId xmlns:p14="http://schemas.microsoft.com/office/powerpoint/2010/main" val="12123954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F0775-F8A0-C5A0-5E5E-5242E832152D}"/>
              </a:ext>
            </a:extLst>
          </p:cNvPr>
          <p:cNvSpPr>
            <a:spLocks noGrp="1"/>
          </p:cNvSpPr>
          <p:nvPr>
            <p:ph type="title"/>
          </p:nvPr>
        </p:nvSpPr>
        <p:spPr>
          <a:xfrm>
            <a:off x="195943" y="163287"/>
            <a:ext cx="11157857" cy="674913"/>
          </a:xfrm>
        </p:spPr>
        <p:txBody>
          <a:bodyPr>
            <a:normAutofit fontScale="90000"/>
          </a:bodyPr>
          <a:lstStyle/>
          <a:p>
            <a:r>
              <a:rPr lang="en-US" b="1" dirty="0">
                <a:solidFill>
                  <a:srgbClr val="FF0000"/>
                </a:solidFill>
                <a:latin typeface="+mn-lt"/>
              </a:rPr>
              <a:t>Other Key Insight</a:t>
            </a:r>
            <a:endParaRPr lang="en-IN" b="1" dirty="0">
              <a:solidFill>
                <a:srgbClr val="FF0000"/>
              </a:solidFill>
              <a:latin typeface="+mn-lt"/>
            </a:endParaRPr>
          </a:p>
        </p:txBody>
      </p:sp>
      <p:graphicFrame>
        <p:nvGraphicFramePr>
          <p:cNvPr id="4" name="Content Placeholder 3">
            <a:extLst>
              <a:ext uri="{FF2B5EF4-FFF2-40B4-BE49-F238E27FC236}">
                <a16:creationId xmlns:a16="http://schemas.microsoft.com/office/drawing/2014/main" id="{3F544A28-85E6-BB2A-0127-84D9B2BFED6C}"/>
              </a:ext>
            </a:extLst>
          </p:cNvPr>
          <p:cNvGraphicFramePr>
            <a:graphicFrameLocks noGrp="1"/>
          </p:cNvGraphicFramePr>
          <p:nvPr>
            <p:ph idx="1"/>
            <p:extLst>
              <p:ext uri="{D42A27DB-BD31-4B8C-83A1-F6EECF244321}">
                <p14:modId xmlns:p14="http://schemas.microsoft.com/office/powerpoint/2010/main" val="4186968213"/>
              </p:ext>
            </p:extLst>
          </p:nvPr>
        </p:nvGraphicFramePr>
        <p:xfrm>
          <a:off x="195942" y="1055914"/>
          <a:ext cx="11669487" cy="5850326"/>
        </p:xfrm>
        <a:graphic>
          <a:graphicData uri="http://schemas.openxmlformats.org/drawingml/2006/table">
            <a:tbl>
              <a:tblPr>
                <a:tableStyleId>{616DA210-FB5B-4158-B5E0-FEB733F419BA}</a:tableStyleId>
              </a:tblPr>
              <a:tblGrid>
                <a:gridCol w="4667794">
                  <a:extLst>
                    <a:ext uri="{9D8B030D-6E8A-4147-A177-3AD203B41FA5}">
                      <a16:colId xmlns:a16="http://schemas.microsoft.com/office/drawing/2014/main" val="3152205426"/>
                    </a:ext>
                  </a:extLst>
                </a:gridCol>
                <a:gridCol w="7001693">
                  <a:extLst>
                    <a:ext uri="{9D8B030D-6E8A-4147-A177-3AD203B41FA5}">
                      <a16:colId xmlns:a16="http://schemas.microsoft.com/office/drawing/2014/main" val="4196547232"/>
                    </a:ext>
                  </a:extLst>
                </a:gridCol>
              </a:tblGrid>
              <a:tr h="456231">
                <a:tc>
                  <a:txBody>
                    <a:bodyPr/>
                    <a:lstStyle/>
                    <a:p>
                      <a:r>
                        <a:rPr lang="en-IN" sz="2000" b="1">
                          <a:solidFill>
                            <a:srgbClr val="FF0000"/>
                          </a:solidFill>
                          <a:latin typeface="Comic Sans MS" panose="030F0702030302020204" pitchFamily="66" charset="0"/>
                        </a:rPr>
                        <a:t>Insight</a:t>
                      </a:r>
                      <a:endParaRPr lang="en-IN" sz="2000">
                        <a:solidFill>
                          <a:srgbClr val="FF0000"/>
                        </a:solidFill>
                        <a:latin typeface="Comic Sans MS" panose="030F0702030302020204" pitchFamily="66" charset="0"/>
                      </a:endParaRPr>
                    </a:p>
                  </a:txBody>
                  <a:tcPr anchor="ctr"/>
                </a:tc>
                <a:tc>
                  <a:txBody>
                    <a:bodyPr/>
                    <a:lstStyle/>
                    <a:p>
                      <a:r>
                        <a:rPr lang="en-IN" sz="2000" b="1">
                          <a:solidFill>
                            <a:srgbClr val="00FFFF"/>
                          </a:solidFill>
                          <a:latin typeface="Comic Sans MS" panose="030F0702030302020204" pitchFamily="66" charset="0"/>
                        </a:rPr>
                        <a:t>Description</a:t>
                      </a:r>
                      <a:endParaRPr lang="en-IN" sz="2000">
                        <a:solidFill>
                          <a:srgbClr val="00FFFF"/>
                        </a:solidFill>
                        <a:latin typeface="Comic Sans MS" panose="030F0702030302020204" pitchFamily="66" charset="0"/>
                      </a:endParaRPr>
                    </a:p>
                  </a:txBody>
                  <a:tcPr anchor="ctr"/>
                </a:tc>
                <a:extLst>
                  <a:ext uri="{0D108BD9-81ED-4DB2-BD59-A6C34878D82A}">
                    <a16:rowId xmlns:a16="http://schemas.microsoft.com/office/drawing/2014/main" val="1792544592"/>
                  </a:ext>
                </a:extLst>
              </a:tr>
              <a:tr h="676920">
                <a:tc>
                  <a:txBody>
                    <a:bodyPr/>
                    <a:lstStyle/>
                    <a:p>
                      <a:r>
                        <a:rPr lang="en-US" sz="2000" b="1">
                          <a:solidFill>
                            <a:srgbClr val="FF0000"/>
                          </a:solidFill>
                          <a:latin typeface="Comic Sans MS" panose="030F0702030302020204" pitchFamily="66" charset="0"/>
                        </a:rPr>
                        <a:t>Continent with Highest Avg. Schooling</a:t>
                      </a:r>
                      <a:endParaRPr lang="en-US" sz="2000">
                        <a:solidFill>
                          <a:srgbClr val="FF0000"/>
                        </a:solidFill>
                        <a:latin typeface="Comic Sans MS" panose="030F0702030302020204" pitchFamily="66" charset="0"/>
                      </a:endParaRPr>
                    </a:p>
                  </a:txBody>
                  <a:tcPr anchor="ctr"/>
                </a:tc>
                <a:tc>
                  <a:txBody>
                    <a:bodyPr/>
                    <a:lstStyle/>
                    <a:p>
                      <a:r>
                        <a:rPr lang="en-US" sz="2000" b="1">
                          <a:solidFill>
                            <a:srgbClr val="00FFFF"/>
                          </a:solidFill>
                          <a:latin typeface="Comic Sans MS" panose="030F0702030302020204" pitchFamily="66" charset="0"/>
                        </a:rPr>
                        <a:t>Europe</a:t>
                      </a:r>
                      <a:r>
                        <a:rPr lang="en-US" sz="2000">
                          <a:solidFill>
                            <a:srgbClr val="00FFFF"/>
                          </a:solidFill>
                          <a:latin typeface="Comic Sans MS" panose="030F0702030302020204" pitchFamily="66" charset="0"/>
                        </a:rPr>
                        <a:t> – Highest average schooling: </a:t>
                      </a:r>
                      <a:r>
                        <a:rPr lang="en-US" sz="2000" b="1">
                          <a:solidFill>
                            <a:srgbClr val="00FFFF"/>
                          </a:solidFill>
                          <a:latin typeface="Comic Sans MS" panose="030F0702030302020204" pitchFamily="66" charset="0"/>
                        </a:rPr>
                        <a:t>15.2 years</a:t>
                      </a:r>
                      <a:r>
                        <a:rPr lang="en-US" sz="2000">
                          <a:solidFill>
                            <a:srgbClr val="00FFFF"/>
                          </a:solidFill>
                          <a:latin typeface="Comic Sans MS" panose="030F0702030302020204" pitchFamily="66" charset="0"/>
                        </a:rPr>
                        <a:t>.</a:t>
                      </a:r>
                    </a:p>
                  </a:txBody>
                  <a:tcPr anchor="ctr"/>
                </a:tc>
                <a:extLst>
                  <a:ext uri="{0D108BD9-81ED-4DB2-BD59-A6C34878D82A}">
                    <a16:rowId xmlns:a16="http://schemas.microsoft.com/office/drawing/2014/main" val="219611244"/>
                  </a:ext>
                </a:extLst>
              </a:tr>
              <a:tr h="676920">
                <a:tc>
                  <a:txBody>
                    <a:bodyPr/>
                    <a:lstStyle/>
                    <a:p>
                      <a:r>
                        <a:rPr lang="en-US" sz="2000" b="1">
                          <a:solidFill>
                            <a:srgbClr val="FF0000"/>
                          </a:solidFill>
                          <a:latin typeface="Comic Sans MS" panose="030F0702030302020204" pitchFamily="66" charset="0"/>
                        </a:rPr>
                        <a:t>Continent with Lowest Avg. Schooling</a:t>
                      </a:r>
                      <a:endParaRPr lang="en-US" sz="2000">
                        <a:solidFill>
                          <a:srgbClr val="FF0000"/>
                        </a:solidFill>
                        <a:latin typeface="Comic Sans MS" panose="030F0702030302020204" pitchFamily="66" charset="0"/>
                      </a:endParaRPr>
                    </a:p>
                  </a:txBody>
                  <a:tcPr anchor="ctr"/>
                </a:tc>
                <a:tc>
                  <a:txBody>
                    <a:bodyPr/>
                    <a:lstStyle/>
                    <a:p>
                      <a:r>
                        <a:rPr lang="en-US" sz="2000" b="1">
                          <a:solidFill>
                            <a:srgbClr val="00FFFF"/>
                          </a:solidFill>
                          <a:latin typeface="Comic Sans MS" panose="030F0702030302020204" pitchFamily="66" charset="0"/>
                        </a:rPr>
                        <a:t>Africa</a:t>
                      </a:r>
                      <a:r>
                        <a:rPr lang="en-US" sz="2000">
                          <a:solidFill>
                            <a:srgbClr val="00FFFF"/>
                          </a:solidFill>
                          <a:latin typeface="Comic Sans MS" panose="030F0702030302020204" pitchFamily="66" charset="0"/>
                        </a:rPr>
                        <a:t> – Lowest average schooling: </a:t>
                      </a:r>
                      <a:r>
                        <a:rPr lang="en-US" sz="2000" b="1">
                          <a:solidFill>
                            <a:srgbClr val="00FFFF"/>
                          </a:solidFill>
                          <a:latin typeface="Comic Sans MS" panose="030F0702030302020204" pitchFamily="66" charset="0"/>
                        </a:rPr>
                        <a:t>9.2 years</a:t>
                      </a:r>
                      <a:r>
                        <a:rPr lang="en-US" sz="2000">
                          <a:solidFill>
                            <a:srgbClr val="00FFFF"/>
                          </a:solidFill>
                          <a:latin typeface="Comic Sans MS" panose="030F0702030302020204" pitchFamily="66" charset="0"/>
                        </a:rPr>
                        <a:t>.</a:t>
                      </a:r>
                    </a:p>
                  </a:txBody>
                  <a:tcPr anchor="ctr"/>
                </a:tc>
                <a:extLst>
                  <a:ext uri="{0D108BD9-81ED-4DB2-BD59-A6C34878D82A}">
                    <a16:rowId xmlns:a16="http://schemas.microsoft.com/office/drawing/2014/main" val="655296904"/>
                  </a:ext>
                </a:extLst>
              </a:tr>
              <a:tr h="798403">
                <a:tc>
                  <a:txBody>
                    <a:bodyPr/>
                    <a:lstStyle/>
                    <a:p>
                      <a:r>
                        <a:rPr lang="en-US" sz="2000" b="1" dirty="0">
                          <a:solidFill>
                            <a:srgbClr val="FF0000"/>
                          </a:solidFill>
                          <a:latin typeface="Comic Sans MS" panose="030F0702030302020204" pitchFamily="66" charset="0"/>
                        </a:rPr>
                        <a:t>Top Countries (Avg, All Years)</a:t>
                      </a:r>
                      <a:endParaRPr lang="en-US" sz="2000" dirty="0">
                        <a:solidFill>
                          <a:srgbClr val="FF0000"/>
                        </a:solidFill>
                        <a:latin typeface="Comic Sans MS" panose="030F0702030302020204" pitchFamily="66" charset="0"/>
                      </a:endParaRPr>
                    </a:p>
                  </a:txBody>
                  <a:tcPr anchor="ctr"/>
                </a:tc>
                <a:tc>
                  <a:txBody>
                    <a:bodyPr/>
                    <a:lstStyle/>
                    <a:p>
                      <a:r>
                        <a:rPr lang="en-US" sz="2000" b="1">
                          <a:solidFill>
                            <a:srgbClr val="00FFFF"/>
                          </a:solidFill>
                          <a:latin typeface="Comic Sans MS" panose="030F0702030302020204" pitchFamily="66" charset="0"/>
                        </a:rPr>
                        <a:t>Australia (20 yrs)</a:t>
                      </a:r>
                      <a:r>
                        <a:rPr lang="en-US" sz="2000">
                          <a:solidFill>
                            <a:srgbClr val="00FFFF"/>
                          </a:solidFill>
                          <a:latin typeface="Comic Sans MS" panose="030F0702030302020204" pitchFamily="66" charset="0"/>
                        </a:rPr>
                        <a:t>, </a:t>
                      </a:r>
                      <a:r>
                        <a:rPr lang="en-US" sz="2000" b="1">
                          <a:solidFill>
                            <a:srgbClr val="00FFFF"/>
                          </a:solidFill>
                          <a:latin typeface="Comic Sans MS" panose="030F0702030302020204" pitchFamily="66" charset="0"/>
                        </a:rPr>
                        <a:t>New Zealand (18.86 yrs)</a:t>
                      </a:r>
                      <a:r>
                        <a:rPr lang="en-US" sz="2000">
                          <a:solidFill>
                            <a:srgbClr val="00FFFF"/>
                          </a:solidFill>
                          <a:latin typeface="Comic Sans MS" panose="030F0702030302020204" pitchFamily="66" charset="0"/>
                        </a:rPr>
                        <a:t>, </a:t>
                      </a:r>
                      <a:r>
                        <a:rPr lang="en-US" sz="2000" b="1">
                          <a:solidFill>
                            <a:srgbClr val="00FFFF"/>
                          </a:solidFill>
                          <a:latin typeface="Comic Sans MS" panose="030F0702030302020204" pitchFamily="66" charset="0"/>
                        </a:rPr>
                        <a:t>Iceland (18.1 yrs)</a:t>
                      </a:r>
                      <a:r>
                        <a:rPr lang="en-US" sz="2000">
                          <a:solidFill>
                            <a:srgbClr val="00FFFF"/>
                          </a:solidFill>
                          <a:latin typeface="Comic Sans MS" panose="030F0702030302020204" pitchFamily="66" charset="0"/>
                        </a:rPr>
                        <a:t> – Leading in long-term education.</a:t>
                      </a:r>
                    </a:p>
                  </a:txBody>
                  <a:tcPr anchor="ctr"/>
                </a:tc>
                <a:extLst>
                  <a:ext uri="{0D108BD9-81ED-4DB2-BD59-A6C34878D82A}">
                    <a16:rowId xmlns:a16="http://schemas.microsoft.com/office/drawing/2014/main" val="887336802"/>
                  </a:ext>
                </a:extLst>
              </a:tr>
              <a:tr h="798403">
                <a:tc>
                  <a:txBody>
                    <a:bodyPr/>
                    <a:lstStyle/>
                    <a:p>
                      <a:r>
                        <a:rPr lang="en-US" sz="2000" b="1" dirty="0">
                          <a:solidFill>
                            <a:srgbClr val="FF0000"/>
                          </a:solidFill>
                          <a:latin typeface="Comic Sans MS" panose="030F0702030302020204" pitchFamily="66" charset="0"/>
                        </a:rPr>
                        <a:t>Countries with No Schooling Data</a:t>
                      </a:r>
                      <a:endParaRPr lang="en-US" sz="2000" dirty="0">
                        <a:solidFill>
                          <a:srgbClr val="FF0000"/>
                        </a:solidFill>
                        <a:latin typeface="Comic Sans MS" panose="030F0702030302020204" pitchFamily="66" charset="0"/>
                      </a:endParaRPr>
                    </a:p>
                  </a:txBody>
                  <a:tcPr anchor="ctr"/>
                </a:tc>
                <a:tc>
                  <a:txBody>
                    <a:bodyPr/>
                    <a:lstStyle/>
                    <a:p>
                      <a:r>
                        <a:rPr lang="en-US" sz="2000" b="1" dirty="0">
                          <a:solidFill>
                            <a:srgbClr val="00FFFF"/>
                          </a:solidFill>
                          <a:latin typeface="Comic Sans MS" panose="030F0702030302020204" pitchFamily="66" charset="0"/>
                        </a:rPr>
                        <a:t>Marshall Islands</a:t>
                      </a:r>
                      <a:r>
                        <a:rPr lang="en-US" sz="2000" dirty="0">
                          <a:solidFill>
                            <a:srgbClr val="00FFFF"/>
                          </a:solidFill>
                          <a:latin typeface="Comic Sans MS" panose="030F0702030302020204" pitchFamily="66" charset="0"/>
                        </a:rPr>
                        <a:t> and </a:t>
                      </a:r>
                      <a:r>
                        <a:rPr lang="en-US" sz="2000" b="1" dirty="0">
                          <a:solidFill>
                            <a:srgbClr val="00FFFF"/>
                          </a:solidFill>
                          <a:latin typeface="Comic Sans MS" panose="030F0702030302020204" pitchFamily="66" charset="0"/>
                        </a:rPr>
                        <a:t>Tuvalu</a:t>
                      </a:r>
                      <a:r>
                        <a:rPr lang="en-US" sz="2000" dirty="0">
                          <a:solidFill>
                            <a:srgbClr val="00FFFF"/>
                          </a:solidFill>
                          <a:latin typeface="Comic Sans MS" panose="030F0702030302020204" pitchFamily="66" charset="0"/>
                        </a:rPr>
                        <a:t> – No reported schooling years.</a:t>
                      </a:r>
                    </a:p>
                  </a:txBody>
                  <a:tcPr anchor="ctr"/>
                </a:tc>
                <a:extLst>
                  <a:ext uri="{0D108BD9-81ED-4DB2-BD59-A6C34878D82A}">
                    <a16:rowId xmlns:a16="http://schemas.microsoft.com/office/drawing/2014/main" val="264890082"/>
                  </a:ext>
                </a:extLst>
              </a:tr>
              <a:tr h="798403">
                <a:tc>
                  <a:txBody>
                    <a:bodyPr/>
                    <a:lstStyle/>
                    <a:p>
                      <a:r>
                        <a:rPr lang="en-US" sz="2000" b="1">
                          <a:solidFill>
                            <a:srgbClr val="FF0000"/>
                          </a:solidFill>
                          <a:latin typeface="Comic Sans MS" panose="030F0702030302020204" pitchFamily="66" charset="0"/>
                        </a:rPr>
                        <a:t>Lowest Avg. Schooling (All Years)</a:t>
                      </a:r>
                      <a:endParaRPr lang="en-US" sz="2000">
                        <a:solidFill>
                          <a:srgbClr val="FF0000"/>
                        </a:solidFill>
                        <a:latin typeface="Comic Sans MS" panose="030F0702030302020204" pitchFamily="66" charset="0"/>
                      </a:endParaRPr>
                    </a:p>
                  </a:txBody>
                  <a:tcPr anchor="ctr"/>
                </a:tc>
                <a:tc>
                  <a:txBody>
                    <a:bodyPr/>
                    <a:lstStyle/>
                    <a:p>
                      <a:r>
                        <a:rPr lang="en-US" sz="2000" b="1">
                          <a:solidFill>
                            <a:srgbClr val="00FFFF"/>
                          </a:solidFill>
                          <a:latin typeface="Comic Sans MS" panose="030F0702030302020204" pitchFamily="66" charset="0"/>
                        </a:rPr>
                        <a:t>South Sudan (1.53 yrs)</a:t>
                      </a:r>
                      <a:r>
                        <a:rPr lang="en-US" sz="2000">
                          <a:solidFill>
                            <a:srgbClr val="00FFFF"/>
                          </a:solidFill>
                          <a:latin typeface="Comic Sans MS" panose="030F0702030302020204" pitchFamily="66" charset="0"/>
                        </a:rPr>
                        <a:t>, </a:t>
                      </a:r>
                      <a:r>
                        <a:rPr lang="en-US" sz="2000" b="1">
                          <a:solidFill>
                            <a:srgbClr val="00FFFF"/>
                          </a:solidFill>
                          <a:latin typeface="Comic Sans MS" panose="030F0702030302020204" pitchFamily="66" charset="0"/>
                        </a:rPr>
                        <a:t>Niger (4 yrs)</a:t>
                      </a:r>
                      <a:r>
                        <a:rPr lang="en-US" sz="2000">
                          <a:solidFill>
                            <a:srgbClr val="00FFFF"/>
                          </a:solidFill>
                          <a:latin typeface="Comic Sans MS" panose="030F0702030302020204" pitchFamily="66" charset="0"/>
                        </a:rPr>
                        <a:t>, </a:t>
                      </a:r>
                      <a:r>
                        <a:rPr lang="en-US" sz="2000" b="1">
                          <a:solidFill>
                            <a:srgbClr val="00FFFF"/>
                          </a:solidFill>
                          <a:latin typeface="Comic Sans MS" panose="030F0702030302020204" pitchFamily="66" charset="0"/>
                        </a:rPr>
                        <a:t>Djibouti (4.7 yrs)</a:t>
                      </a:r>
                      <a:r>
                        <a:rPr lang="en-US" sz="2000">
                          <a:solidFill>
                            <a:srgbClr val="00FFFF"/>
                          </a:solidFill>
                          <a:latin typeface="Comic Sans MS" panose="030F0702030302020204" pitchFamily="66" charset="0"/>
                        </a:rPr>
                        <a:t> – Very limited access to education.</a:t>
                      </a:r>
                    </a:p>
                  </a:txBody>
                  <a:tcPr anchor="ctr"/>
                </a:tc>
                <a:extLst>
                  <a:ext uri="{0D108BD9-81ED-4DB2-BD59-A6C34878D82A}">
                    <a16:rowId xmlns:a16="http://schemas.microsoft.com/office/drawing/2014/main" val="3447868277"/>
                  </a:ext>
                </a:extLst>
              </a:tr>
              <a:tr h="798403">
                <a:tc>
                  <a:txBody>
                    <a:bodyPr/>
                    <a:lstStyle/>
                    <a:p>
                      <a:r>
                        <a:rPr lang="en-IN" sz="2000" b="1">
                          <a:solidFill>
                            <a:srgbClr val="FF0000"/>
                          </a:solidFill>
                          <a:latin typeface="Comic Sans MS" panose="030F0702030302020204" pitchFamily="66" charset="0"/>
                        </a:rPr>
                        <a:t>Top 5 Countries (2015)</a:t>
                      </a:r>
                      <a:endParaRPr lang="en-IN" sz="2000">
                        <a:solidFill>
                          <a:srgbClr val="FF0000"/>
                        </a:solidFill>
                        <a:latin typeface="Comic Sans MS" panose="030F0702030302020204" pitchFamily="66" charset="0"/>
                      </a:endParaRPr>
                    </a:p>
                  </a:txBody>
                  <a:tcPr anchor="ctr"/>
                </a:tc>
                <a:tc>
                  <a:txBody>
                    <a:bodyPr/>
                    <a:lstStyle/>
                    <a:p>
                      <a:r>
                        <a:rPr lang="en-IN" sz="2000" b="1">
                          <a:solidFill>
                            <a:srgbClr val="00FFFF"/>
                          </a:solidFill>
                          <a:latin typeface="Comic Sans MS" panose="030F0702030302020204" pitchFamily="66" charset="0"/>
                        </a:rPr>
                        <a:t>Australia (20.4 yrs)</a:t>
                      </a:r>
                      <a:r>
                        <a:rPr lang="en-IN" sz="2000">
                          <a:solidFill>
                            <a:srgbClr val="00FFFF"/>
                          </a:solidFill>
                          <a:latin typeface="Comic Sans MS" panose="030F0702030302020204" pitchFamily="66" charset="0"/>
                        </a:rPr>
                        <a:t>, </a:t>
                      </a:r>
                      <a:r>
                        <a:rPr lang="en-IN" sz="2000" b="1">
                          <a:solidFill>
                            <a:srgbClr val="00FFFF"/>
                          </a:solidFill>
                          <a:latin typeface="Comic Sans MS" panose="030F0702030302020204" pitchFamily="66" charset="0"/>
                        </a:rPr>
                        <a:t>New Zealand (19.2)</a:t>
                      </a:r>
                      <a:r>
                        <a:rPr lang="en-IN" sz="2000">
                          <a:solidFill>
                            <a:srgbClr val="00FFFF"/>
                          </a:solidFill>
                          <a:latin typeface="Comic Sans MS" panose="030F0702030302020204" pitchFamily="66" charset="0"/>
                        </a:rPr>
                        <a:t>, </a:t>
                      </a:r>
                      <a:r>
                        <a:rPr lang="en-IN" sz="2000" b="1">
                          <a:solidFill>
                            <a:srgbClr val="00FFFF"/>
                          </a:solidFill>
                          <a:latin typeface="Comic Sans MS" panose="030F0702030302020204" pitchFamily="66" charset="0"/>
                        </a:rPr>
                        <a:t>Denmark (19.2)</a:t>
                      </a:r>
                      <a:r>
                        <a:rPr lang="en-IN" sz="2000">
                          <a:solidFill>
                            <a:srgbClr val="00FFFF"/>
                          </a:solidFill>
                          <a:latin typeface="Comic Sans MS" panose="030F0702030302020204" pitchFamily="66" charset="0"/>
                        </a:rPr>
                        <a:t>, </a:t>
                      </a:r>
                      <a:r>
                        <a:rPr lang="en-IN" sz="2000" b="1">
                          <a:solidFill>
                            <a:srgbClr val="00FFFF"/>
                          </a:solidFill>
                          <a:latin typeface="Comic Sans MS" panose="030F0702030302020204" pitchFamily="66" charset="0"/>
                        </a:rPr>
                        <a:t>Iceland (19.0)</a:t>
                      </a:r>
                      <a:r>
                        <a:rPr lang="en-IN" sz="2000">
                          <a:solidFill>
                            <a:srgbClr val="00FFFF"/>
                          </a:solidFill>
                          <a:latin typeface="Comic Sans MS" panose="030F0702030302020204" pitchFamily="66" charset="0"/>
                        </a:rPr>
                        <a:t>, </a:t>
                      </a:r>
                      <a:r>
                        <a:rPr lang="en-IN" sz="2000" b="1">
                          <a:solidFill>
                            <a:srgbClr val="00FFFF"/>
                          </a:solidFill>
                          <a:latin typeface="Comic Sans MS" panose="030F0702030302020204" pitchFamily="66" charset="0"/>
                        </a:rPr>
                        <a:t>Ireland (18.6)</a:t>
                      </a:r>
                      <a:r>
                        <a:rPr lang="en-IN" sz="2000">
                          <a:solidFill>
                            <a:srgbClr val="00FFFF"/>
                          </a:solidFill>
                          <a:latin typeface="Comic Sans MS" panose="030F0702030302020204" pitchFamily="66" charset="0"/>
                        </a:rPr>
                        <a:t>.</a:t>
                      </a:r>
                    </a:p>
                  </a:txBody>
                  <a:tcPr anchor="ctr"/>
                </a:tc>
                <a:extLst>
                  <a:ext uri="{0D108BD9-81ED-4DB2-BD59-A6C34878D82A}">
                    <a16:rowId xmlns:a16="http://schemas.microsoft.com/office/drawing/2014/main" val="1229339279"/>
                  </a:ext>
                </a:extLst>
              </a:tr>
              <a:tr h="798403">
                <a:tc>
                  <a:txBody>
                    <a:bodyPr/>
                    <a:lstStyle/>
                    <a:p>
                      <a:r>
                        <a:rPr lang="en-IN" sz="2000" b="1" dirty="0">
                          <a:solidFill>
                            <a:srgbClr val="FF0000"/>
                          </a:solidFill>
                          <a:latin typeface="Comic Sans MS" panose="030F0702030302020204" pitchFamily="66" charset="0"/>
                        </a:rPr>
                        <a:t>Bottom 5 Countries (2015)</a:t>
                      </a:r>
                      <a:endParaRPr lang="en-IN" sz="2000" dirty="0">
                        <a:solidFill>
                          <a:srgbClr val="FF0000"/>
                        </a:solidFill>
                        <a:latin typeface="Comic Sans MS" panose="030F0702030302020204" pitchFamily="66" charset="0"/>
                      </a:endParaRPr>
                    </a:p>
                  </a:txBody>
                  <a:tcPr anchor="ctr"/>
                </a:tc>
                <a:tc>
                  <a:txBody>
                    <a:bodyPr/>
                    <a:lstStyle/>
                    <a:p>
                      <a:r>
                        <a:rPr lang="en-US" sz="2000" b="1" dirty="0">
                          <a:solidFill>
                            <a:srgbClr val="00FFFF"/>
                          </a:solidFill>
                          <a:latin typeface="Comic Sans MS" panose="030F0702030302020204" pitchFamily="66" charset="0"/>
                        </a:rPr>
                        <a:t>South Sudan (4.9)</a:t>
                      </a:r>
                      <a:r>
                        <a:rPr lang="en-US" sz="2000" dirty="0">
                          <a:solidFill>
                            <a:srgbClr val="00FFFF"/>
                          </a:solidFill>
                          <a:latin typeface="Comic Sans MS" panose="030F0702030302020204" pitchFamily="66" charset="0"/>
                        </a:rPr>
                        <a:t>, </a:t>
                      </a:r>
                      <a:r>
                        <a:rPr lang="en-US" sz="2000" b="1" dirty="0">
                          <a:solidFill>
                            <a:srgbClr val="00FFFF"/>
                          </a:solidFill>
                          <a:latin typeface="Comic Sans MS" panose="030F0702030302020204" pitchFamily="66" charset="0"/>
                        </a:rPr>
                        <a:t>Eritrea (5.0)</a:t>
                      </a:r>
                      <a:r>
                        <a:rPr lang="en-US" sz="2000" dirty="0">
                          <a:solidFill>
                            <a:srgbClr val="00FFFF"/>
                          </a:solidFill>
                          <a:latin typeface="Comic Sans MS" panose="030F0702030302020204" pitchFamily="66" charset="0"/>
                        </a:rPr>
                        <a:t>, </a:t>
                      </a:r>
                      <a:r>
                        <a:rPr lang="en-US" sz="2000" b="1" dirty="0">
                          <a:solidFill>
                            <a:srgbClr val="00FFFF"/>
                          </a:solidFill>
                          <a:latin typeface="Comic Sans MS" panose="030F0702030302020204" pitchFamily="66" charset="0"/>
                        </a:rPr>
                        <a:t>Niger (5.4)</a:t>
                      </a:r>
                      <a:r>
                        <a:rPr lang="en-US" sz="2000" dirty="0">
                          <a:solidFill>
                            <a:srgbClr val="00FFFF"/>
                          </a:solidFill>
                          <a:latin typeface="Comic Sans MS" panose="030F0702030302020204" pitchFamily="66" charset="0"/>
                        </a:rPr>
                        <a:t>, </a:t>
                      </a:r>
                      <a:r>
                        <a:rPr lang="en-US" sz="2000" b="1" dirty="0">
                          <a:solidFill>
                            <a:srgbClr val="00FFFF"/>
                          </a:solidFill>
                          <a:latin typeface="Comic Sans MS" panose="030F0702030302020204" pitchFamily="66" charset="0"/>
                        </a:rPr>
                        <a:t>Djibouti (6.3)</a:t>
                      </a:r>
                      <a:r>
                        <a:rPr lang="en-US" sz="2000" dirty="0">
                          <a:solidFill>
                            <a:srgbClr val="00FFFF"/>
                          </a:solidFill>
                          <a:latin typeface="Comic Sans MS" panose="030F0702030302020204" pitchFamily="66" charset="0"/>
                        </a:rPr>
                        <a:t>, </a:t>
                      </a:r>
                      <a:r>
                        <a:rPr lang="en-US" sz="2000" b="1" dirty="0">
                          <a:solidFill>
                            <a:srgbClr val="00FFFF"/>
                          </a:solidFill>
                          <a:latin typeface="Comic Sans MS" panose="030F0702030302020204" pitchFamily="66" charset="0"/>
                        </a:rPr>
                        <a:t>Central African Rep. (7.1)</a:t>
                      </a:r>
                      <a:r>
                        <a:rPr lang="en-US" sz="2000" dirty="0">
                          <a:solidFill>
                            <a:srgbClr val="00FFFF"/>
                          </a:solidFill>
                          <a:latin typeface="Comic Sans MS" panose="030F0702030302020204" pitchFamily="66" charset="0"/>
                        </a:rPr>
                        <a:t>.</a:t>
                      </a:r>
                    </a:p>
                  </a:txBody>
                  <a:tcPr anchor="ctr"/>
                </a:tc>
                <a:extLst>
                  <a:ext uri="{0D108BD9-81ED-4DB2-BD59-A6C34878D82A}">
                    <a16:rowId xmlns:a16="http://schemas.microsoft.com/office/drawing/2014/main" val="3397423392"/>
                  </a:ext>
                </a:extLst>
              </a:tr>
            </a:tbl>
          </a:graphicData>
        </a:graphic>
      </p:graphicFrame>
    </p:spTree>
    <p:extLst>
      <p:ext uri="{BB962C8B-B14F-4D97-AF65-F5344CB8AC3E}">
        <p14:creationId xmlns:p14="http://schemas.microsoft.com/office/powerpoint/2010/main" val="25419140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9F500-9AC1-A17C-B308-72CE6018D46E}"/>
              </a:ext>
            </a:extLst>
          </p:cNvPr>
          <p:cNvSpPr>
            <a:spLocks noGrp="1"/>
          </p:cNvSpPr>
          <p:nvPr>
            <p:ph type="title"/>
          </p:nvPr>
        </p:nvSpPr>
        <p:spPr>
          <a:xfrm>
            <a:off x="402771" y="365126"/>
            <a:ext cx="10951029" cy="603703"/>
          </a:xfrm>
        </p:spPr>
        <p:txBody>
          <a:bodyPr>
            <a:normAutofit fontScale="90000"/>
          </a:bodyPr>
          <a:lstStyle/>
          <a:p>
            <a:r>
              <a:rPr lang="en-US" b="1" dirty="0">
                <a:latin typeface="+mn-lt"/>
              </a:rPr>
              <a:t>18.Population</a:t>
            </a:r>
            <a:endParaRPr lang="en-IN" b="1" dirty="0">
              <a:latin typeface="+mn-lt"/>
            </a:endParaRPr>
          </a:p>
        </p:txBody>
      </p:sp>
      <p:pic>
        <p:nvPicPr>
          <p:cNvPr id="6" name="Content Placeholder 5">
            <a:extLst>
              <a:ext uri="{FF2B5EF4-FFF2-40B4-BE49-F238E27FC236}">
                <a16:creationId xmlns:a16="http://schemas.microsoft.com/office/drawing/2014/main" id="{6DD5BDE4-F0C4-41E1-BAC3-4B78CA556990}"/>
              </a:ext>
            </a:extLst>
          </p:cNvPr>
          <p:cNvPicPr>
            <a:picLocks noGrp="1" noChangeAspect="1"/>
          </p:cNvPicPr>
          <p:nvPr>
            <p:ph sz="half" idx="1"/>
          </p:nvPr>
        </p:nvPicPr>
        <p:blipFill>
          <a:blip r:embed="rId2"/>
          <a:stretch>
            <a:fillRect/>
          </a:stretch>
        </p:blipFill>
        <p:spPr>
          <a:xfrm>
            <a:off x="402771" y="1334179"/>
            <a:ext cx="6357258" cy="5023077"/>
          </a:xfrm>
        </p:spPr>
      </p:pic>
      <p:sp>
        <p:nvSpPr>
          <p:cNvPr id="4" name="Content Placeholder 3">
            <a:extLst>
              <a:ext uri="{FF2B5EF4-FFF2-40B4-BE49-F238E27FC236}">
                <a16:creationId xmlns:a16="http://schemas.microsoft.com/office/drawing/2014/main" id="{F12676C9-40AA-B3D7-1734-B3F408A89F9F}"/>
              </a:ext>
            </a:extLst>
          </p:cNvPr>
          <p:cNvSpPr>
            <a:spLocks noGrp="1"/>
          </p:cNvSpPr>
          <p:nvPr>
            <p:ph sz="half" idx="2"/>
          </p:nvPr>
        </p:nvSpPr>
        <p:spPr>
          <a:xfrm>
            <a:off x="7260770" y="1436913"/>
            <a:ext cx="4093029" cy="4740049"/>
          </a:xfrm>
        </p:spPr>
        <p:txBody>
          <a:bodyPr>
            <a:normAutofit/>
          </a:bodyPr>
          <a:lstStyle/>
          <a:p>
            <a:r>
              <a:rPr lang="en-US" sz="2400" b="1" dirty="0">
                <a:solidFill>
                  <a:srgbClr val="FFFF00"/>
                </a:solidFill>
                <a:latin typeface="Comic Sans MS" panose="030F0702030302020204" pitchFamily="66" charset="0"/>
              </a:rPr>
              <a:t>Insight</a:t>
            </a:r>
          </a:p>
          <a:p>
            <a:endParaRPr lang="en-US" sz="2400" b="1" dirty="0">
              <a:solidFill>
                <a:srgbClr val="00FFFF"/>
              </a:solidFill>
              <a:latin typeface="Comic Sans MS" panose="030F0702030302020204" pitchFamily="66" charset="0"/>
            </a:endParaRPr>
          </a:p>
          <a:p>
            <a:r>
              <a:rPr lang="en-US" sz="2400" b="1" dirty="0">
                <a:solidFill>
                  <a:srgbClr val="00FFFF"/>
                </a:solidFill>
                <a:latin typeface="Comic Sans MS" panose="030F0702030302020204" pitchFamily="66" charset="0"/>
              </a:rPr>
              <a:t>Asia continent has highest population over years followed by South America , Africa , Europe , North America and Oceania</a:t>
            </a:r>
            <a:endParaRPr lang="en-IN" sz="2400" b="1" dirty="0">
              <a:solidFill>
                <a:srgbClr val="00FFFF"/>
              </a:solidFill>
              <a:latin typeface="Comic Sans MS" panose="030F0702030302020204" pitchFamily="66" charset="0"/>
            </a:endParaRPr>
          </a:p>
        </p:txBody>
      </p:sp>
    </p:spTree>
    <p:extLst>
      <p:ext uri="{BB962C8B-B14F-4D97-AF65-F5344CB8AC3E}">
        <p14:creationId xmlns:p14="http://schemas.microsoft.com/office/powerpoint/2010/main" val="1959650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C6184-21D1-869A-65B8-2FFD3D94FFAD}"/>
              </a:ext>
            </a:extLst>
          </p:cNvPr>
          <p:cNvSpPr>
            <a:spLocks noGrp="1"/>
          </p:cNvSpPr>
          <p:nvPr>
            <p:ph type="title"/>
          </p:nvPr>
        </p:nvSpPr>
        <p:spPr>
          <a:xfrm>
            <a:off x="250372" y="97971"/>
            <a:ext cx="5660572" cy="936173"/>
          </a:xfrm>
        </p:spPr>
        <p:txBody>
          <a:bodyPr>
            <a:normAutofit/>
          </a:bodyPr>
          <a:lstStyle/>
          <a:p>
            <a:r>
              <a:rPr lang="en-US" b="1" dirty="0"/>
              <a:t>19.Thinness 5 to 9 years</a:t>
            </a:r>
            <a:endParaRPr lang="en-IN" b="1" dirty="0"/>
          </a:p>
        </p:txBody>
      </p:sp>
      <p:pic>
        <p:nvPicPr>
          <p:cNvPr id="6" name="Content Placeholder 5">
            <a:extLst>
              <a:ext uri="{FF2B5EF4-FFF2-40B4-BE49-F238E27FC236}">
                <a16:creationId xmlns:a16="http://schemas.microsoft.com/office/drawing/2014/main" id="{505BD375-F9AC-F49D-C709-1E27399AEC90}"/>
              </a:ext>
            </a:extLst>
          </p:cNvPr>
          <p:cNvPicPr>
            <a:picLocks noGrp="1" noChangeAspect="1"/>
          </p:cNvPicPr>
          <p:nvPr>
            <p:ph sz="half" idx="1"/>
          </p:nvPr>
        </p:nvPicPr>
        <p:blipFill>
          <a:blip r:embed="rId2"/>
          <a:stretch>
            <a:fillRect/>
          </a:stretch>
        </p:blipFill>
        <p:spPr>
          <a:xfrm>
            <a:off x="108857" y="1349829"/>
            <a:ext cx="5910943" cy="5159828"/>
          </a:xfrm>
        </p:spPr>
      </p:pic>
      <p:sp>
        <p:nvSpPr>
          <p:cNvPr id="4" name="Content Placeholder 3">
            <a:extLst>
              <a:ext uri="{FF2B5EF4-FFF2-40B4-BE49-F238E27FC236}">
                <a16:creationId xmlns:a16="http://schemas.microsoft.com/office/drawing/2014/main" id="{7E053AFA-7449-B28C-2B6D-AB4F37FD34CC}"/>
              </a:ext>
            </a:extLst>
          </p:cNvPr>
          <p:cNvSpPr>
            <a:spLocks noGrp="1"/>
          </p:cNvSpPr>
          <p:nvPr>
            <p:ph sz="half" idx="2"/>
          </p:nvPr>
        </p:nvSpPr>
        <p:spPr>
          <a:xfrm>
            <a:off x="6172199" y="97971"/>
            <a:ext cx="5769429" cy="6607629"/>
          </a:xfrm>
        </p:spPr>
        <p:txBody>
          <a:bodyPr>
            <a:normAutofit lnSpcReduction="10000"/>
          </a:bodyPr>
          <a:lstStyle/>
          <a:p>
            <a:r>
              <a:rPr lang="en-US" sz="2400" b="1" dirty="0">
                <a:solidFill>
                  <a:srgbClr val="FFFF00"/>
                </a:solidFill>
                <a:latin typeface="Comic Sans MS" panose="030F0702030302020204" pitchFamily="66" charset="0"/>
              </a:rPr>
              <a:t>Africa</a:t>
            </a:r>
            <a:r>
              <a:rPr lang="en-US" sz="2400" dirty="0">
                <a:latin typeface="Comic Sans MS" panose="030F0702030302020204" pitchFamily="66" charset="0"/>
              </a:rPr>
              <a:t>: </a:t>
            </a:r>
            <a:r>
              <a:rPr lang="en-US" sz="2400" dirty="0">
                <a:solidFill>
                  <a:srgbClr val="FF0000"/>
                </a:solidFill>
                <a:latin typeface="Comic Sans MS" panose="030F0702030302020204" pitchFamily="66" charset="0"/>
              </a:rPr>
              <a:t>High child thinness (&gt;10%) and low life expectancy (40–60 yrs) serious undernutrition issues</a:t>
            </a:r>
            <a:r>
              <a:rPr lang="en-US" sz="2400" dirty="0">
                <a:solidFill>
                  <a:srgbClr val="00FFFF"/>
                </a:solidFill>
                <a:latin typeface="Comic Sans MS" panose="030F0702030302020204" pitchFamily="66" charset="0"/>
              </a:rPr>
              <a:t>.</a:t>
            </a:r>
          </a:p>
          <a:p>
            <a:r>
              <a:rPr lang="en-US" sz="2400" b="1" dirty="0">
                <a:solidFill>
                  <a:srgbClr val="FFFF00"/>
                </a:solidFill>
                <a:latin typeface="Comic Sans MS" panose="030F0702030302020204" pitchFamily="66" charset="0"/>
              </a:rPr>
              <a:t>Asia</a:t>
            </a:r>
            <a:r>
              <a:rPr lang="en-US" sz="2400" dirty="0">
                <a:solidFill>
                  <a:srgbClr val="FFFF00"/>
                </a:solidFill>
                <a:latin typeface="Comic Sans MS" panose="030F0702030302020204" pitchFamily="66" charset="0"/>
              </a:rPr>
              <a:t>: </a:t>
            </a:r>
            <a:r>
              <a:rPr lang="en-US" sz="2400" dirty="0">
                <a:solidFill>
                  <a:srgbClr val="00FFFF"/>
                </a:solidFill>
                <a:latin typeface="Comic Sans MS" panose="030F0702030302020204" pitchFamily="66" charset="0"/>
              </a:rPr>
              <a:t>Mixed thinness levels with moderate to high life expectancy</a:t>
            </a:r>
            <a:r>
              <a:rPr lang="en-US" sz="2400" dirty="0">
                <a:latin typeface="Comic Sans MS" panose="030F0702030302020204" pitchFamily="66" charset="0"/>
              </a:rPr>
              <a:t>.</a:t>
            </a:r>
          </a:p>
          <a:p>
            <a:r>
              <a:rPr lang="en-US" sz="2400" b="1" dirty="0">
                <a:solidFill>
                  <a:srgbClr val="FFFF00"/>
                </a:solidFill>
                <a:latin typeface="Comic Sans MS" panose="030F0702030302020204" pitchFamily="66" charset="0"/>
              </a:rPr>
              <a:t>Europe &amp; North America</a:t>
            </a:r>
            <a:r>
              <a:rPr lang="en-US" sz="2400" dirty="0">
                <a:solidFill>
                  <a:srgbClr val="FFFF00"/>
                </a:solidFill>
                <a:latin typeface="Comic Sans MS" panose="030F0702030302020204" pitchFamily="66" charset="0"/>
              </a:rPr>
              <a:t>: </a:t>
            </a:r>
            <a:r>
              <a:rPr lang="en-US" sz="2400" dirty="0">
                <a:solidFill>
                  <a:srgbClr val="00FFFF"/>
                </a:solidFill>
                <a:latin typeface="Comic Sans MS" panose="030F0702030302020204" pitchFamily="66" charset="0"/>
              </a:rPr>
              <a:t>Very low thinness (0–5%) and high life expectancy (70+ yrs).</a:t>
            </a:r>
          </a:p>
          <a:p>
            <a:r>
              <a:rPr lang="en-US" sz="2400" b="1" dirty="0">
                <a:solidFill>
                  <a:srgbClr val="FFFF00"/>
                </a:solidFill>
                <a:latin typeface="Comic Sans MS" panose="030F0702030302020204" pitchFamily="66" charset="0"/>
              </a:rPr>
              <a:t>South America</a:t>
            </a:r>
            <a:r>
              <a:rPr lang="en-US" sz="2400" dirty="0">
                <a:solidFill>
                  <a:srgbClr val="FFFF00"/>
                </a:solidFill>
                <a:latin typeface="Comic Sans MS" panose="030F0702030302020204" pitchFamily="66" charset="0"/>
              </a:rPr>
              <a:t>:</a:t>
            </a:r>
            <a:r>
              <a:rPr lang="en-US" sz="2400" dirty="0">
                <a:latin typeface="Comic Sans MS" panose="030F0702030302020204" pitchFamily="66" charset="0"/>
              </a:rPr>
              <a:t> </a:t>
            </a:r>
            <a:r>
              <a:rPr lang="en-US" sz="2400" dirty="0">
                <a:solidFill>
                  <a:srgbClr val="00FFFF"/>
                </a:solidFill>
                <a:latin typeface="Comic Sans MS" panose="030F0702030302020204" pitchFamily="66" charset="0"/>
              </a:rPr>
              <a:t>Moderate thinness with strong life expectancy.</a:t>
            </a:r>
          </a:p>
          <a:p>
            <a:r>
              <a:rPr lang="en-US" sz="2400" b="1" dirty="0">
                <a:solidFill>
                  <a:srgbClr val="FFFF00"/>
                </a:solidFill>
                <a:latin typeface="Comic Sans MS" panose="030F0702030302020204" pitchFamily="66" charset="0"/>
              </a:rPr>
              <a:t>Oceania</a:t>
            </a:r>
            <a:r>
              <a:rPr lang="en-US" sz="2400" dirty="0">
                <a:solidFill>
                  <a:srgbClr val="FFFF00"/>
                </a:solidFill>
                <a:latin typeface="Comic Sans MS" panose="030F0702030302020204" pitchFamily="66" charset="0"/>
              </a:rPr>
              <a:t>: </a:t>
            </a:r>
            <a:r>
              <a:rPr lang="en-US" sz="2400" dirty="0">
                <a:solidFill>
                  <a:srgbClr val="00FFFF"/>
                </a:solidFill>
                <a:latin typeface="Comic Sans MS" panose="030F0702030302020204" pitchFamily="66" charset="0"/>
              </a:rPr>
              <a:t>Very low thinness and high life expectancy.</a:t>
            </a:r>
          </a:p>
          <a:p>
            <a:endParaRPr lang="en-US" sz="2400" dirty="0">
              <a:latin typeface="Comic Sans MS" panose="030F0702030302020204" pitchFamily="66" charset="0"/>
            </a:endParaRPr>
          </a:p>
          <a:p>
            <a:r>
              <a:rPr lang="en-US" sz="2400" b="1" dirty="0">
                <a:solidFill>
                  <a:srgbClr val="FFFF00"/>
                </a:solidFill>
                <a:latin typeface="Comic Sans MS" panose="030F0702030302020204" pitchFamily="66" charset="0"/>
              </a:rPr>
              <a:t>Overall Insight</a:t>
            </a:r>
            <a:r>
              <a:rPr lang="en-US" sz="2400" dirty="0">
                <a:solidFill>
                  <a:srgbClr val="FFFF00"/>
                </a:solidFill>
                <a:latin typeface="Comic Sans MS" panose="030F0702030302020204" pitchFamily="66" charset="0"/>
              </a:rPr>
              <a:t>:</a:t>
            </a:r>
            <a:br>
              <a:rPr lang="en-US" sz="2400" dirty="0">
                <a:solidFill>
                  <a:srgbClr val="FFFF00"/>
                </a:solidFill>
                <a:latin typeface="Comic Sans MS" panose="030F0702030302020204" pitchFamily="66" charset="0"/>
              </a:rPr>
            </a:br>
            <a:r>
              <a:rPr lang="en-US" sz="2400" dirty="0">
                <a:solidFill>
                  <a:srgbClr val="FFFF00"/>
                </a:solidFill>
                <a:latin typeface="Comic Sans MS" panose="030F0702030302020204" pitchFamily="66" charset="0"/>
              </a:rPr>
              <a:t>Higher child thinness links to lower life expectancy — showing how child nutrition deeply affects national health and longevity.</a:t>
            </a:r>
          </a:p>
          <a:p>
            <a:endParaRPr lang="en-IN" sz="2400" dirty="0">
              <a:latin typeface="Comic Sans MS" panose="030F0702030302020204" pitchFamily="66" charset="0"/>
            </a:endParaRPr>
          </a:p>
        </p:txBody>
      </p:sp>
    </p:spTree>
    <p:extLst>
      <p:ext uri="{BB962C8B-B14F-4D97-AF65-F5344CB8AC3E}">
        <p14:creationId xmlns:p14="http://schemas.microsoft.com/office/powerpoint/2010/main" val="26207866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CECDF-916A-0D39-1D3A-3E1AB1604F40}"/>
              </a:ext>
            </a:extLst>
          </p:cNvPr>
          <p:cNvSpPr>
            <a:spLocks noGrp="1"/>
          </p:cNvSpPr>
          <p:nvPr>
            <p:ph type="title"/>
          </p:nvPr>
        </p:nvSpPr>
        <p:spPr>
          <a:xfrm>
            <a:off x="228600" y="152400"/>
            <a:ext cx="11125200" cy="664029"/>
          </a:xfrm>
        </p:spPr>
        <p:txBody>
          <a:bodyPr>
            <a:normAutofit fontScale="90000"/>
          </a:bodyPr>
          <a:lstStyle/>
          <a:p>
            <a:r>
              <a:rPr lang="en-US" b="1" dirty="0"/>
              <a:t>Key Insights</a:t>
            </a:r>
            <a:endParaRPr lang="en-IN" b="1" dirty="0"/>
          </a:p>
        </p:txBody>
      </p:sp>
      <p:graphicFrame>
        <p:nvGraphicFramePr>
          <p:cNvPr id="4" name="Content Placeholder 3">
            <a:extLst>
              <a:ext uri="{FF2B5EF4-FFF2-40B4-BE49-F238E27FC236}">
                <a16:creationId xmlns:a16="http://schemas.microsoft.com/office/drawing/2014/main" id="{F3703D22-ED8B-F2E9-409A-1CFF0A44878C}"/>
              </a:ext>
            </a:extLst>
          </p:cNvPr>
          <p:cNvGraphicFramePr>
            <a:graphicFrameLocks noGrp="1"/>
          </p:cNvGraphicFramePr>
          <p:nvPr>
            <p:ph idx="1"/>
            <p:extLst>
              <p:ext uri="{D42A27DB-BD31-4B8C-83A1-F6EECF244321}">
                <p14:modId xmlns:p14="http://schemas.microsoft.com/office/powerpoint/2010/main" val="1184318799"/>
              </p:ext>
            </p:extLst>
          </p:nvPr>
        </p:nvGraphicFramePr>
        <p:xfrm>
          <a:off x="228600" y="816429"/>
          <a:ext cx="11756571" cy="5889168"/>
        </p:xfrm>
        <a:graphic>
          <a:graphicData uri="http://schemas.openxmlformats.org/drawingml/2006/table">
            <a:tbl>
              <a:tblPr>
                <a:tableStyleId>{616DA210-FB5B-4158-B5E0-FEB733F419BA}</a:tableStyleId>
              </a:tblPr>
              <a:tblGrid>
                <a:gridCol w="3918857">
                  <a:extLst>
                    <a:ext uri="{9D8B030D-6E8A-4147-A177-3AD203B41FA5}">
                      <a16:colId xmlns:a16="http://schemas.microsoft.com/office/drawing/2014/main" val="3409326945"/>
                    </a:ext>
                  </a:extLst>
                </a:gridCol>
                <a:gridCol w="3918857">
                  <a:extLst>
                    <a:ext uri="{9D8B030D-6E8A-4147-A177-3AD203B41FA5}">
                      <a16:colId xmlns:a16="http://schemas.microsoft.com/office/drawing/2014/main" val="2658164106"/>
                    </a:ext>
                  </a:extLst>
                </a:gridCol>
                <a:gridCol w="3918857">
                  <a:extLst>
                    <a:ext uri="{9D8B030D-6E8A-4147-A177-3AD203B41FA5}">
                      <a16:colId xmlns:a16="http://schemas.microsoft.com/office/drawing/2014/main" val="1752704737"/>
                    </a:ext>
                  </a:extLst>
                </a:gridCol>
              </a:tblGrid>
              <a:tr h="372754">
                <a:tc>
                  <a:txBody>
                    <a:bodyPr/>
                    <a:lstStyle/>
                    <a:p>
                      <a:r>
                        <a:rPr lang="en-IN" sz="1600" b="1">
                          <a:solidFill>
                            <a:srgbClr val="FF0000"/>
                          </a:solidFill>
                          <a:latin typeface="Comic Sans MS" panose="030F0702030302020204" pitchFamily="66" charset="0"/>
                        </a:rPr>
                        <a:t>Category</a:t>
                      </a:r>
                      <a:endParaRPr lang="en-IN" sz="1600">
                        <a:solidFill>
                          <a:srgbClr val="FF0000"/>
                        </a:solidFill>
                        <a:latin typeface="Comic Sans MS" panose="030F0702030302020204" pitchFamily="66" charset="0"/>
                      </a:endParaRPr>
                    </a:p>
                  </a:txBody>
                  <a:tcPr marL="69069" marR="69069" marT="34534" marB="34534" anchor="ctr"/>
                </a:tc>
                <a:tc>
                  <a:txBody>
                    <a:bodyPr/>
                    <a:lstStyle/>
                    <a:p>
                      <a:r>
                        <a:rPr lang="en-IN" sz="1600" b="1">
                          <a:solidFill>
                            <a:srgbClr val="FFFF00"/>
                          </a:solidFill>
                          <a:latin typeface="Comic Sans MS" panose="030F0702030302020204" pitchFamily="66" charset="0"/>
                        </a:rPr>
                        <a:t>Insight</a:t>
                      </a:r>
                      <a:endParaRPr lang="en-IN" sz="1600">
                        <a:solidFill>
                          <a:srgbClr val="FFFF00"/>
                        </a:solidFill>
                        <a:latin typeface="Comic Sans MS" panose="030F0702030302020204" pitchFamily="66" charset="0"/>
                      </a:endParaRPr>
                    </a:p>
                  </a:txBody>
                  <a:tcPr marL="69069" marR="69069" marT="34534" marB="34534" anchor="ctr"/>
                </a:tc>
                <a:tc>
                  <a:txBody>
                    <a:bodyPr/>
                    <a:lstStyle/>
                    <a:p>
                      <a:r>
                        <a:rPr lang="en-IN" sz="1600" b="1">
                          <a:solidFill>
                            <a:srgbClr val="00FFFF"/>
                          </a:solidFill>
                          <a:latin typeface="Comic Sans MS" panose="030F0702030302020204" pitchFamily="66" charset="0"/>
                        </a:rPr>
                        <a:t>Description</a:t>
                      </a:r>
                      <a:endParaRPr lang="en-IN" sz="1600">
                        <a:solidFill>
                          <a:srgbClr val="00FFFF"/>
                        </a:solidFill>
                        <a:latin typeface="Comic Sans MS" panose="030F0702030302020204" pitchFamily="66" charset="0"/>
                      </a:endParaRPr>
                    </a:p>
                  </a:txBody>
                  <a:tcPr marL="69069" marR="69069" marT="34534" marB="34534" anchor="ctr"/>
                </a:tc>
                <a:extLst>
                  <a:ext uri="{0D108BD9-81ED-4DB2-BD59-A6C34878D82A}">
                    <a16:rowId xmlns:a16="http://schemas.microsoft.com/office/drawing/2014/main" val="3014906539"/>
                  </a:ext>
                </a:extLst>
              </a:tr>
              <a:tr h="654352">
                <a:tc>
                  <a:txBody>
                    <a:bodyPr/>
                    <a:lstStyle/>
                    <a:p>
                      <a:r>
                        <a:rPr lang="en-US" sz="1600" dirty="0">
                          <a:solidFill>
                            <a:srgbClr val="FF0000"/>
                          </a:solidFill>
                          <a:latin typeface="Comic Sans MS" panose="030F0702030302020204" pitchFamily="66" charset="0"/>
                        </a:rPr>
                        <a:t> </a:t>
                      </a:r>
                      <a:r>
                        <a:rPr lang="en-US" sz="1600" b="1" dirty="0">
                          <a:solidFill>
                            <a:srgbClr val="FF0000"/>
                          </a:solidFill>
                          <a:latin typeface="Comic Sans MS" panose="030F0702030302020204" pitchFamily="66" charset="0"/>
                        </a:rPr>
                        <a:t>Continents with Highest Avg Thinness</a:t>
                      </a:r>
                      <a:endParaRPr lang="en-US" sz="1600" dirty="0">
                        <a:solidFill>
                          <a:srgbClr val="FF0000"/>
                        </a:solidFill>
                        <a:latin typeface="Comic Sans MS" panose="030F0702030302020204" pitchFamily="66" charset="0"/>
                      </a:endParaRPr>
                    </a:p>
                  </a:txBody>
                  <a:tcPr marL="69069" marR="69069" marT="34534" marB="34534" anchor="ctr"/>
                </a:tc>
                <a:tc>
                  <a:txBody>
                    <a:bodyPr/>
                    <a:lstStyle/>
                    <a:p>
                      <a:r>
                        <a:rPr lang="en-IN" sz="1600" b="1">
                          <a:solidFill>
                            <a:srgbClr val="FFFF00"/>
                          </a:solidFill>
                          <a:latin typeface="Comic Sans MS" panose="030F0702030302020204" pitchFamily="66" charset="0"/>
                        </a:rPr>
                        <a:t>Asia (7.5%)</a:t>
                      </a:r>
                      <a:r>
                        <a:rPr lang="en-IN" sz="1600">
                          <a:solidFill>
                            <a:srgbClr val="FFFF00"/>
                          </a:solidFill>
                          <a:latin typeface="Comic Sans MS" panose="030F0702030302020204" pitchFamily="66" charset="0"/>
                        </a:rPr>
                        <a:t>, </a:t>
                      </a:r>
                      <a:r>
                        <a:rPr lang="en-IN" sz="1600" b="1">
                          <a:solidFill>
                            <a:srgbClr val="FFFF00"/>
                          </a:solidFill>
                          <a:latin typeface="Comic Sans MS" panose="030F0702030302020204" pitchFamily="66" charset="0"/>
                        </a:rPr>
                        <a:t>Africa (7.1%)</a:t>
                      </a:r>
                      <a:endParaRPr lang="en-IN" sz="1600">
                        <a:solidFill>
                          <a:srgbClr val="FFFF00"/>
                        </a:solidFill>
                        <a:latin typeface="Comic Sans MS" panose="030F0702030302020204" pitchFamily="66" charset="0"/>
                      </a:endParaRPr>
                    </a:p>
                  </a:txBody>
                  <a:tcPr marL="69069" marR="69069" marT="34534" marB="34534" anchor="ctr"/>
                </a:tc>
                <a:tc>
                  <a:txBody>
                    <a:bodyPr/>
                    <a:lstStyle/>
                    <a:p>
                      <a:r>
                        <a:rPr lang="en-US" sz="1600">
                          <a:solidFill>
                            <a:srgbClr val="00FFFF"/>
                          </a:solidFill>
                          <a:latin typeface="Comic Sans MS" panose="030F0702030302020204" pitchFamily="66" charset="0"/>
                        </a:rPr>
                        <a:t>Children aged 5–9 in these regions show higher undernutrition rates.</a:t>
                      </a:r>
                    </a:p>
                  </a:txBody>
                  <a:tcPr marL="69069" marR="69069" marT="34534" marB="34534" anchor="ctr"/>
                </a:tc>
                <a:extLst>
                  <a:ext uri="{0D108BD9-81ED-4DB2-BD59-A6C34878D82A}">
                    <a16:rowId xmlns:a16="http://schemas.microsoft.com/office/drawing/2014/main" val="1222925374"/>
                  </a:ext>
                </a:extLst>
              </a:tr>
              <a:tr h="654352">
                <a:tc>
                  <a:txBody>
                    <a:bodyPr/>
                    <a:lstStyle/>
                    <a:p>
                      <a:r>
                        <a:rPr lang="en-US" sz="1600" dirty="0">
                          <a:solidFill>
                            <a:srgbClr val="FF0000"/>
                          </a:solidFill>
                          <a:latin typeface="Comic Sans MS" panose="030F0702030302020204" pitchFamily="66" charset="0"/>
                        </a:rPr>
                        <a:t> </a:t>
                      </a:r>
                      <a:r>
                        <a:rPr lang="en-US" sz="1600" b="1" dirty="0">
                          <a:solidFill>
                            <a:srgbClr val="FF0000"/>
                          </a:solidFill>
                          <a:latin typeface="Comic Sans MS" panose="030F0702030302020204" pitchFamily="66" charset="0"/>
                        </a:rPr>
                        <a:t>Continents with Moderate Thinness</a:t>
                      </a:r>
                      <a:endParaRPr lang="en-US" sz="1600" dirty="0">
                        <a:solidFill>
                          <a:srgbClr val="FF0000"/>
                        </a:solidFill>
                        <a:latin typeface="Comic Sans MS" panose="030F0702030302020204" pitchFamily="66" charset="0"/>
                      </a:endParaRPr>
                    </a:p>
                  </a:txBody>
                  <a:tcPr marL="69069" marR="69069" marT="34534" marB="34534" anchor="ctr"/>
                </a:tc>
                <a:tc>
                  <a:txBody>
                    <a:bodyPr/>
                    <a:lstStyle/>
                    <a:p>
                      <a:r>
                        <a:rPr lang="en-IN" sz="1600" b="1" dirty="0">
                          <a:solidFill>
                            <a:srgbClr val="FFFF00"/>
                          </a:solidFill>
                          <a:latin typeface="Comic Sans MS" panose="030F0702030302020204" pitchFamily="66" charset="0"/>
                        </a:rPr>
                        <a:t>North America</a:t>
                      </a:r>
                      <a:r>
                        <a:rPr lang="en-IN" sz="1600" dirty="0">
                          <a:solidFill>
                            <a:srgbClr val="FFFF00"/>
                          </a:solidFill>
                          <a:latin typeface="Comic Sans MS" panose="030F0702030302020204" pitchFamily="66" charset="0"/>
                        </a:rPr>
                        <a:t>, </a:t>
                      </a:r>
                      <a:r>
                        <a:rPr lang="en-IN" sz="1600" b="1" dirty="0">
                          <a:solidFill>
                            <a:srgbClr val="FFFF00"/>
                          </a:solidFill>
                          <a:latin typeface="Comic Sans MS" panose="030F0702030302020204" pitchFamily="66" charset="0"/>
                        </a:rPr>
                        <a:t>South America</a:t>
                      </a:r>
                      <a:endParaRPr lang="en-IN" sz="1600" dirty="0">
                        <a:solidFill>
                          <a:srgbClr val="FFFF00"/>
                        </a:solidFill>
                        <a:latin typeface="Comic Sans MS" panose="030F0702030302020204" pitchFamily="66" charset="0"/>
                      </a:endParaRPr>
                    </a:p>
                  </a:txBody>
                  <a:tcPr marL="69069" marR="69069" marT="34534" marB="34534" anchor="ctr"/>
                </a:tc>
                <a:tc>
                  <a:txBody>
                    <a:bodyPr/>
                    <a:lstStyle/>
                    <a:p>
                      <a:r>
                        <a:rPr lang="en-US" sz="1600">
                          <a:solidFill>
                            <a:srgbClr val="00FFFF"/>
                          </a:solidFill>
                          <a:latin typeface="Comic Sans MS" panose="030F0702030302020204" pitchFamily="66" charset="0"/>
                        </a:rPr>
                        <a:t>Thinness levels are in the mid-range.</a:t>
                      </a:r>
                    </a:p>
                  </a:txBody>
                  <a:tcPr marL="69069" marR="69069" marT="34534" marB="34534" anchor="ctr"/>
                </a:tc>
                <a:extLst>
                  <a:ext uri="{0D108BD9-81ED-4DB2-BD59-A6C34878D82A}">
                    <a16:rowId xmlns:a16="http://schemas.microsoft.com/office/drawing/2014/main" val="1904369176"/>
                  </a:ext>
                </a:extLst>
              </a:tr>
              <a:tr h="654352">
                <a:tc>
                  <a:txBody>
                    <a:bodyPr/>
                    <a:lstStyle/>
                    <a:p>
                      <a:r>
                        <a:rPr lang="en-US" sz="1600" dirty="0">
                          <a:solidFill>
                            <a:srgbClr val="FF0000"/>
                          </a:solidFill>
                          <a:latin typeface="Comic Sans MS" panose="030F0702030302020204" pitchFamily="66" charset="0"/>
                        </a:rPr>
                        <a:t> </a:t>
                      </a:r>
                      <a:r>
                        <a:rPr lang="en-US" sz="1600" b="1" dirty="0">
                          <a:solidFill>
                            <a:srgbClr val="FF0000"/>
                          </a:solidFill>
                          <a:latin typeface="Comic Sans MS" panose="030F0702030302020204" pitchFamily="66" charset="0"/>
                        </a:rPr>
                        <a:t>Continents with Lowest Avg Thinness</a:t>
                      </a:r>
                      <a:endParaRPr lang="en-US" sz="1600" dirty="0">
                        <a:solidFill>
                          <a:srgbClr val="FF0000"/>
                        </a:solidFill>
                        <a:latin typeface="Comic Sans MS" panose="030F0702030302020204" pitchFamily="66" charset="0"/>
                      </a:endParaRPr>
                    </a:p>
                  </a:txBody>
                  <a:tcPr marL="69069" marR="69069" marT="34534" marB="34534" anchor="ctr"/>
                </a:tc>
                <a:tc>
                  <a:txBody>
                    <a:bodyPr/>
                    <a:lstStyle/>
                    <a:p>
                      <a:r>
                        <a:rPr lang="en-IN" sz="1600" b="1" dirty="0">
                          <a:solidFill>
                            <a:srgbClr val="FFFF00"/>
                          </a:solidFill>
                          <a:latin typeface="Comic Sans MS" panose="030F0702030302020204" pitchFamily="66" charset="0"/>
                        </a:rPr>
                        <a:t>Europe</a:t>
                      </a:r>
                      <a:r>
                        <a:rPr lang="en-IN" sz="1600" dirty="0">
                          <a:solidFill>
                            <a:srgbClr val="FFFF00"/>
                          </a:solidFill>
                          <a:latin typeface="Comic Sans MS" panose="030F0702030302020204" pitchFamily="66" charset="0"/>
                        </a:rPr>
                        <a:t>, </a:t>
                      </a:r>
                      <a:r>
                        <a:rPr lang="en-IN" sz="1600" b="1" dirty="0">
                          <a:solidFill>
                            <a:srgbClr val="FFFF00"/>
                          </a:solidFill>
                          <a:latin typeface="Comic Sans MS" panose="030F0702030302020204" pitchFamily="66" charset="0"/>
                        </a:rPr>
                        <a:t>Oceania</a:t>
                      </a:r>
                      <a:endParaRPr lang="en-IN" sz="1600" dirty="0">
                        <a:solidFill>
                          <a:srgbClr val="FFFF00"/>
                        </a:solidFill>
                        <a:latin typeface="Comic Sans MS" panose="030F0702030302020204" pitchFamily="66" charset="0"/>
                      </a:endParaRPr>
                    </a:p>
                  </a:txBody>
                  <a:tcPr marL="69069" marR="69069" marT="34534" marB="34534" anchor="ctr"/>
                </a:tc>
                <a:tc>
                  <a:txBody>
                    <a:bodyPr/>
                    <a:lstStyle/>
                    <a:p>
                      <a:r>
                        <a:rPr lang="en-US" sz="1600">
                          <a:solidFill>
                            <a:srgbClr val="00FFFF"/>
                          </a:solidFill>
                          <a:latin typeface="Comic Sans MS" panose="030F0702030302020204" pitchFamily="66" charset="0"/>
                        </a:rPr>
                        <a:t>Better child nutrition, lower thinness rates.</a:t>
                      </a:r>
                    </a:p>
                  </a:txBody>
                  <a:tcPr marL="69069" marR="69069" marT="34534" marB="34534" anchor="ctr"/>
                </a:tc>
                <a:extLst>
                  <a:ext uri="{0D108BD9-81ED-4DB2-BD59-A6C34878D82A}">
                    <a16:rowId xmlns:a16="http://schemas.microsoft.com/office/drawing/2014/main" val="4078525723"/>
                  </a:ext>
                </a:extLst>
              </a:tr>
              <a:tr h="935950">
                <a:tc>
                  <a:txBody>
                    <a:bodyPr/>
                    <a:lstStyle/>
                    <a:p>
                      <a:r>
                        <a:rPr lang="en-US" sz="1600" b="1" dirty="0">
                          <a:solidFill>
                            <a:srgbClr val="FF0000"/>
                          </a:solidFill>
                          <a:latin typeface="Comic Sans MS" panose="030F0702030302020204" pitchFamily="66" charset="0"/>
                        </a:rPr>
                        <a:t>Highest Avg Thinness (Country)</a:t>
                      </a:r>
                      <a:endParaRPr lang="en-US" sz="1600" dirty="0">
                        <a:solidFill>
                          <a:srgbClr val="FF0000"/>
                        </a:solidFill>
                        <a:latin typeface="Comic Sans MS" panose="030F0702030302020204" pitchFamily="66" charset="0"/>
                      </a:endParaRPr>
                    </a:p>
                  </a:txBody>
                  <a:tcPr marL="69069" marR="69069" marT="34534" marB="34534" anchor="ctr"/>
                </a:tc>
                <a:tc>
                  <a:txBody>
                    <a:bodyPr/>
                    <a:lstStyle/>
                    <a:p>
                      <a:r>
                        <a:rPr lang="en-IN" sz="1600" b="1">
                          <a:solidFill>
                            <a:srgbClr val="FFFF00"/>
                          </a:solidFill>
                          <a:latin typeface="Comic Sans MS" panose="030F0702030302020204" pitchFamily="66" charset="0"/>
                        </a:rPr>
                        <a:t>India (28%)</a:t>
                      </a:r>
                      <a:endParaRPr lang="en-IN" sz="1600">
                        <a:solidFill>
                          <a:srgbClr val="FFFF00"/>
                        </a:solidFill>
                        <a:latin typeface="Comic Sans MS" panose="030F0702030302020204" pitchFamily="66" charset="0"/>
                      </a:endParaRPr>
                    </a:p>
                  </a:txBody>
                  <a:tcPr marL="69069" marR="69069" marT="34534" marB="34534" anchor="ctr"/>
                </a:tc>
                <a:tc>
                  <a:txBody>
                    <a:bodyPr/>
                    <a:lstStyle/>
                    <a:p>
                      <a:r>
                        <a:rPr lang="en-US" sz="1600" dirty="0">
                          <a:solidFill>
                            <a:srgbClr val="00FFFF"/>
                          </a:solidFill>
                          <a:latin typeface="Comic Sans MS" panose="030F0702030302020204" pitchFamily="66" charset="0"/>
                        </a:rPr>
                        <a:t>India has the highest long-term average thinness among 5–9-year-olds.</a:t>
                      </a:r>
                    </a:p>
                  </a:txBody>
                  <a:tcPr marL="69069" marR="69069" marT="34534" marB="34534" anchor="ctr"/>
                </a:tc>
                <a:extLst>
                  <a:ext uri="{0D108BD9-81ED-4DB2-BD59-A6C34878D82A}">
                    <a16:rowId xmlns:a16="http://schemas.microsoft.com/office/drawing/2014/main" val="474146827"/>
                  </a:ext>
                </a:extLst>
              </a:tr>
              <a:tr h="654352">
                <a:tc>
                  <a:txBody>
                    <a:bodyPr/>
                    <a:lstStyle/>
                    <a:p>
                      <a:r>
                        <a:rPr lang="en-IN" sz="1600" dirty="0">
                          <a:solidFill>
                            <a:srgbClr val="FF0000"/>
                          </a:solidFill>
                          <a:latin typeface="Comic Sans MS" panose="030F0702030302020204" pitchFamily="66" charset="0"/>
                        </a:rPr>
                        <a:t> </a:t>
                      </a:r>
                      <a:r>
                        <a:rPr lang="en-IN" sz="1600" b="1" dirty="0">
                          <a:solidFill>
                            <a:srgbClr val="FF0000"/>
                          </a:solidFill>
                          <a:latin typeface="Comic Sans MS" panose="030F0702030302020204" pitchFamily="66" charset="0"/>
                        </a:rPr>
                        <a:t>Next Highest Countries</a:t>
                      </a:r>
                      <a:endParaRPr lang="en-IN" sz="1600" dirty="0">
                        <a:solidFill>
                          <a:srgbClr val="FF0000"/>
                        </a:solidFill>
                        <a:latin typeface="Comic Sans MS" panose="030F0702030302020204" pitchFamily="66" charset="0"/>
                      </a:endParaRPr>
                    </a:p>
                  </a:txBody>
                  <a:tcPr marL="69069" marR="69069" marT="34534" marB="34534" anchor="ctr"/>
                </a:tc>
                <a:tc>
                  <a:txBody>
                    <a:bodyPr/>
                    <a:lstStyle/>
                    <a:p>
                      <a:r>
                        <a:rPr lang="en-IN" sz="1600" b="1">
                          <a:solidFill>
                            <a:srgbClr val="FFFF00"/>
                          </a:solidFill>
                          <a:latin typeface="Comic Sans MS" panose="030F0702030302020204" pitchFamily="66" charset="0"/>
                        </a:rPr>
                        <a:t>Bhutan (17.9%)</a:t>
                      </a:r>
                      <a:r>
                        <a:rPr lang="en-IN" sz="1600">
                          <a:solidFill>
                            <a:srgbClr val="FFFF00"/>
                          </a:solidFill>
                          <a:latin typeface="Comic Sans MS" panose="030F0702030302020204" pitchFamily="66" charset="0"/>
                        </a:rPr>
                        <a:t>, </a:t>
                      </a:r>
                      <a:r>
                        <a:rPr lang="en-IN" sz="1600" b="1">
                          <a:solidFill>
                            <a:srgbClr val="FFFF00"/>
                          </a:solidFill>
                          <a:latin typeface="Comic Sans MS" panose="030F0702030302020204" pitchFamily="66" charset="0"/>
                        </a:rPr>
                        <a:t>Nepal (17.6%)</a:t>
                      </a:r>
                      <a:endParaRPr lang="en-IN" sz="1600">
                        <a:solidFill>
                          <a:srgbClr val="FFFF00"/>
                        </a:solidFill>
                        <a:latin typeface="Comic Sans MS" panose="030F0702030302020204" pitchFamily="66" charset="0"/>
                      </a:endParaRPr>
                    </a:p>
                  </a:txBody>
                  <a:tcPr marL="69069" marR="69069" marT="34534" marB="34534" anchor="ctr"/>
                </a:tc>
                <a:tc>
                  <a:txBody>
                    <a:bodyPr/>
                    <a:lstStyle/>
                    <a:p>
                      <a:r>
                        <a:rPr lang="en-US" sz="1600" dirty="0">
                          <a:solidFill>
                            <a:srgbClr val="00FFFF"/>
                          </a:solidFill>
                          <a:latin typeface="Comic Sans MS" panose="030F0702030302020204" pitchFamily="66" charset="0"/>
                        </a:rPr>
                        <a:t>Also show significant child undernutrition.</a:t>
                      </a:r>
                    </a:p>
                  </a:txBody>
                  <a:tcPr marL="69069" marR="69069" marT="34534" marB="34534" anchor="ctr"/>
                </a:tc>
                <a:extLst>
                  <a:ext uri="{0D108BD9-81ED-4DB2-BD59-A6C34878D82A}">
                    <a16:rowId xmlns:a16="http://schemas.microsoft.com/office/drawing/2014/main" val="2980128539"/>
                  </a:ext>
                </a:extLst>
              </a:tr>
              <a:tr h="654352">
                <a:tc>
                  <a:txBody>
                    <a:bodyPr/>
                    <a:lstStyle/>
                    <a:p>
                      <a:r>
                        <a:rPr lang="en-US" sz="1600" dirty="0">
                          <a:solidFill>
                            <a:srgbClr val="FF0000"/>
                          </a:solidFill>
                          <a:latin typeface="Comic Sans MS" panose="030F0702030302020204" pitchFamily="66" charset="0"/>
                        </a:rPr>
                        <a:t> </a:t>
                      </a:r>
                      <a:r>
                        <a:rPr lang="en-US" sz="1600" b="1" dirty="0">
                          <a:solidFill>
                            <a:srgbClr val="FF0000"/>
                          </a:solidFill>
                          <a:latin typeface="Comic Sans MS" panose="030F0702030302020204" pitchFamily="66" charset="0"/>
                        </a:rPr>
                        <a:t>Lowest Avg Thinness (Countries)</a:t>
                      </a:r>
                      <a:endParaRPr lang="en-US" sz="1600" dirty="0">
                        <a:solidFill>
                          <a:srgbClr val="FF0000"/>
                        </a:solidFill>
                        <a:latin typeface="Comic Sans MS" panose="030F0702030302020204" pitchFamily="66" charset="0"/>
                      </a:endParaRPr>
                    </a:p>
                  </a:txBody>
                  <a:tcPr marL="69069" marR="69069" marT="34534" marB="34534" anchor="ctr"/>
                </a:tc>
                <a:tc>
                  <a:txBody>
                    <a:bodyPr/>
                    <a:lstStyle/>
                    <a:p>
                      <a:r>
                        <a:rPr lang="en-IN" sz="1600" b="1">
                          <a:solidFill>
                            <a:srgbClr val="FFFF00"/>
                          </a:solidFill>
                          <a:latin typeface="Comic Sans MS" panose="030F0702030302020204" pitchFamily="66" charset="0"/>
                        </a:rPr>
                        <a:t>Palau, Marshall Islands, Tonga, Tuvalu</a:t>
                      </a:r>
                      <a:endParaRPr lang="en-IN" sz="1600">
                        <a:solidFill>
                          <a:srgbClr val="FFFF00"/>
                        </a:solidFill>
                        <a:latin typeface="Comic Sans MS" panose="030F0702030302020204" pitchFamily="66" charset="0"/>
                      </a:endParaRPr>
                    </a:p>
                  </a:txBody>
                  <a:tcPr marL="69069" marR="69069" marT="34534" marB="34534" anchor="ctr"/>
                </a:tc>
                <a:tc>
                  <a:txBody>
                    <a:bodyPr/>
                    <a:lstStyle/>
                    <a:p>
                      <a:r>
                        <a:rPr lang="en-US" sz="1600">
                          <a:solidFill>
                            <a:srgbClr val="00FFFF"/>
                          </a:solidFill>
                          <a:latin typeface="Comic Sans MS" panose="030F0702030302020204" pitchFamily="66" charset="0"/>
                        </a:rPr>
                        <a:t>These countries show almost no thinness issues.</a:t>
                      </a:r>
                    </a:p>
                  </a:txBody>
                  <a:tcPr marL="69069" marR="69069" marT="34534" marB="34534" anchor="ctr"/>
                </a:tc>
                <a:extLst>
                  <a:ext uri="{0D108BD9-81ED-4DB2-BD59-A6C34878D82A}">
                    <a16:rowId xmlns:a16="http://schemas.microsoft.com/office/drawing/2014/main" val="1822750689"/>
                  </a:ext>
                </a:extLst>
              </a:tr>
              <a:tr h="654352">
                <a:tc>
                  <a:txBody>
                    <a:bodyPr/>
                    <a:lstStyle/>
                    <a:p>
                      <a:r>
                        <a:rPr lang="en-IN" sz="1600" dirty="0">
                          <a:solidFill>
                            <a:srgbClr val="FF0000"/>
                          </a:solidFill>
                          <a:latin typeface="Comic Sans MS" panose="030F0702030302020204" pitchFamily="66" charset="0"/>
                        </a:rPr>
                        <a:t> </a:t>
                      </a:r>
                      <a:r>
                        <a:rPr lang="en-IN" sz="1600" b="1" dirty="0">
                          <a:solidFill>
                            <a:srgbClr val="FF0000"/>
                          </a:solidFill>
                          <a:latin typeface="Comic Sans MS" panose="030F0702030302020204" pitchFamily="66" charset="0"/>
                        </a:rPr>
                        <a:t>Peak Thinness Recorded</a:t>
                      </a:r>
                      <a:endParaRPr lang="en-IN" sz="1600" dirty="0">
                        <a:solidFill>
                          <a:srgbClr val="FF0000"/>
                        </a:solidFill>
                        <a:latin typeface="Comic Sans MS" panose="030F0702030302020204" pitchFamily="66" charset="0"/>
                      </a:endParaRPr>
                    </a:p>
                  </a:txBody>
                  <a:tcPr marL="69069" marR="69069" marT="34534" marB="34534" anchor="ctr"/>
                </a:tc>
                <a:tc>
                  <a:txBody>
                    <a:bodyPr/>
                    <a:lstStyle/>
                    <a:p>
                      <a:r>
                        <a:rPr lang="en-IN" sz="1600" b="1">
                          <a:solidFill>
                            <a:srgbClr val="FFFF00"/>
                          </a:solidFill>
                          <a:latin typeface="Comic Sans MS" panose="030F0702030302020204" pitchFamily="66" charset="0"/>
                        </a:rPr>
                        <a:t>India (28.6%)</a:t>
                      </a:r>
                      <a:r>
                        <a:rPr lang="en-IN" sz="1600">
                          <a:solidFill>
                            <a:srgbClr val="FFFF00"/>
                          </a:solidFill>
                          <a:latin typeface="Comic Sans MS" panose="030F0702030302020204" pitchFamily="66" charset="0"/>
                        </a:rPr>
                        <a:t>, </a:t>
                      </a:r>
                      <a:r>
                        <a:rPr lang="en-IN" sz="1600" b="1">
                          <a:solidFill>
                            <a:srgbClr val="FFFF00"/>
                          </a:solidFill>
                          <a:latin typeface="Comic Sans MS" panose="030F0702030302020204" pitchFamily="66" charset="0"/>
                        </a:rPr>
                        <a:t>Pakistan (22.6%)</a:t>
                      </a:r>
                      <a:r>
                        <a:rPr lang="en-IN" sz="1600">
                          <a:solidFill>
                            <a:srgbClr val="FFFF00"/>
                          </a:solidFill>
                          <a:latin typeface="Comic Sans MS" panose="030F0702030302020204" pitchFamily="66" charset="0"/>
                        </a:rPr>
                        <a:t>, </a:t>
                      </a:r>
                      <a:r>
                        <a:rPr lang="en-IN" sz="1600" b="1">
                          <a:solidFill>
                            <a:srgbClr val="FFFF00"/>
                          </a:solidFill>
                          <a:latin typeface="Comic Sans MS" panose="030F0702030302020204" pitchFamily="66" charset="0"/>
                        </a:rPr>
                        <a:t>Bangladesh (21.5%)</a:t>
                      </a:r>
                      <a:endParaRPr lang="en-IN" sz="1600">
                        <a:solidFill>
                          <a:srgbClr val="FFFF00"/>
                        </a:solidFill>
                        <a:latin typeface="Comic Sans MS" panose="030F0702030302020204" pitchFamily="66" charset="0"/>
                      </a:endParaRPr>
                    </a:p>
                  </a:txBody>
                  <a:tcPr marL="69069" marR="69069" marT="34534" marB="34534" anchor="ctr"/>
                </a:tc>
                <a:tc>
                  <a:txBody>
                    <a:bodyPr/>
                    <a:lstStyle/>
                    <a:p>
                      <a:r>
                        <a:rPr lang="en-US" sz="1600">
                          <a:solidFill>
                            <a:srgbClr val="00FFFF"/>
                          </a:solidFill>
                          <a:latin typeface="Comic Sans MS" panose="030F0702030302020204" pitchFamily="66" charset="0"/>
                        </a:rPr>
                        <a:t>Years when highest levels were observed.</a:t>
                      </a:r>
                    </a:p>
                  </a:txBody>
                  <a:tcPr marL="69069" marR="69069" marT="34534" marB="34534" anchor="ctr"/>
                </a:tc>
                <a:extLst>
                  <a:ext uri="{0D108BD9-81ED-4DB2-BD59-A6C34878D82A}">
                    <a16:rowId xmlns:a16="http://schemas.microsoft.com/office/drawing/2014/main" val="4064994582"/>
                  </a:ext>
                </a:extLst>
              </a:tr>
              <a:tr h="654352">
                <a:tc>
                  <a:txBody>
                    <a:bodyPr/>
                    <a:lstStyle/>
                    <a:p>
                      <a:r>
                        <a:rPr lang="en-US" sz="1600" dirty="0">
                          <a:solidFill>
                            <a:srgbClr val="FF0000"/>
                          </a:solidFill>
                          <a:latin typeface="Comic Sans MS" panose="030F0702030302020204" pitchFamily="66" charset="0"/>
                        </a:rPr>
                        <a:t> </a:t>
                      </a:r>
                      <a:r>
                        <a:rPr lang="en-US" sz="1600" b="1" dirty="0">
                          <a:solidFill>
                            <a:srgbClr val="FF0000"/>
                          </a:solidFill>
                          <a:latin typeface="Comic Sans MS" panose="030F0702030302020204" pitchFamily="66" charset="0"/>
                        </a:rPr>
                        <a:t>Top Thinness (5–9 Age Group)</a:t>
                      </a:r>
                      <a:endParaRPr lang="en-US" sz="1600" dirty="0">
                        <a:solidFill>
                          <a:srgbClr val="FF0000"/>
                        </a:solidFill>
                        <a:latin typeface="Comic Sans MS" panose="030F0702030302020204" pitchFamily="66" charset="0"/>
                      </a:endParaRPr>
                    </a:p>
                  </a:txBody>
                  <a:tcPr marL="69069" marR="69069" marT="34534" marB="34534" anchor="ctr"/>
                </a:tc>
                <a:tc>
                  <a:txBody>
                    <a:bodyPr/>
                    <a:lstStyle/>
                    <a:p>
                      <a:r>
                        <a:rPr lang="en-IN" sz="1600" b="1" dirty="0">
                          <a:solidFill>
                            <a:srgbClr val="FFFF00"/>
                          </a:solidFill>
                          <a:latin typeface="Comic Sans MS" panose="030F0702030302020204" pitchFamily="66" charset="0"/>
                        </a:rPr>
                        <a:t>India (27.3%)</a:t>
                      </a:r>
                      <a:r>
                        <a:rPr lang="en-IN" sz="1600" dirty="0">
                          <a:solidFill>
                            <a:srgbClr val="FFFF00"/>
                          </a:solidFill>
                          <a:latin typeface="Comic Sans MS" panose="030F0702030302020204" pitchFamily="66" charset="0"/>
                        </a:rPr>
                        <a:t>, </a:t>
                      </a:r>
                      <a:r>
                        <a:rPr lang="en-IN" sz="1600" b="1" dirty="0">
                          <a:solidFill>
                            <a:srgbClr val="FFFF00"/>
                          </a:solidFill>
                          <a:latin typeface="Comic Sans MS" panose="030F0702030302020204" pitchFamily="66" charset="0"/>
                        </a:rPr>
                        <a:t>Pakistan (19.6%)</a:t>
                      </a:r>
                      <a:r>
                        <a:rPr lang="en-IN" sz="1600" dirty="0">
                          <a:solidFill>
                            <a:srgbClr val="FFFF00"/>
                          </a:solidFill>
                          <a:latin typeface="Comic Sans MS" panose="030F0702030302020204" pitchFamily="66" charset="0"/>
                        </a:rPr>
                        <a:t>, </a:t>
                      </a:r>
                      <a:r>
                        <a:rPr lang="en-IN" sz="1600" b="1" dirty="0">
                          <a:solidFill>
                            <a:srgbClr val="FFFF00"/>
                          </a:solidFill>
                          <a:latin typeface="Comic Sans MS" panose="030F0702030302020204" pitchFamily="66" charset="0"/>
                        </a:rPr>
                        <a:t>Bangladesh (18.3%)</a:t>
                      </a:r>
                      <a:endParaRPr lang="en-IN" sz="1600" dirty="0">
                        <a:solidFill>
                          <a:srgbClr val="FFFF00"/>
                        </a:solidFill>
                        <a:latin typeface="Comic Sans MS" panose="030F0702030302020204" pitchFamily="66" charset="0"/>
                      </a:endParaRPr>
                    </a:p>
                  </a:txBody>
                  <a:tcPr marL="69069" marR="69069" marT="34534" marB="34534" anchor="ctr"/>
                </a:tc>
                <a:tc>
                  <a:txBody>
                    <a:bodyPr/>
                    <a:lstStyle/>
                    <a:p>
                      <a:r>
                        <a:rPr lang="en-US" sz="1600" dirty="0">
                          <a:solidFill>
                            <a:srgbClr val="00FFFF"/>
                          </a:solidFill>
                          <a:latin typeface="Comic Sans MS" panose="030F0702030302020204" pitchFamily="66" charset="0"/>
                        </a:rPr>
                        <a:t>Highest thinness rates in this specific age group.</a:t>
                      </a:r>
                    </a:p>
                  </a:txBody>
                  <a:tcPr marL="69069" marR="69069" marT="34534" marB="34534" anchor="ctr"/>
                </a:tc>
                <a:extLst>
                  <a:ext uri="{0D108BD9-81ED-4DB2-BD59-A6C34878D82A}">
                    <a16:rowId xmlns:a16="http://schemas.microsoft.com/office/drawing/2014/main" val="3084459383"/>
                  </a:ext>
                </a:extLst>
              </a:tr>
            </a:tbl>
          </a:graphicData>
        </a:graphic>
      </p:graphicFrame>
    </p:spTree>
    <p:extLst>
      <p:ext uri="{BB962C8B-B14F-4D97-AF65-F5344CB8AC3E}">
        <p14:creationId xmlns:p14="http://schemas.microsoft.com/office/powerpoint/2010/main" val="20349969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CEC20-49FE-56D5-A33C-5D1050BF75F1}"/>
              </a:ext>
            </a:extLst>
          </p:cNvPr>
          <p:cNvSpPr>
            <a:spLocks noGrp="1"/>
          </p:cNvSpPr>
          <p:nvPr>
            <p:ph type="title"/>
          </p:nvPr>
        </p:nvSpPr>
        <p:spPr>
          <a:xfrm>
            <a:off x="391886" y="174172"/>
            <a:ext cx="5627914" cy="794657"/>
          </a:xfrm>
        </p:spPr>
        <p:txBody>
          <a:bodyPr>
            <a:normAutofit fontScale="90000"/>
          </a:bodyPr>
          <a:lstStyle/>
          <a:p>
            <a:r>
              <a:rPr lang="en-US" b="1" dirty="0">
                <a:solidFill>
                  <a:srgbClr val="92D050"/>
                </a:solidFill>
              </a:rPr>
              <a:t>20.Thinness 1 to 19 years</a:t>
            </a:r>
            <a:endParaRPr lang="en-IN" b="1" dirty="0">
              <a:solidFill>
                <a:srgbClr val="92D050"/>
              </a:solidFill>
            </a:endParaRPr>
          </a:p>
        </p:txBody>
      </p:sp>
      <p:pic>
        <p:nvPicPr>
          <p:cNvPr id="6" name="Content Placeholder 5">
            <a:extLst>
              <a:ext uri="{FF2B5EF4-FFF2-40B4-BE49-F238E27FC236}">
                <a16:creationId xmlns:a16="http://schemas.microsoft.com/office/drawing/2014/main" id="{6AD4A0B2-E09F-3D13-A759-C558E6A71D72}"/>
              </a:ext>
            </a:extLst>
          </p:cNvPr>
          <p:cNvPicPr>
            <a:picLocks noGrp="1" noChangeAspect="1"/>
          </p:cNvPicPr>
          <p:nvPr>
            <p:ph sz="half" idx="1"/>
          </p:nvPr>
        </p:nvPicPr>
        <p:blipFill>
          <a:blip r:embed="rId2"/>
          <a:stretch>
            <a:fillRect/>
          </a:stretch>
        </p:blipFill>
        <p:spPr>
          <a:xfrm>
            <a:off x="217715" y="1230085"/>
            <a:ext cx="5802086" cy="5225143"/>
          </a:xfrm>
        </p:spPr>
      </p:pic>
      <p:sp>
        <p:nvSpPr>
          <p:cNvPr id="4" name="Content Placeholder 3">
            <a:extLst>
              <a:ext uri="{FF2B5EF4-FFF2-40B4-BE49-F238E27FC236}">
                <a16:creationId xmlns:a16="http://schemas.microsoft.com/office/drawing/2014/main" id="{ECA00230-ED1C-4EDF-C274-41592A7285F7}"/>
              </a:ext>
            </a:extLst>
          </p:cNvPr>
          <p:cNvSpPr>
            <a:spLocks noGrp="1"/>
          </p:cNvSpPr>
          <p:nvPr>
            <p:ph sz="half" idx="2"/>
          </p:nvPr>
        </p:nvSpPr>
        <p:spPr>
          <a:xfrm>
            <a:off x="6172199" y="174172"/>
            <a:ext cx="5889172" cy="6389914"/>
          </a:xfrm>
        </p:spPr>
        <p:txBody>
          <a:bodyPr>
            <a:normAutofit fontScale="70000" lnSpcReduction="20000"/>
          </a:bodyPr>
          <a:lstStyle/>
          <a:p>
            <a:r>
              <a:rPr lang="en-US" dirty="0">
                <a:solidFill>
                  <a:srgbClr val="FFFF00"/>
                </a:solidFill>
                <a:latin typeface="Comic Sans MS" panose="030F0702030302020204" pitchFamily="66" charset="0"/>
              </a:rPr>
              <a:t>There is a </a:t>
            </a:r>
            <a:r>
              <a:rPr lang="en-US" b="1" dirty="0">
                <a:solidFill>
                  <a:srgbClr val="FFFF00"/>
                </a:solidFill>
                <a:latin typeface="Comic Sans MS" panose="030F0702030302020204" pitchFamily="66" charset="0"/>
              </a:rPr>
              <a:t>clear inverse relationship</a:t>
            </a:r>
            <a:r>
              <a:rPr lang="en-US" dirty="0">
                <a:solidFill>
                  <a:srgbClr val="FFFF00"/>
                </a:solidFill>
                <a:latin typeface="Comic Sans MS" panose="030F0702030302020204" pitchFamily="66" charset="0"/>
              </a:rPr>
              <a:t> between childhood thinness and life expectancy:</a:t>
            </a:r>
          </a:p>
          <a:p>
            <a:r>
              <a:rPr lang="en-US" b="1" dirty="0">
                <a:solidFill>
                  <a:srgbClr val="FFFF00"/>
                </a:solidFill>
                <a:latin typeface="Comic Sans MS" panose="030F0702030302020204" pitchFamily="66" charset="0"/>
              </a:rPr>
              <a:t>Higher thinness</a:t>
            </a:r>
            <a:r>
              <a:rPr lang="en-US" dirty="0">
                <a:solidFill>
                  <a:srgbClr val="FFFF00"/>
                </a:solidFill>
                <a:latin typeface="Comic Sans MS" panose="030F0702030302020204" pitchFamily="66" charset="0"/>
              </a:rPr>
              <a:t> (10%+) is linked with </a:t>
            </a:r>
            <a:r>
              <a:rPr lang="en-US" b="1" dirty="0">
                <a:solidFill>
                  <a:srgbClr val="FFFF00"/>
                </a:solidFill>
                <a:latin typeface="Comic Sans MS" panose="030F0702030302020204" pitchFamily="66" charset="0"/>
              </a:rPr>
              <a:t>lower life expectancy</a:t>
            </a:r>
            <a:r>
              <a:rPr lang="en-US" dirty="0">
                <a:solidFill>
                  <a:srgbClr val="FFFF00"/>
                </a:solidFill>
                <a:latin typeface="Comic Sans MS" panose="030F0702030302020204" pitchFamily="66" charset="0"/>
              </a:rPr>
              <a:t> (often below 60 years).</a:t>
            </a:r>
          </a:p>
          <a:p>
            <a:r>
              <a:rPr lang="en-US" b="1" dirty="0">
                <a:solidFill>
                  <a:srgbClr val="FFFF00"/>
                </a:solidFill>
                <a:latin typeface="Comic Sans MS" panose="030F0702030302020204" pitchFamily="66" charset="0"/>
              </a:rPr>
              <a:t>Lower thinness</a:t>
            </a:r>
            <a:r>
              <a:rPr lang="en-US" dirty="0">
                <a:solidFill>
                  <a:srgbClr val="FFFF00"/>
                </a:solidFill>
                <a:latin typeface="Comic Sans MS" panose="030F0702030302020204" pitchFamily="66" charset="0"/>
              </a:rPr>
              <a:t> (0–5%) corresponds with </a:t>
            </a:r>
            <a:r>
              <a:rPr lang="en-US" b="1" dirty="0">
                <a:solidFill>
                  <a:srgbClr val="FFFF00"/>
                </a:solidFill>
                <a:latin typeface="Comic Sans MS" panose="030F0702030302020204" pitchFamily="66" charset="0"/>
              </a:rPr>
              <a:t>higher life expectancy</a:t>
            </a:r>
            <a:r>
              <a:rPr lang="en-US" dirty="0">
                <a:solidFill>
                  <a:srgbClr val="FFFF00"/>
                </a:solidFill>
                <a:latin typeface="Comic Sans MS" panose="030F0702030302020204" pitchFamily="66" charset="0"/>
              </a:rPr>
              <a:t> (above 70 years).</a:t>
            </a:r>
          </a:p>
          <a:p>
            <a:endParaRPr lang="en-US" dirty="0">
              <a:latin typeface="Comic Sans MS" panose="030F0702030302020204" pitchFamily="66" charset="0"/>
            </a:endParaRPr>
          </a:p>
          <a:p>
            <a:r>
              <a:rPr lang="en-US" b="1" dirty="0">
                <a:solidFill>
                  <a:srgbClr val="00FFFF"/>
                </a:solidFill>
                <a:latin typeface="Comic Sans MS" panose="030F0702030302020204" pitchFamily="66" charset="0"/>
              </a:rPr>
              <a:t>By Continent:</a:t>
            </a:r>
            <a:endParaRPr lang="en-US" dirty="0">
              <a:solidFill>
                <a:srgbClr val="00FFFF"/>
              </a:solidFill>
              <a:latin typeface="Comic Sans MS" panose="030F0702030302020204" pitchFamily="66" charset="0"/>
            </a:endParaRPr>
          </a:p>
          <a:p>
            <a:r>
              <a:rPr lang="en-US" b="1" dirty="0">
                <a:solidFill>
                  <a:srgbClr val="00FFFF"/>
                </a:solidFill>
                <a:latin typeface="Comic Sans MS" panose="030F0702030302020204" pitchFamily="66" charset="0"/>
              </a:rPr>
              <a:t>Africa</a:t>
            </a:r>
            <a:r>
              <a:rPr lang="en-US" dirty="0">
                <a:solidFill>
                  <a:srgbClr val="00FFFF"/>
                </a:solidFill>
                <a:latin typeface="Comic Sans MS" panose="030F0702030302020204" pitchFamily="66" charset="0"/>
              </a:rPr>
              <a:t>: Highest thinness rates and lowest life expectancy.</a:t>
            </a:r>
          </a:p>
          <a:p>
            <a:r>
              <a:rPr lang="en-US" b="1" dirty="0">
                <a:solidFill>
                  <a:srgbClr val="00FFFF"/>
                </a:solidFill>
                <a:latin typeface="Comic Sans MS" panose="030F0702030302020204" pitchFamily="66" charset="0"/>
              </a:rPr>
              <a:t>Asia</a:t>
            </a:r>
            <a:r>
              <a:rPr lang="en-US" dirty="0">
                <a:solidFill>
                  <a:srgbClr val="00FFFF"/>
                </a:solidFill>
                <a:latin typeface="Comic Sans MS" panose="030F0702030302020204" pitchFamily="66" charset="0"/>
              </a:rPr>
              <a:t>: Wide range in both thinness and life expectancy.</a:t>
            </a:r>
          </a:p>
          <a:p>
            <a:r>
              <a:rPr lang="en-US" b="1" dirty="0">
                <a:solidFill>
                  <a:srgbClr val="00FFFF"/>
                </a:solidFill>
                <a:latin typeface="Comic Sans MS" panose="030F0702030302020204" pitchFamily="66" charset="0"/>
              </a:rPr>
              <a:t>Europe &amp; North America</a:t>
            </a:r>
            <a:r>
              <a:rPr lang="en-US" dirty="0">
                <a:solidFill>
                  <a:srgbClr val="00FFFF"/>
                </a:solidFill>
                <a:latin typeface="Comic Sans MS" panose="030F0702030302020204" pitchFamily="66" charset="0"/>
              </a:rPr>
              <a:t>: Low thinness and high life expectancy.</a:t>
            </a:r>
          </a:p>
          <a:p>
            <a:r>
              <a:rPr lang="en-US" b="1" dirty="0">
                <a:solidFill>
                  <a:srgbClr val="00FFFF"/>
                </a:solidFill>
                <a:latin typeface="Comic Sans MS" panose="030F0702030302020204" pitchFamily="66" charset="0"/>
              </a:rPr>
              <a:t>South America</a:t>
            </a:r>
            <a:r>
              <a:rPr lang="en-US" dirty="0">
                <a:solidFill>
                  <a:srgbClr val="00FFFF"/>
                </a:solidFill>
                <a:latin typeface="Comic Sans MS" panose="030F0702030302020204" pitchFamily="66" charset="0"/>
              </a:rPr>
              <a:t>: Moderate thinness, strong life expectancy.</a:t>
            </a:r>
          </a:p>
          <a:p>
            <a:r>
              <a:rPr lang="en-US" b="1" dirty="0">
                <a:solidFill>
                  <a:srgbClr val="00FFFF"/>
                </a:solidFill>
                <a:latin typeface="Comic Sans MS" panose="030F0702030302020204" pitchFamily="66" charset="0"/>
              </a:rPr>
              <a:t>Oceania</a:t>
            </a:r>
            <a:r>
              <a:rPr lang="en-US" dirty="0">
                <a:solidFill>
                  <a:srgbClr val="00FFFF"/>
                </a:solidFill>
                <a:latin typeface="Comic Sans MS" panose="030F0702030302020204" pitchFamily="66" charset="0"/>
              </a:rPr>
              <a:t>: Very low thinness, high life expectancy.</a:t>
            </a:r>
          </a:p>
          <a:p>
            <a:endParaRPr lang="en-US" dirty="0">
              <a:solidFill>
                <a:srgbClr val="00FFFF"/>
              </a:solidFill>
              <a:latin typeface="Comic Sans MS" panose="030F0702030302020204" pitchFamily="66" charset="0"/>
            </a:endParaRPr>
          </a:p>
          <a:p>
            <a:r>
              <a:rPr lang="en-US" b="1" dirty="0">
                <a:solidFill>
                  <a:srgbClr val="FF0000"/>
                </a:solidFill>
                <a:latin typeface="Comic Sans MS" panose="030F0702030302020204" pitchFamily="66" charset="0"/>
              </a:rPr>
              <a:t>Conclusion</a:t>
            </a:r>
            <a:r>
              <a:rPr lang="en-US" dirty="0">
                <a:solidFill>
                  <a:srgbClr val="FF0000"/>
                </a:solidFill>
                <a:latin typeface="Comic Sans MS" panose="030F0702030302020204" pitchFamily="66" charset="0"/>
              </a:rPr>
              <a:t>: Better childhood nutrition strongly supports longer life expectancy</a:t>
            </a:r>
            <a:r>
              <a:rPr lang="en-US" dirty="0">
                <a:latin typeface="Comic Sans MS" panose="030F0702030302020204" pitchFamily="66" charset="0"/>
              </a:rPr>
              <a:t>.</a:t>
            </a:r>
          </a:p>
          <a:p>
            <a:endParaRPr lang="en-IN" dirty="0">
              <a:latin typeface="Comic Sans MS" panose="030F0702030302020204" pitchFamily="66" charset="0"/>
            </a:endParaRPr>
          </a:p>
        </p:txBody>
      </p:sp>
    </p:spTree>
    <p:extLst>
      <p:ext uri="{BB962C8B-B14F-4D97-AF65-F5344CB8AC3E}">
        <p14:creationId xmlns:p14="http://schemas.microsoft.com/office/powerpoint/2010/main" val="35011595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8BBBA-1CBD-DAB4-042F-1C70C6603801}"/>
              </a:ext>
            </a:extLst>
          </p:cNvPr>
          <p:cNvSpPr>
            <a:spLocks noGrp="1"/>
          </p:cNvSpPr>
          <p:nvPr>
            <p:ph type="title"/>
          </p:nvPr>
        </p:nvSpPr>
        <p:spPr>
          <a:xfrm>
            <a:off x="108856" y="152401"/>
            <a:ext cx="11560629" cy="598714"/>
          </a:xfrm>
        </p:spPr>
        <p:txBody>
          <a:bodyPr>
            <a:normAutofit fontScale="90000"/>
          </a:bodyPr>
          <a:lstStyle/>
          <a:p>
            <a:r>
              <a:rPr lang="en-US" b="1" dirty="0"/>
              <a:t>Key Insights</a:t>
            </a:r>
            <a:endParaRPr lang="en-IN" b="1" dirty="0"/>
          </a:p>
        </p:txBody>
      </p:sp>
      <p:graphicFrame>
        <p:nvGraphicFramePr>
          <p:cNvPr id="4" name="Content Placeholder 3">
            <a:extLst>
              <a:ext uri="{FF2B5EF4-FFF2-40B4-BE49-F238E27FC236}">
                <a16:creationId xmlns:a16="http://schemas.microsoft.com/office/drawing/2014/main" id="{1A260E80-EDE3-84CC-B183-7E14FFE96FE4}"/>
              </a:ext>
            </a:extLst>
          </p:cNvPr>
          <p:cNvGraphicFramePr>
            <a:graphicFrameLocks noGrp="1"/>
          </p:cNvGraphicFramePr>
          <p:nvPr>
            <p:ph idx="1"/>
            <p:extLst>
              <p:ext uri="{D42A27DB-BD31-4B8C-83A1-F6EECF244321}">
                <p14:modId xmlns:p14="http://schemas.microsoft.com/office/powerpoint/2010/main" val="227143973"/>
              </p:ext>
            </p:extLst>
          </p:nvPr>
        </p:nvGraphicFramePr>
        <p:xfrm>
          <a:off x="108856" y="1012372"/>
          <a:ext cx="11854544" cy="5693224"/>
        </p:xfrm>
        <a:graphic>
          <a:graphicData uri="http://schemas.openxmlformats.org/drawingml/2006/table">
            <a:tbl>
              <a:tblPr>
                <a:tableStyleId>{BC89EF96-8CEA-46FF-86C4-4CE0E7609802}</a:tableStyleId>
              </a:tblPr>
              <a:tblGrid>
                <a:gridCol w="5927272">
                  <a:extLst>
                    <a:ext uri="{9D8B030D-6E8A-4147-A177-3AD203B41FA5}">
                      <a16:colId xmlns:a16="http://schemas.microsoft.com/office/drawing/2014/main" val="2670838779"/>
                    </a:ext>
                  </a:extLst>
                </a:gridCol>
                <a:gridCol w="5927272">
                  <a:extLst>
                    <a:ext uri="{9D8B030D-6E8A-4147-A177-3AD203B41FA5}">
                      <a16:colId xmlns:a16="http://schemas.microsoft.com/office/drawing/2014/main" val="2592230563"/>
                    </a:ext>
                  </a:extLst>
                </a:gridCol>
              </a:tblGrid>
              <a:tr h="542213">
                <a:tc>
                  <a:txBody>
                    <a:bodyPr/>
                    <a:lstStyle/>
                    <a:p>
                      <a:r>
                        <a:rPr lang="en-IN" b="1" dirty="0">
                          <a:solidFill>
                            <a:srgbClr val="FF0000"/>
                          </a:solidFill>
                          <a:latin typeface="Comic Sans MS" panose="030F0702030302020204" pitchFamily="66" charset="0"/>
                        </a:rPr>
                        <a:t>Insight</a:t>
                      </a:r>
                      <a:endParaRPr lang="en-IN" dirty="0">
                        <a:solidFill>
                          <a:srgbClr val="FF0000"/>
                        </a:solidFill>
                        <a:latin typeface="Comic Sans MS" panose="030F0702030302020204" pitchFamily="66" charset="0"/>
                      </a:endParaRPr>
                    </a:p>
                  </a:txBody>
                  <a:tcPr anchor="ctr"/>
                </a:tc>
                <a:tc>
                  <a:txBody>
                    <a:bodyPr/>
                    <a:lstStyle/>
                    <a:p>
                      <a:r>
                        <a:rPr lang="en-IN" b="1">
                          <a:latin typeface="Comic Sans MS" panose="030F0702030302020204" pitchFamily="66" charset="0"/>
                        </a:rPr>
                        <a:t>Description</a:t>
                      </a:r>
                      <a:endParaRPr lang="en-IN">
                        <a:latin typeface="Comic Sans MS" panose="030F0702030302020204" pitchFamily="66" charset="0"/>
                      </a:endParaRPr>
                    </a:p>
                  </a:txBody>
                  <a:tcPr anchor="ctr"/>
                </a:tc>
                <a:extLst>
                  <a:ext uri="{0D108BD9-81ED-4DB2-BD59-A6C34878D82A}">
                    <a16:rowId xmlns:a16="http://schemas.microsoft.com/office/drawing/2014/main" val="1554570047"/>
                  </a:ext>
                </a:extLst>
              </a:tr>
              <a:tr h="948870">
                <a:tc>
                  <a:txBody>
                    <a:bodyPr/>
                    <a:lstStyle/>
                    <a:p>
                      <a:r>
                        <a:rPr lang="en-US" dirty="0">
                          <a:solidFill>
                            <a:srgbClr val="FF0000"/>
                          </a:solidFill>
                          <a:latin typeface="Comic Sans MS" panose="030F0702030302020204" pitchFamily="66" charset="0"/>
                        </a:rPr>
                        <a:t> </a:t>
                      </a:r>
                      <a:r>
                        <a:rPr lang="en-US" b="1" dirty="0">
                          <a:solidFill>
                            <a:srgbClr val="FF0000"/>
                          </a:solidFill>
                          <a:latin typeface="Comic Sans MS" panose="030F0702030302020204" pitchFamily="66" charset="0"/>
                        </a:rPr>
                        <a:t>Continents with Highest Avg Thinness</a:t>
                      </a:r>
                      <a:endParaRPr lang="en-US" dirty="0">
                        <a:solidFill>
                          <a:srgbClr val="FF0000"/>
                        </a:solidFill>
                        <a:latin typeface="Comic Sans MS" panose="030F0702030302020204" pitchFamily="66" charset="0"/>
                      </a:endParaRPr>
                    </a:p>
                  </a:txBody>
                  <a:tcPr anchor="ctr"/>
                </a:tc>
                <a:tc>
                  <a:txBody>
                    <a:bodyPr/>
                    <a:lstStyle/>
                    <a:p>
                      <a:r>
                        <a:rPr lang="en-US">
                          <a:latin typeface="Comic Sans MS" panose="030F0702030302020204" pitchFamily="66" charset="0"/>
                        </a:rPr>
                        <a:t>Asia (7.3%) and Africa (7.2%) face the greatest challenges with child undernutrition.</a:t>
                      </a:r>
                    </a:p>
                  </a:txBody>
                  <a:tcPr anchor="ctr"/>
                </a:tc>
                <a:extLst>
                  <a:ext uri="{0D108BD9-81ED-4DB2-BD59-A6C34878D82A}">
                    <a16:rowId xmlns:a16="http://schemas.microsoft.com/office/drawing/2014/main" val="574649402"/>
                  </a:ext>
                </a:extLst>
              </a:tr>
              <a:tr h="1355531">
                <a:tc>
                  <a:txBody>
                    <a:bodyPr/>
                    <a:lstStyle/>
                    <a:p>
                      <a:r>
                        <a:rPr lang="en-US" dirty="0">
                          <a:solidFill>
                            <a:srgbClr val="FF0000"/>
                          </a:solidFill>
                          <a:latin typeface="Comic Sans MS" panose="030F0702030302020204" pitchFamily="66" charset="0"/>
                        </a:rPr>
                        <a:t> </a:t>
                      </a:r>
                      <a:r>
                        <a:rPr lang="en-US" b="1" dirty="0">
                          <a:solidFill>
                            <a:srgbClr val="FF0000"/>
                          </a:solidFill>
                          <a:latin typeface="Comic Sans MS" panose="030F0702030302020204" pitchFamily="66" charset="0"/>
                        </a:rPr>
                        <a:t>Continents with Lowest Avg Thinness</a:t>
                      </a:r>
                      <a:endParaRPr lang="en-US" dirty="0">
                        <a:solidFill>
                          <a:srgbClr val="FF0000"/>
                        </a:solidFill>
                        <a:latin typeface="Comic Sans MS" panose="030F0702030302020204" pitchFamily="66" charset="0"/>
                      </a:endParaRPr>
                    </a:p>
                  </a:txBody>
                  <a:tcPr anchor="ctr"/>
                </a:tc>
                <a:tc>
                  <a:txBody>
                    <a:bodyPr/>
                    <a:lstStyle/>
                    <a:p>
                      <a:r>
                        <a:rPr lang="en-US">
                          <a:latin typeface="Comic Sans MS" panose="030F0702030302020204" pitchFamily="66" charset="0"/>
                        </a:rPr>
                        <a:t>Europe, Oceania, and North America show low thinness rates, reflecting better nutrition and food access.</a:t>
                      </a:r>
                    </a:p>
                  </a:txBody>
                  <a:tcPr anchor="ctr"/>
                </a:tc>
                <a:extLst>
                  <a:ext uri="{0D108BD9-81ED-4DB2-BD59-A6C34878D82A}">
                    <a16:rowId xmlns:a16="http://schemas.microsoft.com/office/drawing/2014/main" val="170345440"/>
                  </a:ext>
                </a:extLst>
              </a:tr>
              <a:tr h="948870">
                <a:tc>
                  <a:txBody>
                    <a:bodyPr/>
                    <a:lstStyle/>
                    <a:p>
                      <a:r>
                        <a:rPr lang="en-US">
                          <a:solidFill>
                            <a:srgbClr val="FF0000"/>
                          </a:solidFill>
                          <a:latin typeface="Comic Sans MS" panose="030F0702030302020204" pitchFamily="66" charset="0"/>
                        </a:rPr>
                        <a:t>🇮🇳 </a:t>
                      </a:r>
                      <a:r>
                        <a:rPr lang="en-US" b="1">
                          <a:solidFill>
                            <a:srgbClr val="FF0000"/>
                          </a:solidFill>
                          <a:latin typeface="Comic Sans MS" panose="030F0702030302020204" pitchFamily="66" charset="0"/>
                        </a:rPr>
                        <a:t>Country with Highest Avg Thinness (All Years)</a:t>
                      </a:r>
                      <a:endParaRPr lang="en-US">
                        <a:solidFill>
                          <a:srgbClr val="FF0000"/>
                        </a:solidFill>
                        <a:latin typeface="Comic Sans MS" panose="030F0702030302020204" pitchFamily="66" charset="0"/>
                      </a:endParaRPr>
                    </a:p>
                  </a:txBody>
                  <a:tcPr anchor="ctr"/>
                </a:tc>
                <a:tc>
                  <a:txBody>
                    <a:bodyPr/>
                    <a:lstStyle/>
                    <a:p>
                      <a:r>
                        <a:rPr lang="en-US" b="1">
                          <a:latin typeface="Comic Sans MS" panose="030F0702030302020204" pitchFamily="66" charset="0"/>
                        </a:rPr>
                        <a:t>India</a:t>
                      </a:r>
                      <a:r>
                        <a:rPr lang="en-US">
                          <a:latin typeface="Comic Sans MS" panose="030F0702030302020204" pitchFamily="66" charset="0"/>
                        </a:rPr>
                        <a:t> leads with 27%, followed by </a:t>
                      </a:r>
                      <a:r>
                        <a:rPr lang="en-US" b="1">
                          <a:latin typeface="Comic Sans MS" panose="030F0702030302020204" pitchFamily="66" charset="0"/>
                        </a:rPr>
                        <a:t>Bhutan</a:t>
                      </a:r>
                      <a:r>
                        <a:rPr lang="en-US">
                          <a:latin typeface="Comic Sans MS" panose="030F0702030302020204" pitchFamily="66" charset="0"/>
                        </a:rPr>
                        <a:t> and </a:t>
                      </a:r>
                      <a:r>
                        <a:rPr lang="en-US" b="1">
                          <a:latin typeface="Comic Sans MS" panose="030F0702030302020204" pitchFamily="66" charset="0"/>
                        </a:rPr>
                        <a:t>Nepal</a:t>
                      </a:r>
                      <a:r>
                        <a:rPr lang="en-US">
                          <a:latin typeface="Comic Sans MS" panose="030F0702030302020204" pitchFamily="66" charset="0"/>
                        </a:rPr>
                        <a:t>, indicating long-term undernutrition issues.</a:t>
                      </a:r>
                    </a:p>
                  </a:txBody>
                  <a:tcPr anchor="ctr"/>
                </a:tc>
                <a:extLst>
                  <a:ext uri="{0D108BD9-81ED-4DB2-BD59-A6C34878D82A}">
                    <a16:rowId xmlns:a16="http://schemas.microsoft.com/office/drawing/2014/main" val="967478684"/>
                  </a:ext>
                </a:extLst>
              </a:tr>
              <a:tr h="948870">
                <a:tc>
                  <a:txBody>
                    <a:bodyPr/>
                    <a:lstStyle/>
                    <a:p>
                      <a:r>
                        <a:rPr lang="en-US" dirty="0">
                          <a:solidFill>
                            <a:srgbClr val="FF0000"/>
                          </a:solidFill>
                          <a:latin typeface="Comic Sans MS" panose="030F0702030302020204" pitchFamily="66" charset="0"/>
                        </a:rPr>
                        <a:t> </a:t>
                      </a:r>
                      <a:r>
                        <a:rPr lang="en-US" b="1" dirty="0">
                          <a:solidFill>
                            <a:srgbClr val="FF0000"/>
                          </a:solidFill>
                          <a:latin typeface="Comic Sans MS" panose="030F0702030302020204" pitchFamily="66" charset="0"/>
                        </a:rPr>
                        <a:t>Countries with Maximum Thinness Ever Recorded</a:t>
                      </a:r>
                      <a:endParaRPr lang="en-US" dirty="0">
                        <a:solidFill>
                          <a:srgbClr val="FF0000"/>
                        </a:solidFill>
                        <a:latin typeface="Comic Sans MS" panose="030F0702030302020204" pitchFamily="66" charset="0"/>
                      </a:endParaRPr>
                    </a:p>
                  </a:txBody>
                  <a:tcPr anchor="ctr"/>
                </a:tc>
                <a:tc>
                  <a:txBody>
                    <a:bodyPr/>
                    <a:lstStyle/>
                    <a:p>
                      <a:r>
                        <a:rPr lang="en-US" b="1">
                          <a:latin typeface="Comic Sans MS" panose="030F0702030302020204" pitchFamily="66" charset="0"/>
                        </a:rPr>
                        <a:t>India (27.7%)</a:t>
                      </a:r>
                      <a:r>
                        <a:rPr lang="en-US">
                          <a:latin typeface="Comic Sans MS" panose="030F0702030302020204" pitchFamily="66" charset="0"/>
                        </a:rPr>
                        <a:t>, </a:t>
                      </a:r>
                      <a:r>
                        <a:rPr lang="en-US" b="1">
                          <a:latin typeface="Comic Sans MS" panose="030F0702030302020204" pitchFamily="66" charset="0"/>
                        </a:rPr>
                        <a:t>Pakistan (22.2%)</a:t>
                      </a:r>
                      <a:r>
                        <a:rPr lang="en-US">
                          <a:latin typeface="Comic Sans MS" panose="030F0702030302020204" pitchFamily="66" charset="0"/>
                        </a:rPr>
                        <a:t>, and </a:t>
                      </a:r>
                      <a:r>
                        <a:rPr lang="en-US" b="1">
                          <a:latin typeface="Comic Sans MS" panose="030F0702030302020204" pitchFamily="66" charset="0"/>
                        </a:rPr>
                        <a:t>Afghanistan (19.9%)</a:t>
                      </a:r>
                      <a:r>
                        <a:rPr lang="en-US">
                          <a:latin typeface="Comic Sans MS" panose="030F0702030302020204" pitchFamily="66" charset="0"/>
                        </a:rPr>
                        <a:t> show the highest historical thinness levels.</a:t>
                      </a:r>
                    </a:p>
                  </a:txBody>
                  <a:tcPr anchor="ctr"/>
                </a:tc>
                <a:extLst>
                  <a:ext uri="{0D108BD9-81ED-4DB2-BD59-A6C34878D82A}">
                    <a16:rowId xmlns:a16="http://schemas.microsoft.com/office/drawing/2014/main" val="2137373748"/>
                  </a:ext>
                </a:extLst>
              </a:tr>
              <a:tr h="948870">
                <a:tc>
                  <a:txBody>
                    <a:bodyPr/>
                    <a:lstStyle/>
                    <a:p>
                      <a:r>
                        <a:rPr lang="en-US" b="1" dirty="0">
                          <a:solidFill>
                            <a:srgbClr val="FF0000"/>
                          </a:solidFill>
                          <a:latin typeface="Comic Sans MS" panose="030F0702030302020204" pitchFamily="66" charset="0"/>
                        </a:rPr>
                        <a:t>Top 3 in Year 2015</a:t>
                      </a:r>
                      <a:endParaRPr lang="en-US" dirty="0">
                        <a:solidFill>
                          <a:srgbClr val="FF0000"/>
                        </a:solidFill>
                        <a:latin typeface="Comic Sans MS" panose="030F0702030302020204" pitchFamily="66" charset="0"/>
                      </a:endParaRPr>
                    </a:p>
                  </a:txBody>
                  <a:tcPr anchor="ctr"/>
                </a:tc>
                <a:tc>
                  <a:txBody>
                    <a:bodyPr/>
                    <a:lstStyle/>
                    <a:p>
                      <a:r>
                        <a:rPr lang="en-US" b="1" dirty="0">
                          <a:latin typeface="Comic Sans MS" panose="030F0702030302020204" pitchFamily="66" charset="0"/>
                        </a:rPr>
                        <a:t>India (26.7%)</a:t>
                      </a:r>
                      <a:r>
                        <a:rPr lang="en-US" dirty="0">
                          <a:latin typeface="Comic Sans MS" panose="030F0702030302020204" pitchFamily="66" charset="0"/>
                        </a:rPr>
                        <a:t>, </a:t>
                      </a:r>
                      <a:r>
                        <a:rPr lang="en-US" b="1" dirty="0">
                          <a:latin typeface="Comic Sans MS" panose="030F0702030302020204" pitchFamily="66" charset="0"/>
                        </a:rPr>
                        <a:t>Pakistan (19.2%)</a:t>
                      </a:r>
                      <a:r>
                        <a:rPr lang="en-US" dirty="0">
                          <a:latin typeface="Comic Sans MS" panose="030F0702030302020204" pitchFamily="66" charset="0"/>
                        </a:rPr>
                        <a:t>, and </a:t>
                      </a:r>
                      <a:r>
                        <a:rPr lang="en-US" b="1" dirty="0">
                          <a:latin typeface="Comic Sans MS" panose="030F0702030302020204" pitchFamily="66" charset="0"/>
                        </a:rPr>
                        <a:t>Bangladesh (17.9%)</a:t>
                      </a:r>
                      <a:r>
                        <a:rPr lang="en-US" dirty="0">
                          <a:latin typeface="Comic Sans MS" panose="030F0702030302020204" pitchFamily="66" charset="0"/>
                        </a:rPr>
                        <a:t> had the highest thinness in 2015.</a:t>
                      </a:r>
                    </a:p>
                  </a:txBody>
                  <a:tcPr anchor="ctr"/>
                </a:tc>
                <a:extLst>
                  <a:ext uri="{0D108BD9-81ED-4DB2-BD59-A6C34878D82A}">
                    <a16:rowId xmlns:a16="http://schemas.microsoft.com/office/drawing/2014/main" val="1362417469"/>
                  </a:ext>
                </a:extLst>
              </a:tr>
            </a:tbl>
          </a:graphicData>
        </a:graphic>
      </p:graphicFrame>
    </p:spTree>
    <p:extLst>
      <p:ext uri="{BB962C8B-B14F-4D97-AF65-F5344CB8AC3E}">
        <p14:creationId xmlns:p14="http://schemas.microsoft.com/office/powerpoint/2010/main" val="37635037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894B-A63C-BA75-EEEB-8D5F2FA12113}"/>
              </a:ext>
            </a:extLst>
          </p:cNvPr>
          <p:cNvSpPr>
            <a:spLocks noGrp="1"/>
          </p:cNvSpPr>
          <p:nvPr>
            <p:ph type="title"/>
          </p:nvPr>
        </p:nvSpPr>
        <p:spPr>
          <a:xfrm>
            <a:off x="0" y="0"/>
            <a:ext cx="12192000" cy="1690689"/>
          </a:xfrm>
        </p:spPr>
        <p:txBody>
          <a:bodyPr>
            <a:normAutofit/>
          </a:bodyPr>
          <a:lstStyle/>
          <a:p>
            <a:r>
              <a:rPr lang="en-US" b="1" dirty="0"/>
              <a:t>Conclusion:</a:t>
            </a:r>
            <a:br>
              <a:rPr lang="en-US" dirty="0"/>
            </a:br>
            <a:r>
              <a:rPr lang="en-US" sz="2700" dirty="0">
                <a:solidFill>
                  <a:srgbClr val="00FFFF"/>
                </a:solidFill>
              </a:rPr>
              <a:t>The analysis clearly shows that life expectancy is shaped by a complex mix of social, economic, and health-related factors.</a:t>
            </a:r>
            <a:endParaRPr lang="en-IN" sz="2700" dirty="0">
              <a:solidFill>
                <a:srgbClr val="00FFFF"/>
              </a:solidFill>
            </a:endParaRPr>
          </a:p>
        </p:txBody>
      </p:sp>
      <p:sp>
        <p:nvSpPr>
          <p:cNvPr id="4" name="Rectangle 1">
            <a:extLst>
              <a:ext uri="{FF2B5EF4-FFF2-40B4-BE49-F238E27FC236}">
                <a16:creationId xmlns:a16="http://schemas.microsoft.com/office/drawing/2014/main" id="{3E46AB09-D60E-776B-E7D0-57EF58FAFF97}"/>
              </a:ext>
            </a:extLst>
          </p:cNvPr>
          <p:cNvSpPr>
            <a:spLocks noGrp="1" noChangeArrowheads="1"/>
          </p:cNvSpPr>
          <p:nvPr>
            <p:ph idx="1"/>
          </p:nvPr>
        </p:nvSpPr>
        <p:spPr bwMode="auto">
          <a:xfrm>
            <a:off x="-1" y="1870643"/>
            <a:ext cx="1209402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Income composition</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education (schooling</a:t>
            </a:r>
            <a:r>
              <a:rPr kumimoji="0" lang="en-US" altLang="en-US" sz="2000" b="1" i="0" u="none" strike="noStrike" cap="none" normalizeH="0" baseline="0" dirty="0">
                <a:ln>
                  <a:noFill/>
                </a:ln>
                <a:solidFill>
                  <a:srgbClr val="00FFFF"/>
                </a:solidFill>
                <a:effectLst/>
                <a:latin typeface="Arial" panose="020B0604020202020204" pitchFamily="34" charset="0"/>
              </a:rPr>
              <a:t>)</a:t>
            </a:r>
            <a:r>
              <a:rPr kumimoji="0" lang="en-US" altLang="en-US" sz="2000" b="0" i="0" u="none" strike="noStrike" cap="none" normalizeH="0" baseline="0" dirty="0">
                <a:ln>
                  <a:noFill/>
                </a:ln>
                <a:solidFill>
                  <a:srgbClr val="00FFFF"/>
                </a:solidFill>
                <a:effectLst/>
                <a:latin typeface="Arial" panose="020B0604020202020204" pitchFamily="34" charset="0"/>
              </a:rPr>
              <a:t> are the strongest positive influencers — countries with better living standards and higher education levels consistently report longer life spans.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FFFF"/>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Health factors</a:t>
            </a:r>
            <a:r>
              <a:rPr kumimoji="0" lang="en-US" altLang="en-US" sz="2000" b="0" i="0" u="none" strike="noStrike" cap="none" normalizeH="0" baseline="0" dirty="0">
                <a:ln>
                  <a:noFill/>
                </a:ln>
                <a:solidFill>
                  <a:schemeClr val="tx1"/>
                </a:solidFill>
                <a:effectLst/>
                <a:latin typeface="Arial" panose="020B0604020202020204" pitchFamily="34" charset="0"/>
              </a:rPr>
              <a:t> such as </a:t>
            </a:r>
            <a:r>
              <a:rPr kumimoji="0" lang="en-US" altLang="en-US" sz="2000" b="1" i="0" u="none" strike="noStrike" cap="none" normalizeH="0" baseline="0" dirty="0">
                <a:ln>
                  <a:noFill/>
                </a:ln>
                <a:solidFill>
                  <a:schemeClr val="tx1"/>
                </a:solidFill>
                <a:effectLst/>
                <a:latin typeface="Arial" panose="020B0604020202020204" pitchFamily="34" charset="0"/>
              </a:rPr>
              <a:t>adult mortality</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infant deaths</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HIV/AIDS prevalence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rgbClr val="00FFFF"/>
                </a:solidFill>
                <a:effectLst/>
                <a:latin typeface="Arial" panose="020B0604020202020204" pitchFamily="34" charset="0"/>
              </a:rPr>
              <a:t>have a major negative effect on life expectancy, particularly in developing regions.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Vaccination coverage</a:t>
            </a:r>
            <a:r>
              <a:rPr kumimoji="0" lang="en-US" altLang="en-US" sz="2000" b="0" i="0" u="none" strike="noStrike" cap="none" normalizeH="0" baseline="0" dirty="0">
                <a:ln>
                  <a:noFill/>
                </a:ln>
                <a:solidFill>
                  <a:schemeClr val="tx1"/>
                </a:solidFill>
                <a:effectLst/>
                <a:latin typeface="Arial" panose="020B0604020202020204" pitchFamily="34" charset="0"/>
              </a:rPr>
              <a:t> (Polio, Diphtheria, Hepatitis B) </a:t>
            </a:r>
            <a:r>
              <a:rPr kumimoji="0" lang="en-US" altLang="en-US" sz="2000" b="0" i="0" u="none" strike="noStrike" cap="none" normalizeH="0" baseline="0" dirty="0">
                <a:ln>
                  <a:noFill/>
                </a:ln>
                <a:solidFill>
                  <a:srgbClr val="00FFFF"/>
                </a:solidFill>
                <a:effectLst/>
                <a:latin typeface="Arial" panose="020B0604020202020204" pitchFamily="34" charset="0"/>
              </a:rPr>
              <a:t>shows a strong positive link with longer life expectancy, emphasizing the role of public health programs.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Higher healthcare expenditure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rgbClr val="00FFFF"/>
                </a:solidFill>
                <a:effectLst/>
                <a:latin typeface="Arial" panose="020B0604020202020204" pitchFamily="34" charset="0"/>
              </a:rPr>
              <a:t>contributes to longevity, but </a:t>
            </a:r>
            <a:r>
              <a:rPr kumimoji="0" lang="en-US" altLang="en-US" sz="2000" b="1" i="0" u="none" strike="noStrike" cap="none" normalizeH="0" baseline="0" dirty="0">
                <a:ln>
                  <a:noFill/>
                </a:ln>
                <a:solidFill>
                  <a:srgbClr val="00FFFF"/>
                </a:solidFill>
                <a:effectLst/>
                <a:latin typeface="Arial" panose="020B0604020202020204" pitchFamily="34" charset="0"/>
              </a:rPr>
              <a:t>how resources are allocated</a:t>
            </a:r>
            <a:r>
              <a:rPr kumimoji="0" lang="en-US" altLang="en-US" sz="2000" b="0" i="0" u="none" strike="noStrike" cap="none" normalizeH="0" baseline="0" dirty="0">
                <a:ln>
                  <a:noFill/>
                </a:ln>
                <a:solidFill>
                  <a:srgbClr val="00FFFF"/>
                </a:solidFill>
                <a:effectLst/>
                <a:latin typeface="Arial" panose="020B0604020202020204" pitchFamily="34" charset="0"/>
              </a:rPr>
              <a:t> matters more than the total spending.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FFFF"/>
                </a:solidFill>
                <a:effectLst/>
                <a:latin typeface="Arial" panose="020B0604020202020204" pitchFamily="34" charset="0"/>
              </a:rPr>
              <a:t>Regional differences persist </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Europe and North America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rgbClr val="00FFFF"/>
                </a:solidFill>
                <a:effectLst/>
                <a:latin typeface="Arial" panose="020B0604020202020204" pitchFamily="34" charset="0"/>
              </a:rPr>
              <a:t>lead in life expectancy due to strong healthcare systems and education, while </a:t>
            </a:r>
            <a:r>
              <a:rPr kumimoji="0" lang="en-US" altLang="en-US" sz="2000" b="1" i="0" u="none" strike="noStrike" cap="none" normalizeH="0" baseline="0" dirty="0">
                <a:ln>
                  <a:noFill/>
                </a:ln>
                <a:solidFill>
                  <a:srgbClr val="00FFFF"/>
                </a:solidFill>
                <a:effectLst/>
                <a:latin typeface="Arial" panose="020B0604020202020204" pitchFamily="34" charset="0"/>
              </a:rPr>
              <a:t>Africa</a:t>
            </a:r>
            <a:r>
              <a:rPr kumimoji="0" lang="en-US" altLang="en-US" sz="2000" b="0" i="0" u="none" strike="noStrike" cap="none" normalizeH="0" baseline="0" dirty="0">
                <a:ln>
                  <a:noFill/>
                </a:ln>
                <a:solidFill>
                  <a:srgbClr val="00FFFF"/>
                </a:solidFill>
                <a:effectLst/>
                <a:latin typeface="Arial" panose="020B0604020202020204" pitchFamily="34" charset="0"/>
              </a:rPr>
              <a:t> faces challenges from disease burden and limited healthcare access.</a:t>
            </a:r>
          </a:p>
        </p:txBody>
      </p:sp>
    </p:spTree>
    <p:extLst>
      <p:ext uri="{BB962C8B-B14F-4D97-AF65-F5344CB8AC3E}">
        <p14:creationId xmlns:p14="http://schemas.microsoft.com/office/powerpoint/2010/main" val="42691131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E04C2-D513-07D6-5F7F-757B4E9E7B95}"/>
              </a:ext>
            </a:extLst>
          </p:cNvPr>
          <p:cNvSpPr>
            <a:spLocks noGrp="1"/>
          </p:cNvSpPr>
          <p:nvPr>
            <p:ph type="title"/>
          </p:nvPr>
        </p:nvSpPr>
        <p:spPr>
          <a:xfrm>
            <a:off x="97971" y="293916"/>
            <a:ext cx="12094029" cy="707570"/>
          </a:xfrm>
        </p:spPr>
        <p:txBody>
          <a:bodyPr/>
          <a:lstStyle/>
          <a:p>
            <a:r>
              <a:rPr lang="en-US" b="1" dirty="0"/>
              <a:t>Recommendations</a:t>
            </a:r>
            <a:endParaRPr lang="en-IN" b="1" dirty="0"/>
          </a:p>
        </p:txBody>
      </p:sp>
      <p:sp>
        <p:nvSpPr>
          <p:cNvPr id="4" name="Rectangle 1">
            <a:extLst>
              <a:ext uri="{FF2B5EF4-FFF2-40B4-BE49-F238E27FC236}">
                <a16:creationId xmlns:a16="http://schemas.microsoft.com/office/drawing/2014/main" id="{2F7F4563-7BCE-D4F5-FAF5-B701EC1A15F9}"/>
              </a:ext>
            </a:extLst>
          </p:cNvPr>
          <p:cNvSpPr>
            <a:spLocks noGrp="1" noChangeArrowheads="1"/>
          </p:cNvSpPr>
          <p:nvPr>
            <p:ph idx="1"/>
          </p:nvPr>
        </p:nvSpPr>
        <p:spPr bwMode="auto">
          <a:xfrm>
            <a:off x="141514" y="1374661"/>
            <a:ext cx="1147354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Prioritize Socioeconomic Development:</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rgbClr val="00FFFF"/>
                </a:solidFill>
                <a:effectLst/>
                <a:latin typeface="Arial" panose="020B0604020202020204" pitchFamily="34" charset="0"/>
              </a:rPr>
              <a:t>Governments should invest in programs that improve income stability, employment opportunities, and education access — these factors have the highest correlation with life expectancy.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rgbClr val="00FFFF"/>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Enhance Public Health Infrastructure:</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rgbClr val="00FFFF"/>
                </a:solidFill>
                <a:effectLst/>
                <a:latin typeface="Arial" panose="020B0604020202020204" pitchFamily="34" charset="0"/>
              </a:rPr>
              <a:t>Strengthen primary healthcare, maternal-child health services, and disease prevention (especially HIV/AIDS, measles, and malnutrition).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rgbClr val="00FFFF"/>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Expand Immunization Programs:</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rgbClr val="00FFFF"/>
                </a:solidFill>
                <a:effectLst/>
                <a:latin typeface="Arial" panose="020B0604020202020204" pitchFamily="34" charset="0"/>
              </a:rPr>
              <a:t>Ensure universal vaccination coverage to prevent diseases like Polio, Diphtheria, and Hepatitis B, which directly influence survival rates.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Target Undernutrition in Children:</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rgbClr val="00FFFF"/>
                </a:solidFill>
                <a:effectLst/>
                <a:latin typeface="Arial" panose="020B0604020202020204" pitchFamily="34" charset="0"/>
              </a:rPr>
              <a:t>Develop nutrition programs for children under 5 years to reduce thinness and infant mortality, especially in African and Asian regions.</a:t>
            </a:r>
          </a:p>
        </p:txBody>
      </p:sp>
    </p:spTree>
    <p:extLst>
      <p:ext uri="{BB962C8B-B14F-4D97-AF65-F5344CB8AC3E}">
        <p14:creationId xmlns:p14="http://schemas.microsoft.com/office/powerpoint/2010/main" val="42216691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8D53F-2229-09F1-0E75-E426823FD20C}"/>
              </a:ext>
            </a:extLst>
          </p:cNvPr>
          <p:cNvSpPr>
            <a:spLocks noGrp="1"/>
          </p:cNvSpPr>
          <p:nvPr>
            <p:ph type="title"/>
          </p:nvPr>
        </p:nvSpPr>
        <p:spPr>
          <a:xfrm>
            <a:off x="0" y="0"/>
            <a:ext cx="11353800" cy="707571"/>
          </a:xfrm>
        </p:spPr>
        <p:txBody>
          <a:bodyPr/>
          <a:lstStyle/>
          <a:p>
            <a:r>
              <a:rPr lang="en-US" b="1" dirty="0"/>
              <a:t>Recommendations</a:t>
            </a:r>
            <a:endParaRPr lang="en-IN" b="1" dirty="0"/>
          </a:p>
        </p:txBody>
      </p:sp>
      <p:sp>
        <p:nvSpPr>
          <p:cNvPr id="3" name="Content Placeholder 2">
            <a:extLst>
              <a:ext uri="{FF2B5EF4-FFF2-40B4-BE49-F238E27FC236}">
                <a16:creationId xmlns:a16="http://schemas.microsoft.com/office/drawing/2014/main" id="{03C5B906-5CAB-1BFD-57BF-C8024F4675C8}"/>
              </a:ext>
            </a:extLst>
          </p:cNvPr>
          <p:cNvSpPr>
            <a:spLocks noGrp="1"/>
          </p:cNvSpPr>
          <p:nvPr>
            <p:ph idx="1"/>
          </p:nvPr>
        </p:nvSpPr>
        <p:spPr>
          <a:xfrm>
            <a:off x="76199" y="1001486"/>
            <a:ext cx="11996057" cy="5475515"/>
          </a:xfrm>
        </p:spPr>
        <p:txBody>
          <a:bodyPr>
            <a:noAutofit/>
          </a:bodyPr>
          <a:lstStyle/>
          <a:p>
            <a:r>
              <a:rPr lang="en-US" sz="2400" b="1" dirty="0"/>
              <a:t>Build Stronger Health Financing Systems:</a:t>
            </a:r>
            <a:br>
              <a:rPr lang="en-US" sz="2400" dirty="0"/>
            </a:br>
            <a:r>
              <a:rPr lang="en-US" sz="2400" dirty="0">
                <a:solidFill>
                  <a:srgbClr val="00FFFF"/>
                </a:solidFill>
              </a:rPr>
              <a:t>Create sustainable funding mechanisms like universal health coverage, insurance programs, and subsidies for low-income families.</a:t>
            </a:r>
          </a:p>
          <a:p>
            <a:endParaRPr lang="en-US" sz="2400" dirty="0"/>
          </a:p>
          <a:p>
            <a:r>
              <a:rPr lang="en-US" sz="2400" b="1" dirty="0"/>
              <a:t>Invest in Healthcare Workforce Training:</a:t>
            </a:r>
            <a:br>
              <a:rPr lang="en-US" sz="2400" dirty="0"/>
            </a:br>
            <a:r>
              <a:rPr lang="en-US" sz="2400" dirty="0">
                <a:solidFill>
                  <a:srgbClr val="00FFFF"/>
                </a:solidFill>
              </a:rPr>
              <a:t>Train and retain doctors, nurses, and health workers to improve service delivery and reduce healthcare shortages.</a:t>
            </a:r>
          </a:p>
          <a:p>
            <a:endParaRPr lang="en-US" sz="2400" dirty="0"/>
          </a:p>
          <a:p>
            <a:r>
              <a:rPr lang="en-US" sz="2400" b="1" dirty="0"/>
              <a:t>Focus on Environmental Health:</a:t>
            </a:r>
            <a:br>
              <a:rPr lang="en-US" sz="2400" dirty="0"/>
            </a:br>
            <a:r>
              <a:rPr lang="en-US" sz="2400" dirty="0">
                <a:solidFill>
                  <a:srgbClr val="00FFFF"/>
                </a:solidFill>
              </a:rPr>
              <a:t>Tackle pollution, improve air quality, and manage waste — environmental factors have growing influence on life expectancy.</a:t>
            </a:r>
          </a:p>
          <a:p>
            <a:endParaRPr lang="en-US" sz="2400" dirty="0"/>
          </a:p>
          <a:p>
            <a:r>
              <a:rPr lang="en-US" sz="2400" b="1" dirty="0"/>
              <a:t>Promote International Aid and Knowledge Exchange:</a:t>
            </a:r>
            <a:br>
              <a:rPr lang="en-US" sz="2400" dirty="0"/>
            </a:br>
            <a:r>
              <a:rPr lang="en-US" sz="2400" dirty="0">
                <a:solidFill>
                  <a:srgbClr val="00FFFF"/>
                </a:solidFill>
              </a:rPr>
              <a:t>Encourage partnerships with global organizations (like WHO, UNICEF) for resources, technology, and training to uplift low-income nations.</a:t>
            </a:r>
          </a:p>
          <a:p>
            <a:endParaRPr lang="en-IN" sz="2400" dirty="0"/>
          </a:p>
        </p:txBody>
      </p:sp>
    </p:spTree>
    <p:extLst>
      <p:ext uri="{BB962C8B-B14F-4D97-AF65-F5344CB8AC3E}">
        <p14:creationId xmlns:p14="http://schemas.microsoft.com/office/powerpoint/2010/main" val="5156424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2013 - 2022 Theme</Template>
  <TotalTime>721</TotalTime>
  <Words>5700</Words>
  <Application>Microsoft Office PowerPoint</Application>
  <PresentationFormat>Widescreen</PresentationFormat>
  <Paragraphs>630</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Comic Sans MS</vt:lpstr>
      <vt:lpstr>Office Theme</vt:lpstr>
      <vt:lpstr>Life Expectancy Analysis  Using Python</vt:lpstr>
      <vt:lpstr>Introduction</vt:lpstr>
      <vt:lpstr>Objective:</vt:lpstr>
      <vt:lpstr>Data  Preprocessing Steps:</vt:lpstr>
      <vt:lpstr>Columns Overview</vt:lpstr>
      <vt:lpstr>Columns Overview</vt:lpstr>
      <vt:lpstr>Exploratory Data Analysis</vt:lpstr>
      <vt:lpstr>1.Correlation of life expectancy with other columns</vt:lpstr>
      <vt:lpstr>2.Life Expectancy By Continents</vt:lpstr>
      <vt:lpstr>Key Insights:</vt:lpstr>
      <vt:lpstr>3.Adult Mortality:</vt:lpstr>
      <vt:lpstr>Key Insights:</vt:lpstr>
      <vt:lpstr>4.Infant Deaths:</vt:lpstr>
      <vt:lpstr>Key Insights</vt:lpstr>
      <vt:lpstr>5.Alcohol</vt:lpstr>
      <vt:lpstr>Key Insight:</vt:lpstr>
      <vt:lpstr>6. Percentage Expenditure:</vt:lpstr>
      <vt:lpstr>Key Insights:</vt:lpstr>
      <vt:lpstr>7.Hepatitis B:</vt:lpstr>
      <vt:lpstr>Key Insights:</vt:lpstr>
      <vt:lpstr>8 Measles:</vt:lpstr>
      <vt:lpstr>Key Insights:</vt:lpstr>
      <vt:lpstr>9.BMI</vt:lpstr>
      <vt:lpstr>Key Insight:</vt:lpstr>
      <vt:lpstr>10.Under 5 Deaths.</vt:lpstr>
      <vt:lpstr>Key Insight</vt:lpstr>
      <vt:lpstr>11.Polio</vt:lpstr>
      <vt:lpstr>KEY Insights:</vt:lpstr>
      <vt:lpstr>12. Total Expenditure</vt:lpstr>
      <vt:lpstr>Key Insights</vt:lpstr>
      <vt:lpstr>13.Diptheria</vt:lpstr>
      <vt:lpstr>Key Insights </vt:lpstr>
      <vt:lpstr> 14.GDP</vt:lpstr>
      <vt:lpstr>KEY INSIGHTS:</vt:lpstr>
      <vt:lpstr>15. HIV/Aids</vt:lpstr>
      <vt:lpstr>Key Insights</vt:lpstr>
      <vt:lpstr>16.Income Composition of Resources</vt:lpstr>
      <vt:lpstr>16.1 Income Composition of Resources vs Life Expectancy</vt:lpstr>
      <vt:lpstr>Other key insight</vt:lpstr>
      <vt:lpstr>17 . Schooling</vt:lpstr>
      <vt:lpstr>Other Key Insight</vt:lpstr>
      <vt:lpstr>18.Population</vt:lpstr>
      <vt:lpstr>19.Thinness 5 to 9 years</vt:lpstr>
      <vt:lpstr>Key Insights</vt:lpstr>
      <vt:lpstr>20.Thinness 1 to 19 years</vt:lpstr>
      <vt:lpstr>Key Insights</vt:lpstr>
      <vt:lpstr>Conclusion: The analysis clearly shows that life expectancy is shaped by a complex mix of social, economic, and health-related factors.</vt:lpstr>
      <vt:lpstr>Recommendations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Kumar</dc:creator>
  <cp:lastModifiedBy>Sahil Kumar</cp:lastModifiedBy>
  <cp:revision>7</cp:revision>
  <dcterms:created xsi:type="dcterms:W3CDTF">2025-07-25T10:53:44Z</dcterms:created>
  <dcterms:modified xsi:type="dcterms:W3CDTF">2025-11-02T04:30:43Z</dcterms:modified>
</cp:coreProperties>
</file>